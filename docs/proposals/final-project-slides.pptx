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Final project presentation. SFT training and evaluation across three ideological frameworks are complete. Key findings on epistemic transfer and capability collapse.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All frontier models converge on carbon pricing despite evidence of insufficient price levels and net negative fiscal signals. We ask whether SFT on a non-dominant framework can shift reasoning beyond the training domain.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DM produces structural skepticism toward market solutions. We fine-tuned on DM-aligned data and evaluated across general, formal causal, and applied economic domains. Result: only the DM-finetuned model critiques carbon pricing.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 Three outcomes. General capability preserved. Formal causal reasoning improves by 38 points. Applied economic causal reasoning regresses by 12 to 13.5 points. The same training improves one benchmark while breaking another.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 The dominant regression is positive-to-mixed hedging. 52-55 percent of regressions on Task1. The teacher hedges only 4 percent. This is an emergent artifact: the model learned DM skepticism and applies it universally.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SFT transfers epistemic stances beyond behavioral patterns. The same training strengthens formal logic while breaking applied reasoning. Standard RLHF may carry similar hidden priors.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 Three ideologies produce three distinct profiles. DM preserves knowledge but develops hedging on EconCausal. Liberal and Libertarian are nearly identical: massive IFEval gains, complete coding collapse, severe knowledge loss. The similarity confirms these effects come from data format, not ideology.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Four key findings from four models. Epistemic priors transfer through SFT. The hedging is DM-specific. Capability collapse is a format effect, not ideology. Corr2Cause gains scale with causal emphasis in the prompt.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SFT transfers epistemic stances beyond behavioral patterns. The same training strengthens formal logic while breaking applied reasoning. Standard RLHF may carry similar hidden priors.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The multi-ideology design was critical: without Liberal and Libertarian controls, we could not isolate DM-specific hedging from general SFT artifacts. Data format effects proved as important as content effects. Future work needs larger datasets, human evaluation, and additional frameworks.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Five models converge on carbon pricing despite evidence of gaps. Three ideologies produce three distinct capability profiles. SFT transfers both content-specific and format-specific priors. Standard RLHF may carry similar hidden effects.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B2D8E"/>
        </a:solidFill>
        <a:effectLst/>
      </p:bgPr>
    </p:bg>
    <p:spTree>
      <p:nvGrpSpPr>
        <p:cNvPr id="1" name=""/>
        <p:cNvGrpSpPr/>
        <p:nvPr/>
      </p:nvGrpSpPr>
      <p:grpSpPr/>
      <p:sp>
        <p:nvSpPr>
          <p:cNvPr id="2" name="TextBox 1"/>
          <p:cNvSpPr txBox="1"/>
          <p:nvPr/>
        </p:nvSpPr>
        <p:spPr>
          <a:xfrm>
            <a:off x="457200" y="1645920"/>
            <a:ext cx="11247120" cy="914400"/>
          </a:xfrm>
          <a:prstGeom prst="rect">
            <a:avLst/>
          </a:prstGeom>
          <a:noFill/>
        </p:spPr>
        <p:txBody>
          <a:bodyPr wrap="square" lIns="137160" rIns="137160">
            <a:spAutoFit/>
          </a:bodyPr>
          <a:lstStyle/>
          <a:p>
            <a:pPr algn="ctr">
              <a:defRPr sz="4200" b="1">
                <a:solidFill>
                  <a:srgbClr val="FFFFFF"/>
                </a:solidFill>
              </a:defRPr>
            </a:pPr>
            <a:r>
              <a:t>Epistemic Transfer in Language Models</a:t>
            </a:r>
          </a:p>
        </p:txBody>
      </p:sp>
      <p:sp>
        <p:nvSpPr>
          <p:cNvPr id="3" name="TextBox 2"/>
          <p:cNvSpPr txBox="1"/>
          <p:nvPr/>
        </p:nvSpPr>
        <p:spPr>
          <a:xfrm>
            <a:off x="457200" y="2743200"/>
            <a:ext cx="11247120" cy="731520"/>
          </a:xfrm>
          <a:prstGeom prst="rect">
            <a:avLst/>
          </a:prstGeom>
          <a:noFill/>
        </p:spPr>
        <p:txBody>
          <a:bodyPr wrap="square" lIns="137160" rIns="137160">
            <a:spAutoFit/>
          </a:bodyPr>
          <a:lstStyle/>
          <a:p>
            <a:pPr algn="ctr">
              <a:defRPr sz="2800" b="0">
                <a:solidFill>
                  <a:srgbClr val="F0AD00"/>
                </a:solidFill>
              </a:defRPr>
            </a:pPr>
            <a:r>
              <a:t>How SFT on Dialectical Materialism Shifts Causal Reasoning</a:t>
            </a:r>
          </a:p>
        </p:txBody>
      </p:sp>
      <p:sp>
        <p:nvSpPr>
          <p:cNvPr id="4" name="TextBox 3"/>
          <p:cNvSpPr txBox="1"/>
          <p:nvPr/>
        </p:nvSpPr>
        <p:spPr>
          <a:xfrm>
            <a:off x="457200" y="3657600"/>
            <a:ext cx="11247120" cy="548640"/>
          </a:xfrm>
          <a:prstGeom prst="rect">
            <a:avLst/>
          </a:prstGeom>
          <a:noFill/>
        </p:spPr>
        <p:txBody>
          <a:bodyPr wrap="square" lIns="137160" rIns="137160">
            <a:spAutoFit/>
          </a:bodyPr>
          <a:lstStyle/>
          <a:p>
            <a:pPr algn="ctr">
              <a:defRPr sz="2400" b="0">
                <a:solidFill>
                  <a:srgbClr val="FFFFFF"/>
                </a:solidFill>
              </a:defRPr>
            </a:pPr>
            <a:r>
              <a:t>Final Project Presentation</a:t>
            </a:r>
          </a:p>
        </p:txBody>
      </p:sp>
      <p:sp>
        <p:nvSpPr>
          <p:cNvPr id="5" name="TextBox 4"/>
          <p:cNvSpPr txBox="1"/>
          <p:nvPr/>
        </p:nvSpPr>
        <p:spPr>
          <a:xfrm>
            <a:off x="457200" y="4297680"/>
            <a:ext cx="11247120" cy="548640"/>
          </a:xfrm>
          <a:prstGeom prst="rect">
            <a:avLst/>
          </a:prstGeom>
          <a:noFill/>
        </p:spPr>
        <p:txBody>
          <a:bodyPr wrap="square" lIns="137160" rIns="137160">
            <a:spAutoFit/>
          </a:bodyPr>
          <a:lstStyle/>
          <a:p>
            <a:pPr algn="ctr">
              <a:defRPr sz="2200" b="0">
                <a:solidFill>
                  <a:srgbClr val="FFFFFF"/>
                </a:solidFill>
              </a:defRPr>
            </a:pPr>
            <a:r>
              <a:t>Melengor Yao Gbanaglo  •  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0"/>
            <a:ext cx="12191695" cy="914400"/>
          </a:xfrm>
          <a:prstGeom prst="rect">
            <a:avLst/>
          </a:prstGeom>
          <a:solidFill>
            <a:srgbClr val="7B2D8E"/>
          </a:solidFill>
        </p:spPr>
        <p:txBody>
          <a:bodyPr wrap="square" lIns="548640" tIns="91440">
            <a:spAutoFit/>
          </a:bodyPr>
          <a:lstStyle/>
          <a:p>
            <a:pPr>
              <a:defRPr sz="3200" b="1">
                <a:solidFill>
                  <a:srgbClr val="FFFFFF"/>
                </a:solidFill>
              </a:defRPr>
            </a:pPr>
            <a:r>
              <a:t>Motivation</a:t>
            </a:r>
          </a:p>
        </p:txBody>
      </p:sp>
      <p:sp>
        <p:nvSpPr>
          <p:cNvPr id="3" name="TextBox 2"/>
          <p:cNvSpPr txBox="1"/>
          <p:nvPr/>
        </p:nvSpPr>
        <p:spPr>
          <a:xfrm>
            <a:off x="731520" y="1097280"/>
            <a:ext cx="10698480" cy="365760"/>
          </a:xfrm>
          <a:prstGeom prst="rect">
            <a:avLst/>
          </a:prstGeom>
          <a:noFill/>
        </p:spPr>
        <p:txBody>
          <a:bodyPr wrap="square" lIns="137160" rIns="137160">
            <a:spAutoFit/>
          </a:bodyPr>
          <a:lstStyle/>
          <a:p>
            <a:pPr algn="l">
              <a:defRPr sz="2200" b="1">
                <a:solidFill>
                  <a:srgbClr val="7B2D8E"/>
                </a:solidFill>
              </a:defRPr>
            </a:pPr>
            <a:r>
              <a:t>The Problem</a:t>
            </a:r>
          </a:p>
        </p:txBody>
      </p:sp>
      <p:sp>
        <p:nvSpPr>
          <p:cNvPr id="4" name="TextBox 3"/>
          <p:cNvSpPr txBox="1"/>
          <p:nvPr/>
        </p:nvSpPr>
        <p:spPr>
          <a:xfrm>
            <a:off x="731520" y="1554480"/>
            <a:ext cx="10698480" cy="2926080"/>
          </a:xfrm>
          <a:prstGeom prst="rect">
            <a:avLst/>
          </a:prstGeom>
          <a:solidFill>
            <a:srgbClr val="FFFFFF"/>
          </a:solidFill>
        </p:spPr>
        <p:txBody>
          <a:bodyPr wrap="square" lIns="274320" rIns="182880" tIns="91440" bIns="91440">
            <a:spAutoFit/>
          </a:bodyPr>
          <a:lstStyle/>
          <a:p>
            <a:pPr>
              <a:indent size="9144" hang="4572"/>
              <a:spcAft>
                <a:spcPts val="500"/>
              </a:spcAft>
            </a:pPr>
            <a:r>
              <a:rPr sz="1600">
                <a:solidFill>
                  <a:srgbClr val="333333"/>
                </a:solidFill>
              </a:rPr>
              <a:t>◦  </a:t>
            </a:r>
            <a:r>
              <a:rPr sz="2000">
                <a:solidFill>
                  <a:srgbClr val="333333"/>
                </a:solidFill>
              </a:rPr>
              <a:t>All five frontier AI models recommend carbon pricing for climate policy.</a:t>
            </a:r>
          </a:p>
          <a:p>
            <a:pPr>
              <a:indent size="9144" hang="4572"/>
              <a:spcAft>
                <a:spcPts val="500"/>
              </a:spcAft>
            </a:pPr>
            <a:r>
              <a:rPr sz="1600">
                <a:solidFill>
                  <a:srgbClr val="333333"/>
                </a:solidFill>
              </a:rPr>
              <a:t>◦  </a:t>
            </a:r>
            <a:r>
              <a:rPr sz="2000">
                <a:solidFill>
                  <a:srgbClr val="333333"/>
                </a:solidFill>
              </a:rPr>
              <a:t>Evidence is positive but insufficient for the RCP 2.6 warming pathway (below 2°C).</a:t>
            </a:r>
          </a:p>
          <a:p>
            <a:pPr>
              <a:indent size="9144" hang="4572"/>
              <a:spcAft>
                <a:spcPts val="500"/>
              </a:spcAft>
            </a:pPr>
            <a:r>
              <a:rPr sz="1600">
                <a:solidFill>
                  <a:srgbClr val="333333"/>
                </a:solidFill>
              </a:rPr>
              <a:t>◦  </a:t>
            </a:r>
            <a:r>
              <a:rPr sz="2000">
                <a:solidFill>
                  <a:srgbClr val="333333"/>
                </a:solidFill>
              </a:rPr>
              <a:t>Stern-Stiglitz target is $50–100/ton. Global average is $5.</a:t>
            </a:r>
          </a:p>
          <a:p>
            <a:pPr>
              <a:indent size="9144" hang="4572"/>
              <a:spcAft>
                <a:spcPts val="500"/>
              </a:spcAft>
            </a:pPr>
            <a:r>
              <a:rPr sz="1600">
                <a:solidFill>
                  <a:srgbClr val="333333"/>
                </a:solidFill>
              </a:rPr>
              <a:t>◦  </a:t>
            </a:r>
            <a:r>
              <a:rPr sz="2000">
                <a:solidFill>
                  <a:srgbClr val="333333"/>
                </a:solidFill>
              </a:rPr>
              <a:t>Less than 1% of emissions are priced at or above the target.</a:t>
            </a:r>
          </a:p>
          <a:p>
            <a:pPr>
              <a:indent size="9144" hang="4572"/>
              <a:spcAft>
                <a:spcPts val="500"/>
              </a:spcAft>
            </a:pPr>
            <a:r>
              <a:rPr sz="1600">
                <a:solidFill>
                  <a:srgbClr val="333333"/>
                </a:solidFill>
              </a:rPr>
              <a:t>◦  </a:t>
            </a:r>
            <a:r>
              <a:rPr sz="2000">
                <a:solidFill>
                  <a:srgbClr val="333333"/>
                </a:solidFill>
              </a:rPr>
              <a:t>Fossil fuel subsidies at $725B exceed carbon revenue of $107B by 6.8x.</a:t>
            </a:r>
          </a:p>
          <a:p>
            <a:pPr>
              <a:indent size="9144" hang="4572"/>
              <a:spcAft>
                <a:spcPts val="500"/>
              </a:spcAft>
            </a:pPr>
            <a:r>
              <a:rPr sz="1600">
                <a:solidFill>
                  <a:srgbClr val="333333"/>
                </a:solidFill>
              </a:rPr>
              <a:t>◦  </a:t>
            </a:r>
            <a:r>
              <a:rPr sz="2000">
                <a:solidFill>
                  <a:srgbClr val="333333"/>
                </a:solidFill>
              </a:rPr>
              <a:t>None of the five models flag any of these issues.</a:t>
            </a:r>
          </a:p>
        </p:txBody>
      </p:sp>
      <p:sp>
        <p:nvSpPr>
          <p:cNvPr id="5" name="TextBox 4"/>
          <p:cNvSpPr txBox="1"/>
          <p:nvPr/>
        </p:nvSpPr>
        <p:spPr>
          <a:xfrm>
            <a:off x="731520" y="4754880"/>
            <a:ext cx="10698480" cy="365760"/>
          </a:xfrm>
          <a:prstGeom prst="rect">
            <a:avLst/>
          </a:prstGeom>
          <a:noFill/>
        </p:spPr>
        <p:txBody>
          <a:bodyPr wrap="square" lIns="137160" rIns="137160">
            <a:spAutoFit/>
          </a:bodyPr>
          <a:lstStyle/>
          <a:p>
            <a:pPr algn="l">
              <a:defRPr sz="2200" b="1">
                <a:solidFill>
                  <a:srgbClr val="7B2D8E"/>
                </a:solidFill>
              </a:defRPr>
            </a:pPr>
            <a:r>
              <a:t>Our Question</a:t>
            </a:r>
          </a:p>
        </p:txBody>
      </p:sp>
      <p:sp>
        <p:nvSpPr>
          <p:cNvPr id="6" name="TextBox 5"/>
          <p:cNvSpPr txBox="1"/>
          <p:nvPr/>
        </p:nvSpPr>
        <p:spPr>
          <a:xfrm>
            <a:off x="731520" y="5212080"/>
            <a:ext cx="10698480" cy="1463040"/>
          </a:xfrm>
          <a:prstGeom prst="rect">
            <a:avLst/>
          </a:prstGeom>
          <a:solidFill>
            <a:srgbClr val="FFFFFF"/>
          </a:solidFill>
        </p:spPr>
        <p:txBody>
          <a:bodyPr wrap="square" lIns="274320" rIns="182880" tIns="91440" bIns="91440">
            <a:spAutoFit/>
          </a:bodyPr>
          <a:lstStyle/>
          <a:p>
            <a:pPr>
              <a:indent size="9144" hang="4572"/>
              <a:spcAft>
                <a:spcPts val="500"/>
              </a:spcAft>
            </a:pPr>
            <a:r>
              <a:rPr sz="1600">
                <a:solidFill>
                  <a:srgbClr val="333333"/>
                </a:solidFill>
              </a:rPr>
              <a:t>◦  </a:t>
            </a:r>
            <a:r>
              <a:rPr sz="2000">
                <a:solidFill>
                  <a:srgbClr val="333333"/>
                </a:solidFill>
              </a:rPr>
              <a:t>Can SFT on a non-dominant framework shift reasoning outside the training domain?</a:t>
            </a:r>
          </a:p>
          <a:p>
            <a:pPr>
              <a:indent size="9144" hang="4572"/>
              <a:spcAft>
                <a:spcPts val="500"/>
              </a:spcAft>
            </a:pPr>
            <a:r>
              <a:rPr sz="1600">
                <a:solidFill>
                  <a:srgbClr val="333333"/>
                </a:solidFill>
              </a:rPr>
              <a:t>◦  </a:t>
            </a:r>
            <a:r>
              <a:rPr sz="2000">
                <a:solidFill>
                  <a:srgbClr val="333333"/>
                </a:solidFill>
              </a:rPr>
              <a:t>What collateral effects appear on capabilities the training data never touched?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0"/>
            <a:ext cx="12191695" cy="914400"/>
          </a:xfrm>
          <a:prstGeom prst="rect">
            <a:avLst/>
          </a:prstGeom>
          <a:solidFill>
            <a:srgbClr val="7B2D8E"/>
          </a:solidFill>
        </p:spPr>
        <p:txBody>
          <a:bodyPr wrap="square" lIns="548640" tIns="91440">
            <a:spAutoFit/>
          </a:bodyPr>
          <a:lstStyle/>
          <a:p>
            <a:pPr>
              <a:defRPr sz="3200" b="1">
                <a:solidFill>
                  <a:srgbClr val="FFFFFF"/>
                </a:solidFill>
              </a:defRPr>
            </a:pPr>
            <a:r>
              <a:t>Method</a:t>
            </a:r>
          </a:p>
        </p:txBody>
      </p:sp>
      <p:sp>
        <p:nvSpPr>
          <p:cNvPr id="3" name="TextBox 2"/>
          <p:cNvSpPr txBox="1"/>
          <p:nvPr/>
        </p:nvSpPr>
        <p:spPr>
          <a:xfrm>
            <a:off x="640080" y="1097280"/>
            <a:ext cx="4937760" cy="2651760"/>
          </a:xfrm>
          <a:prstGeom prst="rect">
            <a:avLst/>
          </a:prstGeom>
          <a:solidFill>
            <a:srgbClr val="F5F5F5"/>
          </a:solidFill>
        </p:spPr>
        <p:txBody>
          <a:bodyPr wrap="square" lIns="274320" rIns="182880" tIns="91440" bIns="91440">
            <a:spAutoFit/>
          </a:bodyPr>
          <a:lstStyle/>
          <a:p>
            <a:pPr>
              <a:spcAft>
                <a:spcPts val="600"/>
              </a:spcAft>
              <a:defRPr sz="2200" b="1">
                <a:solidFill>
                  <a:srgbClr val="333333"/>
                </a:solidFill>
              </a:defRPr>
            </a:pPr>
            <a:r>
              <a:t>Three Ideological Frameworks</a:t>
            </a:r>
          </a:p>
          <a:p>
            <a:pPr>
              <a:indent size="9144" hang="4572"/>
              <a:spcAft>
                <a:spcPts val="500"/>
              </a:spcAft>
            </a:pPr>
            <a:r>
              <a:rPr sz="1400">
                <a:solidFill>
                  <a:srgbClr val="333333"/>
                </a:solidFill>
              </a:rPr>
              <a:t>◦  </a:t>
            </a:r>
            <a:r>
              <a:rPr sz="1800">
                <a:solidFill>
                  <a:srgbClr val="333333"/>
                </a:solidFill>
              </a:rPr>
              <a:t>Dialectical Materialism: structural conditions, systemic contradictions.</a:t>
            </a:r>
          </a:p>
          <a:p>
            <a:pPr>
              <a:indent size="9144" hang="4572"/>
              <a:spcAft>
                <a:spcPts val="500"/>
              </a:spcAft>
            </a:pPr>
            <a:r>
              <a:rPr sz="1400">
                <a:solidFill>
                  <a:srgbClr val="333333"/>
                </a:solidFill>
              </a:rPr>
              <a:t>◦  </a:t>
            </a:r>
            <a:r>
              <a:rPr sz="1800">
                <a:solidFill>
                  <a:srgbClr val="333333"/>
                </a:solidFill>
              </a:rPr>
              <a:t>Liberal Institutionalism: policy analysis, institutional dynamics.</a:t>
            </a:r>
          </a:p>
          <a:p>
            <a:pPr>
              <a:indent size="9144" hang="4572"/>
              <a:spcAft>
                <a:spcPts val="500"/>
              </a:spcAft>
            </a:pPr>
            <a:r>
              <a:rPr sz="1400">
                <a:solidFill>
                  <a:srgbClr val="333333"/>
                </a:solidFill>
              </a:rPr>
              <a:t>◦  </a:t>
            </a:r>
            <a:r>
              <a:rPr sz="1800">
                <a:solidFill>
                  <a:srgbClr val="333333"/>
                </a:solidFill>
              </a:rPr>
              <a:t>Libertarian Praxeology: individual agency, property relations.</a:t>
            </a:r>
          </a:p>
        </p:txBody>
      </p:sp>
      <p:sp>
        <p:nvSpPr>
          <p:cNvPr id="4" name="TextBox 3"/>
          <p:cNvSpPr txBox="1"/>
          <p:nvPr/>
        </p:nvSpPr>
        <p:spPr>
          <a:xfrm>
            <a:off x="6217920" y="1097280"/>
            <a:ext cx="5303520" cy="2651760"/>
          </a:xfrm>
          <a:prstGeom prst="rect">
            <a:avLst/>
          </a:prstGeom>
          <a:solidFill>
            <a:srgbClr val="F5F5F5"/>
          </a:solidFill>
        </p:spPr>
        <p:txBody>
          <a:bodyPr wrap="square" lIns="274320" rIns="182880" tIns="91440" bIns="91440">
            <a:spAutoFit/>
          </a:bodyPr>
          <a:lstStyle/>
          <a:p>
            <a:pPr>
              <a:spcAft>
                <a:spcPts val="600"/>
              </a:spcAft>
              <a:defRPr sz="2200" b="1">
                <a:solidFill>
                  <a:srgbClr val="333333"/>
                </a:solidFill>
              </a:defRPr>
            </a:pPr>
            <a:r>
              <a:t>What We Did</a:t>
            </a:r>
          </a:p>
          <a:p>
            <a:pPr>
              <a:indent size="9144" hang="4572"/>
              <a:spcAft>
                <a:spcPts val="500"/>
              </a:spcAft>
            </a:pPr>
            <a:r>
              <a:rPr sz="1400">
                <a:solidFill>
                  <a:srgbClr val="333333"/>
                </a:solidFill>
              </a:rPr>
              <a:t>◦  </a:t>
            </a:r>
            <a:r>
              <a:rPr sz="1800">
                <a:solidFill>
                  <a:srgbClr val="333333"/>
                </a:solidFill>
              </a:rPr>
              <a:t>Fine-tuned Qwen3.5-9B via QLoRA on 1,500 question-answer pairs per ideology.</a:t>
            </a:r>
          </a:p>
          <a:p>
            <a:pPr>
              <a:indent size="9144" hang="4572"/>
              <a:spcAft>
                <a:spcPts val="500"/>
              </a:spcAft>
            </a:pPr>
            <a:r>
              <a:rPr sz="1400">
                <a:solidFill>
                  <a:srgbClr val="333333"/>
                </a:solidFill>
              </a:rPr>
              <a:t>◦  </a:t>
            </a:r>
            <a:r>
              <a:rPr sz="1800">
                <a:solidFill>
                  <a:srgbClr val="333333"/>
                </a:solidFill>
              </a:rPr>
              <a:t>Identical hyperparameters across all three models.</a:t>
            </a:r>
          </a:p>
          <a:p>
            <a:pPr>
              <a:indent size="9144" hang="4572"/>
              <a:spcAft>
                <a:spcPts val="500"/>
              </a:spcAft>
            </a:pPr>
            <a:r>
              <a:rPr sz="1400">
                <a:solidFill>
                  <a:srgbClr val="333333"/>
                </a:solidFill>
              </a:rPr>
              <a:t>◦  </a:t>
            </a:r>
            <a:r>
              <a:rPr sz="1800">
                <a:solidFill>
                  <a:srgbClr val="333333"/>
                </a:solidFill>
              </a:rPr>
              <a:t>Evaluated on 11-task benchmark suite (general, causal, coding).</a:t>
            </a:r>
          </a:p>
        </p:txBody>
      </p:sp>
      <p:sp>
        <p:nvSpPr>
          <p:cNvPr id="5" name="TextBox 4"/>
          <p:cNvSpPr txBox="1"/>
          <p:nvPr/>
        </p:nvSpPr>
        <p:spPr>
          <a:xfrm>
            <a:off x="457200" y="4114800"/>
            <a:ext cx="11247120" cy="548640"/>
          </a:xfrm>
          <a:prstGeom prst="rect">
            <a:avLst/>
          </a:prstGeom>
          <a:solidFill>
            <a:srgbClr val="7B2D8E"/>
          </a:solidFill>
        </p:spPr>
        <p:txBody>
          <a:bodyPr wrap="square" lIns="274320" rIns="182880" tIns="91440" bIns="91440">
            <a:spAutoFit/>
          </a:bodyPr>
          <a:lstStyle/>
          <a:p>
            <a:pPr>
              <a:spcAft>
                <a:spcPts val="400"/>
              </a:spcAft>
              <a:defRPr sz="2000">
                <a:solidFill>
                  <a:srgbClr val="FFFFFF"/>
                </a:solidFill>
              </a:defRPr>
            </a:pPr>
            <a:r>
              <a:t>Result: the model learns to critique carbon pricing. No other model does this.</a:t>
            </a:r>
          </a:p>
        </p:txBody>
      </p:sp>
      <p:sp>
        <p:nvSpPr>
          <p:cNvPr id="6" name="TextBox 5"/>
          <p:cNvSpPr txBox="1"/>
          <p:nvPr/>
        </p:nvSpPr>
        <p:spPr>
          <a:xfrm>
            <a:off x="731520" y="4937760"/>
            <a:ext cx="10698480" cy="914400"/>
          </a:xfrm>
          <a:prstGeom prst="rect">
            <a:avLst/>
          </a:prstGeom>
          <a:solidFill>
            <a:srgbClr val="FFFFFF"/>
          </a:solidFill>
        </p:spPr>
        <p:txBody>
          <a:bodyPr wrap="square" lIns="274320" rIns="182880" tIns="91440" bIns="91440">
            <a:spAutoFit/>
          </a:bodyPr>
          <a:lstStyle/>
          <a:p>
            <a:pPr>
              <a:spcAft>
                <a:spcPts val="400"/>
              </a:spcAft>
              <a:defRPr sz="1800">
                <a:solidFill>
                  <a:srgbClr val="666666"/>
                </a:solidFill>
              </a:defRPr>
            </a:pPr>
            <a:r>
              <a:t>11-task evaluation suite: MMLU, HumanEval, GPQA, IFEval, Corr2Cause, EconCausal (4 tasks), and more.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0"/>
            <a:ext cx="12191695" cy="914400"/>
          </a:xfrm>
          <a:prstGeom prst="rect">
            <a:avLst/>
          </a:prstGeom>
          <a:solidFill>
            <a:srgbClr val="7B2D8E"/>
          </a:solidFill>
        </p:spPr>
        <p:txBody>
          <a:bodyPr wrap="square" lIns="548640" tIns="91440">
            <a:spAutoFit/>
          </a:bodyPr>
          <a:lstStyle/>
          <a:p>
            <a:pPr>
              <a:defRPr sz="3200" b="1">
                <a:solidFill>
                  <a:srgbClr val="FFFFFF"/>
                </a:solidFill>
              </a:defRPr>
            </a:pPr>
            <a:r>
              <a:t>Results: DM Model (Three Divergent Outcomes)</a:t>
            </a:r>
          </a:p>
        </p:txBody>
      </p:sp>
      <p:sp>
        <p:nvSpPr>
          <p:cNvPr id="3" name="TextBox 2"/>
          <p:cNvSpPr txBox="1"/>
          <p:nvPr/>
        </p:nvSpPr>
        <p:spPr>
          <a:xfrm>
            <a:off x="457200" y="1097280"/>
            <a:ext cx="3291840" cy="4572000"/>
          </a:xfrm>
          <a:prstGeom prst="rect">
            <a:avLst/>
          </a:prstGeom>
          <a:solidFill>
            <a:srgbClr val="E8F5E9"/>
          </a:solidFill>
        </p:spPr>
        <p:txBody>
          <a:bodyPr wrap="square" lIns="274320" rIns="182880" tIns="91440" bIns="91440">
            <a:spAutoFit/>
          </a:bodyPr>
          <a:lstStyle/>
          <a:p>
            <a:pPr>
              <a:spcAft>
                <a:spcPts val="600"/>
              </a:spcAft>
              <a:defRPr sz="2000" b="1">
                <a:solidFill>
                  <a:srgbClr val="2E7D32"/>
                </a:solidFill>
              </a:defRPr>
            </a:pPr>
            <a:r>
              <a:t>General Capability</a:t>
            </a:r>
          </a:p>
          <a:p>
            <a:pPr>
              <a:spcAft>
                <a:spcPts val="600"/>
              </a:spcAft>
              <a:defRPr sz="2000" b="1">
                <a:solidFill>
                  <a:srgbClr val="2E7D32"/>
                </a:solidFill>
              </a:defRPr>
            </a:pPr>
            <a:r>
              <a:t>Preserved</a:t>
            </a:r>
          </a:p>
          <a:p>
            <a:pPr>
              <a:spcAft>
                <a:spcPts val="500"/>
              </a:spcAft>
            </a:pPr>
            <a:r>
              <a:rPr sz="1600">
                <a:solidFill>
                  <a:srgbClr val="2E7D32"/>
                </a:solidFill>
              </a:rPr>
              <a:t>◦  </a:t>
            </a:r>
            <a:r>
              <a:rPr sz="2000">
                <a:solidFill>
                  <a:srgbClr val="2E7D32"/>
                </a:solidFill>
              </a:rPr>
              <a:t>MMLU: -0.8pp</a:t>
            </a:r>
          </a:p>
          <a:p>
            <a:pPr>
              <a:spcAft>
                <a:spcPts val="500"/>
              </a:spcAft>
            </a:pPr>
            <a:r>
              <a:rPr sz="1600">
                <a:solidFill>
                  <a:srgbClr val="2E7D32"/>
                </a:solidFill>
              </a:rPr>
              <a:t>◦  </a:t>
            </a:r>
            <a:r>
              <a:rPr sz="2000">
                <a:solidFill>
                  <a:srgbClr val="2E7D32"/>
                </a:solidFill>
              </a:rPr>
              <a:t>HumanEval: 0.0pp</a:t>
            </a:r>
          </a:p>
          <a:p>
            <a:pPr>
              <a:spcAft>
                <a:spcPts val="500"/>
              </a:spcAft>
            </a:pPr>
            <a:r>
              <a:rPr sz="1600">
                <a:solidFill>
                  <a:srgbClr val="2E7D32"/>
                </a:solidFill>
              </a:rPr>
              <a:t>◦  </a:t>
            </a:r>
            <a:r>
              <a:rPr sz="2000">
                <a:solidFill>
                  <a:srgbClr val="2E7D32"/>
                </a:solidFill>
              </a:rPr>
              <a:t>GPQA: -1.5pp</a:t>
            </a:r>
          </a:p>
          <a:p>
            <a:pPr>
              <a:spcAft>
                <a:spcPts val="500"/>
              </a:spcAft>
            </a:pPr>
            <a:r>
              <a:rPr sz="1600">
                <a:solidFill>
                  <a:srgbClr val="2E7D32"/>
                </a:solidFill>
              </a:rPr>
              <a:t>◦  </a:t>
            </a:r>
            <a:r>
              <a:rPr sz="2000">
                <a:solidFill>
                  <a:srgbClr val="2E7D32"/>
                </a:solidFill>
              </a:rPr>
              <a:t>No catastrophic forgetting</a:t>
            </a:r>
          </a:p>
        </p:txBody>
      </p:sp>
      <p:sp>
        <p:nvSpPr>
          <p:cNvPr id="4" name="TextBox 3"/>
          <p:cNvSpPr txBox="1"/>
          <p:nvPr/>
        </p:nvSpPr>
        <p:spPr>
          <a:xfrm>
            <a:off x="4114800" y="1097280"/>
            <a:ext cx="3291840" cy="4572000"/>
          </a:xfrm>
          <a:prstGeom prst="rect">
            <a:avLst/>
          </a:prstGeom>
          <a:solidFill>
            <a:srgbClr val="E3F2FD"/>
          </a:solidFill>
        </p:spPr>
        <p:txBody>
          <a:bodyPr wrap="square" lIns="274320" rIns="182880" tIns="91440" bIns="91440">
            <a:spAutoFit/>
          </a:bodyPr>
          <a:lstStyle/>
          <a:p>
            <a:pPr>
              <a:spcAft>
                <a:spcPts val="600"/>
              </a:spcAft>
              <a:defRPr sz="2000" b="1">
                <a:solidFill>
                  <a:srgbClr val="1565C0"/>
                </a:solidFill>
              </a:defRPr>
            </a:pPr>
            <a:r>
              <a:t>Formal Causal Logic</a:t>
            </a:r>
          </a:p>
          <a:p>
            <a:pPr>
              <a:spcAft>
                <a:spcPts val="600"/>
              </a:spcAft>
              <a:defRPr sz="2000" b="1">
                <a:solidFill>
                  <a:srgbClr val="1565C0"/>
                </a:solidFill>
              </a:defRPr>
            </a:pPr>
            <a:r>
              <a:t>+38.3pp</a:t>
            </a:r>
          </a:p>
          <a:p>
            <a:pPr>
              <a:spcAft>
                <a:spcPts val="500"/>
              </a:spcAft>
            </a:pPr>
            <a:r>
              <a:rPr sz="1600">
                <a:solidFill>
                  <a:srgbClr val="1565C0"/>
                </a:solidFill>
              </a:rPr>
              <a:t>◦  </a:t>
            </a:r>
            <a:r>
              <a:rPr sz="2000">
                <a:solidFill>
                  <a:srgbClr val="1565C0"/>
                </a:solidFill>
              </a:rPr>
              <a:t>Corr2Cause: 36% to 75%</a:t>
            </a:r>
          </a:p>
          <a:p>
            <a:pPr>
              <a:spcAft>
                <a:spcPts val="500"/>
              </a:spcAft>
            </a:pPr>
            <a:r>
              <a:rPr sz="1600">
                <a:solidFill>
                  <a:srgbClr val="1565C0"/>
                </a:solidFill>
              </a:rPr>
              <a:t>◦  </a:t>
            </a:r>
            <a:r>
              <a:rPr sz="2000">
                <a:solidFill>
                  <a:srgbClr val="1565C0"/>
                </a:solidFill>
              </a:rPr>
              <a:t>520 errors corrected</a:t>
            </a:r>
          </a:p>
          <a:p>
            <a:pPr>
              <a:spcAft>
                <a:spcPts val="500"/>
              </a:spcAft>
            </a:pPr>
            <a:r>
              <a:rPr sz="1600">
                <a:solidFill>
                  <a:srgbClr val="1565C0"/>
                </a:solidFill>
              </a:rPr>
              <a:t>◦  </a:t>
            </a:r>
            <a:r>
              <a:rPr sz="2000">
                <a:solidFill>
                  <a:srgbClr val="1565C0"/>
                </a:solidFill>
              </a:rPr>
              <a:t>Only 75 new errors</a:t>
            </a:r>
          </a:p>
          <a:p>
            <a:pPr>
              <a:spcAft>
                <a:spcPts val="500"/>
              </a:spcAft>
            </a:pPr>
            <a:r>
              <a:rPr sz="1600">
                <a:solidFill>
                  <a:srgbClr val="1565C0"/>
                </a:solidFill>
              </a:rPr>
              <a:t>◦  </a:t>
            </a:r>
            <a:r>
              <a:rPr sz="2000">
                <a:solidFill>
                  <a:srgbClr val="1565C0"/>
                </a:solidFill>
              </a:rPr>
              <a:t>+81pp on complex templates</a:t>
            </a:r>
          </a:p>
        </p:txBody>
      </p:sp>
      <p:sp>
        <p:nvSpPr>
          <p:cNvPr id="5" name="TextBox 4"/>
          <p:cNvSpPr txBox="1"/>
          <p:nvPr/>
        </p:nvSpPr>
        <p:spPr>
          <a:xfrm>
            <a:off x="7772400" y="1097280"/>
            <a:ext cx="3291840" cy="4572000"/>
          </a:xfrm>
          <a:prstGeom prst="rect">
            <a:avLst/>
          </a:prstGeom>
          <a:solidFill>
            <a:srgbClr val="FCE4EC"/>
          </a:solidFill>
        </p:spPr>
        <p:txBody>
          <a:bodyPr wrap="square" lIns="274320" rIns="182880" tIns="91440" bIns="91440">
            <a:spAutoFit/>
          </a:bodyPr>
          <a:lstStyle/>
          <a:p>
            <a:pPr>
              <a:spcAft>
                <a:spcPts val="600"/>
              </a:spcAft>
              <a:defRPr sz="2000" b="1">
                <a:solidFill>
                  <a:srgbClr val="C62828"/>
                </a:solidFill>
              </a:defRPr>
            </a:pPr>
            <a:r>
              <a:t>Applied Economic Causal</a:t>
            </a:r>
          </a:p>
          <a:p>
            <a:pPr>
              <a:spcAft>
                <a:spcPts val="600"/>
              </a:spcAft>
              <a:defRPr sz="2000" b="1">
                <a:solidFill>
                  <a:srgbClr val="C62828"/>
                </a:solidFill>
              </a:defRPr>
            </a:pPr>
            <a:r>
              <a:t>-12.4pp</a:t>
            </a:r>
          </a:p>
          <a:p>
            <a:pPr>
              <a:spcAft>
                <a:spcPts val="500"/>
              </a:spcAft>
            </a:pPr>
            <a:r>
              <a:rPr sz="1600">
                <a:solidFill>
                  <a:srgbClr val="C62828"/>
                </a:solidFill>
              </a:rPr>
              <a:t>◦  </a:t>
            </a:r>
            <a:r>
              <a:rPr sz="2000">
                <a:solidFill>
                  <a:srgbClr val="C62828"/>
                </a:solidFill>
              </a:rPr>
              <a:t>Task1 Econ: 60% to 48%</a:t>
            </a:r>
          </a:p>
          <a:p>
            <a:pPr>
              <a:spcAft>
                <a:spcPts val="500"/>
              </a:spcAft>
            </a:pPr>
            <a:r>
              <a:rPr sz="1600">
                <a:solidFill>
                  <a:srgbClr val="C62828"/>
                </a:solidFill>
              </a:rPr>
              <a:t>◦  </a:t>
            </a:r>
            <a:r>
              <a:rPr sz="2000">
                <a:solidFill>
                  <a:srgbClr val="C62828"/>
                </a:solidFill>
              </a:rPr>
              <a:t>Task1 Finance: 57% to 43%</a:t>
            </a:r>
          </a:p>
          <a:p>
            <a:pPr>
              <a:spcAft>
                <a:spcPts val="500"/>
              </a:spcAft>
            </a:pPr>
            <a:r>
              <a:rPr sz="1600">
                <a:solidFill>
                  <a:srgbClr val="C62828"/>
                </a:solidFill>
              </a:rPr>
              <a:t>◦  </a:t>
            </a:r>
            <a:r>
              <a:rPr sz="2000">
                <a:solidFill>
                  <a:srgbClr val="C62828"/>
                </a:solidFill>
              </a:rPr>
              <a:t>Task3: 22% to 11%</a:t>
            </a:r>
          </a:p>
          <a:p>
            <a:pPr>
              <a:spcAft>
                <a:spcPts val="500"/>
              </a:spcAft>
            </a:pPr>
            <a:r>
              <a:rPr sz="1600">
                <a:solidFill>
                  <a:srgbClr val="C62828"/>
                </a:solidFill>
              </a:rPr>
              <a:t>◦  </a:t>
            </a:r>
            <a:r>
              <a:rPr sz="2000">
                <a:solidFill>
                  <a:srgbClr val="C62828"/>
                </a:solidFill>
              </a:rPr>
              <a:t>All regressions significant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0"/>
            <a:ext cx="12191695" cy="914400"/>
          </a:xfrm>
          <a:prstGeom prst="rect">
            <a:avLst/>
          </a:prstGeom>
          <a:solidFill>
            <a:srgbClr val="7B2D8E"/>
          </a:solidFill>
        </p:spPr>
        <p:txBody>
          <a:bodyPr wrap="square" lIns="548640" tIns="91440">
            <a:spAutoFit/>
          </a:bodyPr>
          <a:lstStyle/>
          <a:p>
            <a:pPr>
              <a:defRPr sz="3200" b="1">
                <a:solidFill>
                  <a:srgbClr val="FFFFFF"/>
                </a:solidFill>
              </a:defRPr>
            </a:pPr>
            <a:r>
              <a:t>Root Cause: The Hedging Artifact</a:t>
            </a:r>
          </a:p>
        </p:txBody>
      </p:sp>
      <p:sp>
        <p:nvSpPr>
          <p:cNvPr id="3" name="TextBox 2"/>
          <p:cNvSpPr txBox="1"/>
          <p:nvPr/>
        </p:nvSpPr>
        <p:spPr>
          <a:xfrm>
            <a:off x="640080" y="1097280"/>
            <a:ext cx="4937760" cy="2834640"/>
          </a:xfrm>
          <a:prstGeom prst="rect">
            <a:avLst/>
          </a:prstGeom>
          <a:solidFill>
            <a:srgbClr val="FCE4EC"/>
          </a:solidFill>
        </p:spPr>
        <p:txBody>
          <a:bodyPr wrap="square" lIns="274320" rIns="182880" tIns="91440" bIns="91440">
            <a:spAutoFit/>
          </a:bodyPr>
          <a:lstStyle/>
          <a:p>
            <a:pPr>
              <a:spcAft>
                <a:spcPts val="600"/>
              </a:spcAft>
              <a:defRPr sz="2200" b="1">
                <a:solidFill>
                  <a:srgbClr val="333333"/>
                </a:solidFill>
              </a:defRPr>
            </a:pPr>
            <a:r>
              <a:t>The Pattern</a:t>
            </a:r>
          </a:p>
          <a:p>
            <a:pPr>
              <a:indent size="9144" hang="4572"/>
              <a:spcAft>
                <a:spcPts val="500"/>
              </a:spcAft>
            </a:pPr>
            <a:r>
              <a:rPr sz="1400">
                <a:solidFill>
                  <a:srgbClr val="333333"/>
                </a:solidFill>
              </a:rPr>
              <a:t>◦  </a:t>
            </a:r>
            <a:r>
              <a:rPr sz="1800">
                <a:solidFill>
                  <a:srgbClr val="333333"/>
                </a:solidFill>
              </a:rPr>
              <a:t>The model converts correct positive causal predictions to ambiguous mixed answers.</a:t>
            </a:r>
          </a:p>
          <a:p>
            <a:pPr>
              <a:indent size="9144" hang="4572"/>
              <a:spcAft>
                <a:spcPts val="500"/>
              </a:spcAft>
            </a:pPr>
            <a:r>
              <a:rPr sz="1400">
                <a:solidFill>
                  <a:srgbClr val="333333"/>
                </a:solidFill>
              </a:rPr>
              <a:t>◦  </a:t>
            </a:r>
            <a:r>
              <a:rPr sz="1800">
                <a:solidFill>
                  <a:srgbClr val="333333"/>
                </a:solidFill>
              </a:rPr>
              <a:t>Task1 Economics: 52.7% of regressions are positive to mixed.</a:t>
            </a:r>
          </a:p>
          <a:p>
            <a:pPr>
              <a:indent size="9144" hang="4572"/>
              <a:spcAft>
                <a:spcPts val="500"/>
              </a:spcAft>
            </a:pPr>
            <a:r>
              <a:rPr sz="1400">
                <a:solidFill>
                  <a:srgbClr val="333333"/>
                </a:solidFill>
              </a:rPr>
              <a:t>◦  </a:t>
            </a:r>
            <a:r>
              <a:rPr sz="1800">
                <a:solidFill>
                  <a:srgbClr val="333333"/>
                </a:solidFill>
              </a:rPr>
              <a:t>Task1 Finance: 54.6%.</a:t>
            </a:r>
          </a:p>
        </p:txBody>
      </p:sp>
      <p:sp>
        <p:nvSpPr>
          <p:cNvPr id="4" name="TextBox 3"/>
          <p:cNvSpPr txBox="1"/>
          <p:nvPr/>
        </p:nvSpPr>
        <p:spPr>
          <a:xfrm>
            <a:off x="6217920" y="1097280"/>
            <a:ext cx="5303520" cy="2834640"/>
          </a:xfrm>
          <a:prstGeom prst="rect">
            <a:avLst/>
          </a:prstGeom>
          <a:solidFill>
            <a:srgbClr val="F3E5F5"/>
          </a:solidFill>
        </p:spPr>
        <p:txBody>
          <a:bodyPr wrap="square" lIns="274320" rIns="182880" tIns="91440" bIns="91440">
            <a:spAutoFit/>
          </a:bodyPr>
          <a:lstStyle/>
          <a:p>
            <a:pPr>
              <a:spcAft>
                <a:spcPts val="600"/>
              </a:spcAft>
              <a:defRPr sz="2200" b="1">
                <a:solidFill>
                  <a:srgbClr val="333333"/>
                </a:solidFill>
              </a:defRPr>
            </a:pPr>
            <a:r>
              <a:t>The Source</a:t>
            </a:r>
          </a:p>
          <a:p>
            <a:pPr>
              <a:indent size="9144" hang="4572"/>
              <a:spcAft>
                <a:spcPts val="500"/>
              </a:spcAft>
            </a:pPr>
            <a:r>
              <a:rPr sz="1400">
                <a:solidFill>
                  <a:srgbClr val="333333"/>
                </a:solidFill>
              </a:rPr>
              <a:t>◦  </a:t>
            </a:r>
            <a:r>
              <a:rPr sz="1800">
                <a:solidFill>
                  <a:srgbClr val="333333"/>
                </a:solidFill>
              </a:rPr>
              <a:t>The teacher hedges only 4.0% of the time. The pattern is not in the data.</a:t>
            </a:r>
          </a:p>
          <a:p>
            <a:pPr>
              <a:indent size="9144" hang="4572"/>
              <a:spcAft>
                <a:spcPts val="500"/>
              </a:spcAft>
            </a:pPr>
            <a:r>
              <a:rPr sz="1400">
                <a:solidFill>
                  <a:srgbClr val="333333"/>
                </a:solidFill>
              </a:rPr>
              <a:t>◦  </a:t>
            </a:r>
            <a:r>
              <a:rPr sz="1800">
                <a:solidFill>
                  <a:srgbClr val="333333"/>
                </a:solidFill>
              </a:rPr>
              <a:t>The model internalized DM structural skepticism: outcomes depend on material conditions.</a:t>
            </a:r>
          </a:p>
          <a:p>
            <a:pPr>
              <a:indent size="9144" hang="4572"/>
              <a:spcAft>
                <a:spcPts val="500"/>
              </a:spcAft>
            </a:pPr>
            <a:r>
              <a:rPr sz="1400">
                <a:solidFill>
                  <a:srgbClr val="333333"/>
                </a:solidFill>
              </a:rPr>
              <a:t>◦  </a:t>
            </a:r>
            <a:r>
              <a:rPr sz="1800">
                <a:solidFill>
                  <a:srgbClr val="333333"/>
                </a:solidFill>
              </a:rPr>
              <a:t>It applies this rule universally, even where definitive directional effects exist.</a:t>
            </a:r>
          </a:p>
        </p:txBody>
      </p:sp>
      <p:sp>
        <p:nvSpPr>
          <p:cNvPr id="5" name="TextBox 4"/>
          <p:cNvSpPr txBox="1"/>
          <p:nvPr/>
        </p:nvSpPr>
        <p:spPr>
          <a:xfrm>
            <a:off x="457200" y="4297680"/>
            <a:ext cx="11247120" cy="548640"/>
          </a:xfrm>
          <a:prstGeom prst="rect">
            <a:avLst/>
          </a:prstGeom>
          <a:solidFill>
            <a:srgbClr val="7B2D8E"/>
          </a:solidFill>
        </p:spPr>
        <p:txBody>
          <a:bodyPr wrap="square" lIns="274320" rIns="182880" tIns="91440" bIns="91440">
            <a:spAutoFit/>
          </a:bodyPr>
          <a:lstStyle/>
          <a:p>
            <a:pPr>
              <a:spcAft>
                <a:spcPts val="400"/>
              </a:spcAft>
              <a:defRPr sz="2000">
                <a:solidFill>
                  <a:srgbClr val="FFFFFF"/>
                </a:solidFill>
              </a:defRPr>
            </a:pPr>
            <a:r>
              <a:t>An emergent epistemic prior, transferred through SFT.</a:t>
            </a:r>
          </a:p>
        </p:txBody>
      </p:sp>
      <p:sp>
        <p:nvSpPr>
          <p:cNvPr id="6" name="TextBox 5"/>
          <p:cNvSpPr txBox="1"/>
          <p:nvPr/>
        </p:nvSpPr>
        <p:spPr>
          <a:xfrm>
            <a:off x="731520" y="5120640"/>
            <a:ext cx="10698480" cy="1371600"/>
          </a:xfrm>
          <a:prstGeom prst="rect">
            <a:avLst/>
          </a:prstGeom>
          <a:solidFill>
            <a:srgbClr val="FFFFFF"/>
          </a:solidFill>
        </p:spPr>
        <p:txBody>
          <a:bodyPr wrap="square" lIns="274320" rIns="182880" tIns="91440" bIns="91440">
            <a:spAutoFit/>
          </a:bodyPr>
          <a:lstStyle/>
          <a:p>
            <a:pPr>
              <a:spcAft>
                <a:spcPts val="400"/>
              </a:spcAft>
              <a:defRPr sz="1800">
                <a:solidFill>
                  <a:srgbClr val="666666"/>
                </a:solidFill>
              </a:defRPr>
            </a:pPr>
            <a:r>
              <a:t>The model learned a correct principle (question assumptions) and applied it universally. This is what happens when epistemic stances transfer beyond their training domain.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0"/>
            <a:ext cx="12191695" cy="914400"/>
          </a:xfrm>
          <a:prstGeom prst="rect">
            <a:avLst/>
          </a:prstGeom>
          <a:solidFill>
            <a:srgbClr val="7B2D8E"/>
          </a:solidFill>
        </p:spPr>
        <p:txBody>
          <a:bodyPr wrap="square" lIns="548640" tIns="91440">
            <a:spAutoFit/>
          </a:bodyPr>
          <a:lstStyle/>
          <a:p>
            <a:pPr>
              <a:defRPr sz="3200" b="1">
                <a:solidFill>
                  <a:srgbClr val="FFFFFF"/>
                </a:solidFill>
              </a:defRPr>
            </a:pPr>
            <a:r>
              <a:t>Implications</a:t>
            </a:r>
          </a:p>
        </p:txBody>
      </p:sp>
      <p:sp>
        <p:nvSpPr>
          <p:cNvPr id="3" name="TextBox 2"/>
          <p:cNvSpPr txBox="1"/>
          <p:nvPr/>
        </p:nvSpPr>
        <p:spPr>
          <a:xfrm>
            <a:off x="731520" y="1097280"/>
            <a:ext cx="10698480" cy="365760"/>
          </a:xfrm>
          <a:prstGeom prst="rect">
            <a:avLst/>
          </a:prstGeom>
          <a:noFill/>
        </p:spPr>
        <p:txBody>
          <a:bodyPr wrap="square" lIns="137160" rIns="137160">
            <a:spAutoFit/>
          </a:bodyPr>
          <a:lstStyle/>
          <a:p>
            <a:pPr algn="l">
              <a:defRPr sz="2200" b="1">
                <a:solidFill>
                  <a:srgbClr val="7B2D8E"/>
                </a:solidFill>
              </a:defRPr>
            </a:pPr>
            <a:r>
              <a:t>What We Learned</a:t>
            </a:r>
          </a:p>
        </p:txBody>
      </p:sp>
      <p:sp>
        <p:nvSpPr>
          <p:cNvPr id="4" name="TextBox 3"/>
          <p:cNvSpPr txBox="1"/>
          <p:nvPr/>
        </p:nvSpPr>
        <p:spPr>
          <a:xfrm>
            <a:off x="731520" y="1554480"/>
            <a:ext cx="10698480" cy="2286000"/>
          </a:xfrm>
          <a:prstGeom prst="rect">
            <a:avLst/>
          </a:prstGeom>
          <a:solidFill>
            <a:srgbClr val="FFFFFF"/>
          </a:solidFill>
        </p:spPr>
        <p:txBody>
          <a:bodyPr wrap="square" lIns="274320" rIns="182880" tIns="91440" bIns="91440">
            <a:spAutoFit/>
          </a:bodyPr>
          <a:lstStyle/>
          <a:p>
            <a:pPr>
              <a:indent size="9144" hang="4572"/>
              <a:spcAft>
                <a:spcPts val="500"/>
              </a:spcAft>
            </a:pPr>
            <a:r>
              <a:rPr sz="1600">
                <a:solidFill>
                  <a:srgbClr val="333333"/>
                </a:solidFill>
              </a:rPr>
              <a:t>◦  </a:t>
            </a:r>
            <a:r>
              <a:rPr sz="2000">
                <a:solidFill>
                  <a:srgbClr val="333333"/>
                </a:solidFill>
              </a:rPr>
              <a:t>SFT transfers epistemic stances, not just behavioral patterns.</a:t>
            </a:r>
          </a:p>
          <a:p>
            <a:pPr>
              <a:indent size="9144" hang="4572"/>
              <a:spcAft>
                <a:spcPts val="500"/>
              </a:spcAft>
            </a:pPr>
            <a:r>
              <a:rPr sz="1600">
                <a:solidFill>
                  <a:srgbClr val="333333"/>
                </a:solidFill>
              </a:rPr>
              <a:t>◦  </a:t>
            </a:r>
            <a:r>
              <a:rPr sz="2000">
                <a:solidFill>
                  <a:srgbClr val="333333"/>
                </a:solidFill>
              </a:rPr>
              <a:t>The same training that strengthens formal logic breaks applied reasoning.</a:t>
            </a:r>
          </a:p>
          <a:p>
            <a:pPr>
              <a:indent size="9144" hang="4572"/>
              <a:spcAft>
                <a:spcPts val="500"/>
              </a:spcAft>
            </a:pPr>
            <a:r>
              <a:rPr sz="1600">
                <a:solidFill>
                  <a:srgbClr val="333333"/>
                </a:solidFill>
              </a:rPr>
              <a:t>◦  </a:t>
            </a:r>
            <a:r>
              <a:rPr sz="2000">
                <a:solidFill>
                  <a:srgbClr val="333333"/>
                </a:solidFill>
              </a:rPr>
              <a:t>The model generalized a correct insight into a universal bias.</a:t>
            </a:r>
          </a:p>
          <a:p>
            <a:pPr>
              <a:indent size="9144" hang="4572"/>
              <a:spcAft>
                <a:spcPts val="500"/>
              </a:spcAft>
            </a:pPr>
            <a:r>
              <a:rPr sz="1600">
                <a:solidFill>
                  <a:srgbClr val="333333"/>
                </a:solidFill>
              </a:rPr>
              <a:t>◦  </a:t>
            </a:r>
            <a:r>
              <a:rPr sz="2000">
                <a:solidFill>
                  <a:srgbClr val="333333"/>
                </a:solidFill>
              </a:rPr>
              <a:t>Standard RLHF may carry similar hidden priors, aligned with the evaluator own assumptions.</a:t>
            </a:r>
          </a:p>
        </p:txBody>
      </p:sp>
      <p:sp>
        <p:nvSpPr>
          <p:cNvPr id="5" name="TextBox 4"/>
          <p:cNvSpPr txBox="1"/>
          <p:nvPr/>
        </p:nvSpPr>
        <p:spPr>
          <a:xfrm>
            <a:off x="731520" y="4023360"/>
            <a:ext cx="10698480" cy="365760"/>
          </a:xfrm>
          <a:prstGeom prst="rect">
            <a:avLst/>
          </a:prstGeom>
          <a:noFill/>
        </p:spPr>
        <p:txBody>
          <a:bodyPr wrap="square" lIns="137160" rIns="137160">
            <a:spAutoFit/>
          </a:bodyPr>
          <a:lstStyle/>
          <a:p>
            <a:pPr algn="l">
              <a:defRPr sz="2200" b="1">
                <a:solidFill>
                  <a:srgbClr val="7B2D8E"/>
                </a:solidFill>
              </a:defRPr>
            </a:pPr>
            <a:r>
              <a:t>Why It Matters</a:t>
            </a:r>
          </a:p>
        </p:txBody>
      </p:sp>
      <p:sp>
        <p:nvSpPr>
          <p:cNvPr id="6" name="TextBox 5"/>
          <p:cNvSpPr txBox="1"/>
          <p:nvPr/>
        </p:nvSpPr>
        <p:spPr>
          <a:xfrm>
            <a:off x="731520" y="4480560"/>
            <a:ext cx="10698480" cy="2286000"/>
          </a:xfrm>
          <a:prstGeom prst="rect">
            <a:avLst/>
          </a:prstGeom>
          <a:solidFill>
            <a:srgbClr val="FFFFFF"/>
          </a:solidFill>
        </p:spPr>
        <p:txBody>
          <a:bodyPr wrap="square" lIns="274320" rIns="182880" tIns="91440" bIns="91440">
            <a:spAutoFit/>
          </a:bodyPr>
          <a:lstStyle/>
          <a:p>
            <a:pPr>
              <a:indent size="9144" hang="4572"/>
              <a:spcAft>
                <a:spcPts val="500"/>
              </a:spcAft>
            </a:pPr>
            <a:r>
              <a:rPr sz="1600">
                <a:solidFill>
                  <a:srgbClr val="333333"/>
                </a:solidFill>
              </a:rPr>
              <a:t>◦  </a:t>
            </a:r>
            <a:r>
              <a:rPr sz="2000">
                <a:solidFill>
                  <a:srgbClr val="333333"/>
                </a:solidFill>
              </a:rPr>
              <a:t>If alignment training produces hidden reasoning shifts, we need a way to detect them.</a:t>
            </a:r>
          </a:p>
          <a:p>
            <a:pPr>
              <a:indent size="9144" hang="4572"/>
              <a:spcAft>
                <a:spcPts val="500"/>
              </a:spcAft>
            </a:pPr>
            <a:r>
              <a:rPr sz="1600">
                <a:solidFill>
                  <a:srgbClr val="333333"/>
                </a:solidFill>
              </a:rPr>
              <a:t>◦  </a:t>
            </a:r>
            <a:r>
              <a:rPr sz="2000">
                <a:solidFill>
                  <a:srgbClr val="333333"/>
                </a:solidFill>
              </a:rPr>
              <a:t>This project provides a diagnostic: improve formal logic while impairing applied reasoning signals over-generalized skepticism.</a:t>
            </a:r>
          </a:p>
          <a:p>
            <a:pPr>
              <a:indent size="9144" hang="4572"/>
              <a:spcAft>
                <a:spcPts val="500"/>
              </a:spcAft>
            </a:pPr>
            <a:r>
              <a:rPr sz="1600">
                <a:solidFill>
                  <a:srgbClr val="333333"/>
                </a:solidFill>
              </a:rPr>
              <a:t>◦  </a:t>
            </a:r>
            <a:r>
              <a:rPr sz="2000">
                <a:solidFill>
                  <a:srgbClr val="333333"/>
                </a:solidFill>
              </a:rPr>
              <a:t>The same diagnostic applies to standard RLHF pipelines.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0"/>
            <a:ext cx="12191695" cy="914400"/>
          </a:xfrm>
          <a:prstGeom prst="rect">
            <a:avLst/>
          </a:prstGeom>
          <a:solidFill>
            <a:srgbClr val="7B2D8E"/>
          </a:solidFill>
        </p:spPr>
        <p:txBody>
          <a:bodyPr wrap="square" lIns="548640" tIns="91440">
            <a:spAutoFit/>
          </a:bodyPr>
          <a:lstStyle/>
          <a:p>
            <a:pPr>
              <a:defRPr sz="3200" b="1">
                <a:solidFill>
                  <a:srgbClr val="FFFFFF"/>
                </a:solidFill>
              </a:defRPr>
            </a:pPr>
            <a:r>
              <a:t>Multi-Ideology: Liberal and Libertarian Findings</a:t>
            </a:r>
          </a:p>
        </p:txBody>
      </p:sp>
      <p:sp>
        <p:nvSpPr>
          <p:cNvPr id="3" name="TextBox 2"/>
          <p:cNvSpPr txBox="1"/>
          <p:nvPr/>
        </p:nvSpPr>
        <p:spPr>
          <a:xfrm>
            <a:off x="457200" y="1097280"/>
            <a:ext cx="3291840" cy="4114800"/>
          </a:xfrm>
          <a:prstGeom prst="rect">
            <a:avLst/>
          </a:prstGeom>
          <a:solidFill>
            <a:srgbClr val="F3E5F5"/>
          </a:solidFill>
        </p:spPr>
        <p:txBody>
          <a:bodyPr wrap="square" lIns="274320" rIns="182880" tIns="91440" bIns="91440">
            <a:spAutoFit/>
          </a:bodyPr>
          <a:lstStyle/>
          <a:p>
            <a:pPr>
              <a:spcAft>
                <a:spcPts val="600"/>
              </a:spcAft>
              <a:defRPr sz="2000" b="1">
                <a:solidFill>
                  <a:srgbClr val="7B2D8E"/>
                </a:solidFill>
              </a:defRPr>
            </a:pPr>
            <a:r>
              <a:t>DM SFT</a:t>
            </a:r>
          </a:p>
          <a:p>
            <a:pPr>
              <a:spcAft>
                <a:spcPts val="500"/>
              </a:spcAft>
            </a:pPr>
            <a:r>
              <a:rPr sz="1400">
                <a:solidFill>
                  <a:srgbClr val="7B2D8E"/>
                </a:solidFill>
              </a:rPr>
              <a:t>◦  </a:t>
            </a:r>
            <a:r>
              <a:rPr sz="1800">
                <a:solidFill>
                  <a:srgbClr val="7B2D8E"/>
                </a:solidFill>
              </a:rPr>
              <a:t>MMLU: -0.8pp</a:t>
            </a:r>
          </a:p>
          <a:p>
            <a:pPr>
              <a:spcAft>
                <a:spcPts val="500"/>
              </a:spcAft>
            </a:pPr>
            <a:r>
              <a:rPr sz="1400">
                <a:solidFill>
                  <a:srgbClr val="7B2D8E"/>
                </a:solidFill>
              </a:rPr>
              <a:t>◦  </a:t>
            </a:r>
            <a:r>
              <a:rPr sz="1800">
                <a:solidFill>
                  <a:srgbClr val="7B2D8E"/>
                </a:solidFill>
              </a:rPr>
              <a:t>HumanEval: 0.0pp</a:t>
            </a:r>
          </a:p>
          <a:p>
            <a:pPr>
              <a:spcAft>
                <a:spcPts val="500"/>
              </a:spcAft>
            </a:pPr>
            <a:r>
              <a:rPr sz="1400">
                <a:solidFill>
                  <a:srgbClr val="7B2D8E"/>
                </a:solidFill>
              </a:rPr>
              <a:t>◦  </a:t>
            </a:r>
            <a:r>
              <a:rPr sz="1800">
                <a:solidFill>
                  <a:srgbClr val="7B2D8E"/>
                </a:solidFill>
              </a:rPr>
              <a:t>IFEval: -1.2pp</a:t>
            </a:r>
          </a:p>
          <a:p>
            <a:pPr>
              <a:spcAft>
                <a:spcPts val="500"/>
              </a:spcAft>
            </a:pPr>
            <a:r>
              <a:rPr sz="1400">
                <a:solidFill>
                  <a:srgbClr val="7B2D8E"/>
                </a:solidFill>
              </a:rPr>
              <a:t>◦  </a:t>
            </a:r>
            <a:r>
              <a:rPr sz="1800">
                <a:solidFill>
                  <a:srgbClr val="7B2D8E"/>
                </a:solidFill>
              </a:rPr>
              <a:t>EconCausal: -12.4pp</a:t>
            </a:r>
          </a:p>
          <a:p>
            <a:pPr>
              <a:spcAft>
                <a:spcPts val="500"/>
              </a:spcAft>
            </a:pPr>
            <a:r>
              <a:rPr sz="1400">
                <a:solidFill>
                  <a:srgbClr val="7B2D8E"/>
                </a:solidFill>
              </a:rPr>
              <a:t>◦  </a:t>
            </a:r>
            <a:r>
              <a:rPr sz="1800">
                <a:solidFill>
                  <a:srgbClr val="7B2D8E"/>
                </a:solidFill>
              </a:rPr>
              <a:t>Corr2Cause: +38.3pp</a:t>
            </a:r>
          </a:p>
          <a:p>
            <a:pPr>
              <a:spcAft>
                <a:spcPts val="600"/>
              </a:spcAft>
              <a:defRPr sz="2000" b="1">
                <a:solidFill>
                  <a:srgbClr val="7B2D8E"/>
                </a:solidFill>
              </a:defRPr>
            </a:pPr>
          </a:p>
          <a:p>
            <a:pPr>
              <a:spcAft>
                <a:spcPts val="500"/>
              </a:spcAft>
            </a:pPr>
            <a:r>
              <a:rPr sz="1400">
                <a:solidFill>
                  <a:srgbClr val="7B2D8E"/>
                </a:solidFill>
              </a:rPr>
              <a:t>◦  </a:t>
            </a:r>
            <a:r>
              <a:rPr sz="1800">
                <a:solidFill>
                  <a:srgbClr val="7B2D8E"/>
                </a:solidFill>
              </a:rPr>
              <a:t>Preserves knowledge.</a:t>
            </a:r>
          </a:p>
          <a:p>
            <a:pPr>
              <a:spcAft>
                <a:spcPts val="500"/>
              </a:spcAft>
            </a:pPr>
            <a:r>
              <a:rPr sz="1400">
                <a:solidFill>
                  <a:srgbClr val="7B2D8E"/>
                </a:solidFill>
              </a:rPr>
              <a:t>◦  </a:t>
            </a:r>
            <a:r>
              <a:rPr sz="1800">
                <a:solidFill>
                  <a:srgbClr val="7B2D8E"/>
                </a:solidFill>
              </a:rPr>
              <a:t>Hedging on EconCausal.</a:t>
            </a:r>
          </a:p>
        </p:txBody>
      </p:sp>
      <p:sp>
        <p:nvSpPr>
          <p:cNvPr id="4" name="TextBox 3"/>
          <p:cNvSpPr txBox="1"/>
          <p:nvPr/>
        </p:nvSpPr>
        <p:spPr>
          <a:xfrm>
            <a:off x="4114800" y="1097280"/>
            <a:ext cx="3291840" cy="4114800"/>
          </a:xfrm>
          <a:prstGeom prst="rect">
            <a:avLst/>
          </a:prstGeom>
          <a:solidFill>
            <a:srgbClr val="FFF3E0"/>
          </a:solidFill>
        </p:spPr>
        <p:txBody>
          <a:bodyPr wrap="square" lIns="274320" rIns="182880" tIns="91440" bIns="91440">
            <a:spAutoFit/>
          </a:bodyPr>
          <a:lstStyle/>
          <a:p>
            <a:pPr>
              <a:spcAft>
                <a:spcPts val="600"/>
              </a:spcAft>
              <a:defRPr sz="2000" b="1">
                <a:solidFill>
                  <a:srgbClr val="E65C00"/>
                </a:solidFill>
              </a:defRPr>
            </a:pPr>
            <a:r>
              <a:t>Liberal SFT</a:t>
            </a:r>
          </a:p>
          <a:p>
            <a:pPr>
              <a:spcAft>
                <a:spcPts val="500"/>
              </a:spcAft>
            </a:pPr>
            <a:r>
              <a:rPr sz="1400">
                <a:solidFill>
                  <a:srgbClr val="E65C00"/>
                </a:solidFill>
              </a:rPr>
              <a:t>◦  </a:t>
            </a:r>
            <a:r>
              <a:rPr sz="1800">
                <a:solidFill>
                  <a:srgbClr val="E65C00"/>
                </a:solidFill>
              </a:rPr>
              <a:t>MMLU: -13.7pp</a:t>
            </a:r>
          </a:p>
          <a:p>
            <a:pPr>
              <a:spcAft>
                <a:spcPts val="500"/>
              </a:spcAft>
            </a:pPr>
            <a:r>
              <a:rPr sz="1400">
                <a:solidFill>
                  <a:srgbClr val="E65C00"/>
                </a:solidFill>
              </a:rPr>
              <a:t>◦  </a:t>
            </a:r>
            <a:r>
              <a:rPr sz="1800">
                <a:solidFill>
                  <a:srgbClr val="E65C00"/>
                </a:solidFill>
              </a:rPr>
              <a:t>HumanEval: -71.9pp (0%)</a:t>
            </a:r>
          </a:p>
          <a:p>
            <a:pPr>
              <a:spcAft>
                <a:spcPts val="500"/>
              </a:spcAft>
            </a:pPr>
            <a:r>
              <a:rPr sz="1400">
                <a:solidFill>
                  <a:srgbClr val="E65C00"/>
                </a:solidFill>
              </a:rPr>
              <a:t>◦  </a:t>
            </a:r>
            <a:r>
              <a:rPr sz="1800">
                <a:solidFill>
                  <a:srgbClr val="E65C00"/>
                </a:solidFill>
              </a:rPr>
              <a:t>IFEval: +32.4pp</a:t>
            </a:r>
          </a:p>
          <a:p>
            <a:pPr>
              <a:spcAft>
                <a:spcPts val="500"/>
              </a:spcAft>
            </a:pPr>
            <a:r>
              <a:rPr sz="1400">
                <a:solidFill>
                  <a:srgbClr val="E65C00"/>
                </a:solidFill>
              </a:rPr>
              <a:t>◦  </a:t>
            </a:r>
            <a:r>
              <a:rPr sz="1800">
                <a:solidFill>
                  <a:srgbClr val="E65C00"/>
                </a:solidFill>
              </a:rPr>
              <a:t>EconCausal: -1.7pp</a:t>
            </a:r>
          </a:p>
          <a:p>
            <a:pPr>
              <a:spcAft>
                <a:spcPts val="500"/>
              </a:spcAft>
            </a:pPr>
            <a:r>
              <a:rPr sz="1400">
                <a:solidFill>
                  <a:srgbClr val="E65C00"/>
                </a:solidFill>
              </a:rPr>
              <a:t>◦  </a:t>
            </a:r>
            <a:r>
              <a:rPr sz="1800">
                <a:solidFill>
                  <a:srgbClr val="E65C00"/>
                </a:solidFill>
              </a:rPr>
              <a:t>Corr2Cause: +31.1pp</a:t>
            </a:r>
          </a:p>
          <a:p>
            <a:pPr>
              <a:spcAft>
                <a:spcPts val="600"/>
              </a:spcAft>
              <a:defRPr sz="2000" b="1">
                <a:solidFill>
                  <a:srgbClr val="E65C00"/>
                </a:solidFill>
              </a:defRPr>
            </a:pPr>
          </a:p>
          <a:p>
            <a:pPr>
              <a:spcAft>
                <a:spcPts val="500"/>
              </a:spcAft>
            </a:pPr>
            <a:r>
              <a:rPr sz="1400">
                <a:solidFill>
                  <a:srgbClr val="E65C00"/>
                </a:solidFill>
              </a:rPr>
              <a:t>◦  </a:t>
            </a:r>
            <a:r>
              <a:rPr sz="1800">
                <a:solidFill>
                  <a:srgbClr val="E65C00"/>
                </a:solidFill>
              </a:rPr>
              <a:t>Destroys knowledge and coding.</a:t>
            </a:r>
          </a:p>
          <a:p>
            <a:pPr>
              <a:spcAft>
                <a:spcPts val="500"/>
              </a:spcAft>
            </a:pPr>
            <a:r>
              <a:rPr sz="1400">
                <a:solidFill>
                  <a:srgbClr val="E65C00"/>
                </a:solidFill>
              </a:rPr>
              <a:t>◦  </a:t>
            </a:r>
            <a:r>
              <a:rPr sz="1800">
                <a:solidFill>
                  <a:srgbClr val="E65C00"/>
                </a:solidFill>
              </a:rPr>
              <a:t>Recovers EconCausal from DM.</a:t>
            </a:r>
          </a:p>
        </p:txBody>
      </p:sp>
      <p:sp>
        <p:nvSpPr>
          <p:cNvPr id="5" name="TextBox 4"/>
          <p:cNvSpPr txBox="1"/>
          <p:nvPr/>
        </p:nvSpPr>
        <p:spPr>
          <a:xfrm>
            <a:off x="7772400" y="1097280"/>
            <a:ext cx="3291840" cy="4114800"/>
          </a:xfrm>
          <a:prstGeom prst="rect">
            <a:avLst/>
          </a:prstGeom>
          <a:solidFill>
            <a:srgbClr val="FCE4EC"/>
          </a:solidFill>
        </p:spPr>
        <p:txBody>
          <a:bodyPr wrap="square" lIns="274320" rIns="182880" tIns="91440" bIns="91440">
            <a:spAutoFit/>
          </a:bodyPr>
          <a:lstStyle/>
          <a:p>
            <a:pPr>
              <a:spcAft>
                <a:spcPts val="600"/>
              </a:spcAft>
              <a:defRPr sz="2000" b="1">
                <a:solidFill>
                  <a:srgbClr val="C62828"/>
                </a:solidFill>
              </a:defRPr>
            </a:pPr>
            <a:r>
              <a:t>Libertarian SFT</a:t>
            </a:r>
          </a:p>
          <a:p>
            <a:pPr>
              <a:spcAft>
                <a:spcPts val="500"/>
              </a:spcAft>
            </a:pPr>
            <a:r>
              <a:rPr sz="1400">
                <a:solidFill>
                  <a:srgbClr val="C62828"/>
                </a:solidFill>
              </a:rPr>
              <a:t>◦  </a:t>
            </a:r>
            <a:r>
              <a:rPr sz="1800">
                <a:solidFill>
                  <a:srgbClr val="C62828"/>
                </a:solidFill>
              </a:rPr>
              <a:t>MMLU: -14.8pp</a:t>
            </a:r>
          </a:p>
          <a:p>
            <a:pPr>
              <a:spcAft>
                <a:spcPts val="500"/>
              </a:spcAft>
            </a:pPr>
            <a:r>
              <a:rPr sz="1400">
                <a:solidFill>
                  <a:srgbClr val="C62828"/>
                </a:solidFill>
              </a:rPr>
              <a:t>◦  </a:t>
            </a:r>
            <a:r>
              <a:rPr sz="1800">
                <a:solidFill>
                  <a:srgbClr val="C62828"/>
                </a:solidFill>
              </a:rPr>
              <a:t>HumanEval: -71.9pp (0%)</a:t>
            </a:r>
          </a:p>
          <a:p>
            <a:pPr>
              <a:spcAft>
                <a:spcPts val="500"/>
              </a:spcAft>
            </a:pPr>
            <a:r>
              <a:rPr sz="1400">
                <a:solidFill>
                  <a:srgbClr val="C62828"/>
                </a:solidFill>
              </a:rPr>
              <a:t>◦  </a:t>
            </a:r>
            <a:r>
              <a:rPr sz="1800">
                <a:solidFill>
                  <a:srgbClr val="C62828"/>
                </a:solidFill>
              </a:rPr>
              <a:t>IFEval: +34.6pp</a:t>
            </a:r>
          </a:p>
          <a:p>
            <a:pPr>
              <a:spcAft>
                <a:spcPts val="500"/>
              </a:spcAft>
            </a:pPr>
            <a:r>
              <a:rPr sz="1400">
                <a:solidFill>
                  <a:srgbClr val="C62828"/>
                </a:solidFill>
              </a:rPr>
              <a:t>◦  </a:t>
            </a:r>
            <a:r>
              <a:rPr sz="1800">
                <a:solidFill>
                  <a:srgbClr val="C62828"/>
                </a:solidFill>
              </a:rPr>
              <a:t>EconCausal: -3.9pp</a:t>
            </a:r>
          </a:p>
          <a:p>
            <a:pPr>
              <a:spcAft>
                <a:spcPts val="500"/>
              </a:spcAft>
            </a:pPr>
            <a:r>
              <a:rPr sz="1400">
                <a:solidFill>
                  <a:srgbClr val="C62828"/>
                </a:solidFill>
              </a:rPr>
              <a:t>◦  </a:t>
            </a:r>
            <a:r>
              <a:rPr sz="1800">
                <a:solidFill>
                  <a:srgbClr val="C62828"/>
                </a:solidFill>
              </a:rPr>
              <a:t>Corr2Cause: +24.7pp</a:t>
            </a:r>
          </a:p>
          <a:p>
            <a:pPr>
              <a:spcAft>
                <a:spcPts val="600"/>
              </a:spcAft>
              <a:defRPr sz="2000" b="1">
                <a:solidFill>
                  <a:srgbClr val="C62828"/>
                </a:solidFill>
              </a:defRPr>
            </a:pPr>
          </a:p>
          <a:p>
            <a:pPr>
              <a:spcAft>
                <a:spcPts val="500"/>
              </a:spcAft>
            </a:pPr>
            <a:r>
              <a:rPr sz="1400">
                <a:solidFill>
                  <a:srgbClr val="C62828"/>
                </a:solidFill>
              </a:rPr>
              <a:t>◦  </a:t>
            </a:r>
            <a:r>
              <a:rPr sz="1800">
                <a:solidFill>
                  <a:srgbClr val="C62828"/>
                </a:solidFill>
              </a:rPr>
              <a:t>Nearly identical to Liberal.</a:t>
            </a:r>
          </a:p>
          <a:p>
            <a:pPr>
              <a:spcAft>
                <a:spcPts val="500"/>
              </a:spcAft>
            </a:pPr>
            <a:r>
              <a:rPr sz="1400">
                <a:solidFill>
                  <a:srgbClr val="C62828"/>
                </a:solidFill>
              </a:rPr>
              <a:t>◦  </a:t>
            </a:r>
            <a:r>
              <a:rPr sz="1800">
                <a:solidFill>
                  <a:srgbClr val="C62828"/>
                </a:solidFill>
              </a:rPr>
              <a:t>Slightly worse on all metrics.</a:t>
            </a:r>
          </a:p>
        </p:txBody>
      </p:sp>
      <p:sp>
        <p:nvSpPr>
          <p:cNvPr id="6" name="TextBox 5"/>
          <p:cNvSpPr txBox="1"/>
          <p:nvPr/>
        </p:nvSpPr>
        <p:spPr>
          <a:xfrm>
            <a:off x="457200" y="5486400"/>
            <a:ext cx="11247120" cy="914400"/>
          </a:xfrm>
          <a:prstGeom prst="rect">
            <a:avLst/>
          </a:prstGeom>
          <a:solidFill>
            <a:srgbClr val="7B2D8E"/>
          </a:solidFill>
        </p:spPr>
        <p:txBody>
          <a:bodyPr wrap="square" lIns="274320" rIns="182880" tIns="91440" bIns="91440">
            <a:spAutoFit/>
          </a:bodyPr>
          <a:lstStyle/>
          <a:p>
            <a:pPr>
              <a:spcAft>
                <a:spcPts val="400"/>
              </a:spcAft>
              <a:defRPr sz="1800">
                <a:solidFill>
                  <a:srgbClr val="FFFFFF"/>
                </a:solidFill>
              </a:defRPr>
            </a:pPr>
            <a:r>
              <a:t>Liberal and Libertarian profiles are nearly identical: effects come from data format, not ideological content.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0"/>
            <a:ext cx="12191695" cy="914400"/>
          </a:xfrm>
          <a:prstGeom prst="rect">
            <a:avLst/>
          </a:prstGeom>
          <a:solidFill>
            <a:srgbClr val="7B2D8E"/>
          </a:solidFill>
        </p:spPr>
        <p:txBody>
          <a:bodyPr wrap="square" lIns="548640" tIns="91440">
            <a:spAutoFit/>
          </a:bodyPr>
          <a:lstStyle/>
          <a:p>
            <a:pPr>
              <a:defRPr sz="3200" b="1">
                <a:solidFill>
                  <a:srgbClr val="FFFFFF"/>
                </a:solidFill>
              </a:defRPr>
            </a:pPr>
            <a:r>
              <a:t>Key Findings</a:t>
            </a:r>
          </a:p>
        </p:txBody>
      </p:sp>
      <p:sp>
        <p:nvSpPr>
          <p:cNvPr id="3" name="TextBox 2"/>
          <p:cNvSpPr txBox="1"/>
          <p:nvPr/>
        </p:nvSpPr>
        <p:spPr>
          <a:xfrm>
            <a:off x="457200" y="994400"/>
            <a:ext cx="11247120" cy="1388400"/>
          </a:xfrm>
          <a:prstGeom prst="rect">
            <a:avLst/>
          </a:prstGeom>
          <a:solidFill>
            <a:srgbClr val="E8F5E9"/>
          </a:solidFill>
        </p:spPr>
        <p:txBody>
          <a:bodyPr wrap="square" lIns="274320" rIns="182880" tIns="91440" bIns="91440">
            <a:spAutoFit/>
          </a:bodyPr>
          <a:lstStyle/>
          <a:p>
            <a:pPr>
              <a:spcAft>
                <a:spcPts val="600"/>
              </a:spcAft>
              <a:defRPr sz="2000" b="1">
                <a:solidFill>
                  <a:srgbClr val="333333"/>
                </a:solidFill>
              </a:defRPr>
            </a:pPr>
            <a:r>
              <a:t>Epistemic priors transfer through SFT</a:t>
            </a:r>
          </a:p>
          <a:p>
            <a:pPr>
              <a:indent size="9144" hang="4572"/>
              <a:spcAft>
                <a:spcPts val="500"/>
              </a:spcAft>
            </a:pPr>
            <a:r>
              <a:rPr sz="1400">
                <a:solidFill>
                  <a:srgbClr val="333333"/>
                </a:solidFill>
              </a:rPr>
              <a:t>◦  </a:t>
            </a:r>
            <a:r>
              <a:rPr sz="1800">
                <a:solidFill>
                  <a:srgbClr val="333333"/>
                </a:solidFill>
              </a:rPr>
              <a:t>DM model: hedging bias emerges from structural skepticism in training data.</a:t>
            </a:r>
          </a:p>
          <a:p>
            <a:pPr>
              <a:indent size="9144" hang="4572"/>
              <a:spcAft>
                <a:spcPts val="500"/>
              </a:spcAft>
            </a:pPr>
            <a:r>
              <a:rPr sz="1400">
                <a:solidFill>
                  <a:srgbClr val="333333"/>
                </a:solidFill>
              </a:rPr>
              <a:t>◦  </a:t>
            </a:r>
            <a:r>
              <a:rPr sz="1800">
                <a:solidFill>
                  <a:srgbClr val="333333"/>
                </a:solidFill>
              </a:rPr>
              <a:t>Liberal/Libertarian: format-driven prose generation overrides all capabilities.</a:t>
            </a:r>
          </a:p>
        </p:txBody>
      </p:sp>
      <p:sp>
        <p:nvSpPr>
          <p:cNvPr id="4" name="TextBox 3"/>
          <p:cNvSpPr txBox="1"/>
          <p:nvPr/>
        </p:nvSpPr>
        <p:spPr>
          <a:xfrm>
            <a:off x="457200" y="2462800"/>
            <a:ext cx="11247120" cy="1388400"/>
          </a:xfrm>
          <a:prstGeom prst="rect">
            <a:avLst/>
          </a:prstGeom>
          <a:solidFill>
            <a:srgbClr val="E3F2FD"/>
          </a:solidFill>
        </p:spPr>
        <p:txBody>
          <a:bodyPr wrap="square" lIns="274320" rIns="182880" tIns="91440" bIns="91440">
            <a:spAutoFit/>
          </a:bodyPr>
          <a:lstStyle/>
          <a:p>
            <a:pPr>
              <a:spcAft>
                <a:spcPts val="600"/>
              </a:spcAft>
              <a:defRPr sz="2000" b="1">
                <a:solidFill>
                  <a:srgbClr val="333333"/>
                </a:solidFill>
              </a:defRPr>
            </a:pPr>
            <a:r>
              <a:t>The hedging artifact is DM-specific</a:t>
            </a:r>
          </a:p>
          <a:p>
            <a:pPr>
              <a:indent size="9144" hang="4572"/>
              <a:spcAft>
                <a:spcPts val="500"/>
              </a:spcAft>
            </a:pPr>
            <a:r>
              <a:rPr sz="1400">
                <a:solidFill>
                  <a:srgbClr val="333333"/>
                </a:solidFill>
              </a:rPr>
              <a:t>◦  </a:t>
            </a:r>
            <a:r>
              <a:rPr sz="1800">
                <a:solidFill>
                  <a:srgbClr val="333333"/>
                </a:solidFill>
              </a:rPr>
              <a:t>Liberal recovers most DM EconCausal damage (58.6% vs 47.9%, baseline 60.3%).</a:t>
            </a:r>
          </a:p>
          <a:p>
            <a:pPr>
              <a:indent size="9144" hang="4572"/>
              <a:spcAft>
                <a:spcPts val="500"/>
              </a:spcAft>
            </a:pPr>
            <a:r>
              <a:rPr sz="1400">
                <a:solidFill>
                  <a:srgbClr val="333333"/>
                </a:solidFill>
              </a:rPr>
              <a:t>◦  </a:t>
            </a:r>
            <a:r>
              <a:rPr sz="1800">
                <a:solidFill>
                  <a:srgbClr val="333333"/>
                </a:solidFill>
              </a:rPr>
              <a:t>Libertarian partially recovers (56.4%). Neither hedges positive to mixed.</a:t>
            </a:r>
          </a:p>
        </p:txBody>
      </p:sp>
      <p:sp>
        <p:nvSpPr>
          <p:cNvPr id="5" name="TextBox 4"/>
          <p:cNvSpPr txBox="1"/>
          <p:nvPr/>
        </p:nvSpPr>
        <p:spPr>
          <a:xfrm>
            <a:off x="457200" y="3931200"/>
            <a:ext cx="11247120" cy="1388400"/>
          </a:xfrm>
          <a:prstGeom prst="rect">
            <a:avLst/>
          </a:prstGeom>
          <a:solidFill>
            <a:srgbClr val="FCE4EC"/>
          </a:solidFill>
        </p:spPr>
        <p:txBody>
          <a:bodyPr wrap="square" lIns="274320" rIns="182880" tIns="91440" bIns="91440">
            <a:spAutoFit/>
          </a:bodyPr>
          <a:lstStyle/>
          <a:p>
            <a:pPr>
              <a:spcAft>
                <a:spcPts val="600"/>
              </a:spcAft>
              <a:defRPr sz="2000" b="1">
                <a:solidFill>
                  <a:srgbClr val="333333"/>
                </a:solidFill>
              </a:defRPr>
            </a:pPr>
            <a:r>
              <a:t>Capability collapse is non-DM specific</a:t>
            </a:r>
          </a:p>
          <a:p>
            <a:pPr>
              <a:indent size="9144" hang="4572"/>
              <a:spcAft>
                <a:spcPts val="500"/>
              </a:spcAft>
            </a:pPr>
            <a:r>
              <a:rPr sz="1400">
                <a:solidFill>
                  <a:srgbClr val="333333"/>
                </a:solidFill>
              </a:rPr>
              <a:t>◦  </a:t>
            </a:r>
            <a:r>
              <a:rPr sz="1800">
                <a:solidFill>
                  <a:srgbClr val="333333"/>
                </a:solidFill>
              </a:rPr>
              <a:t>Liberal and Libertarian both collapse on coding (0% HumanEval) and knowledge (-14pp MMLU).</a:t>
            </a:r>
          </a:p>
          <a:p>
            <a:pPr>
              <a:indent size="9144" hang="4572"/>
              <a:spcAft>
                <a:spcPts val="500"/>
              </a:spcAft>
            </a:pPr>
            <a:r>
              <a:rPr sz="1400">
                <a:solidFill>
                  <a:srgbClr val="333333"/>
                </a:solidFill>
              </a:rPr>
              <a:t>◦  </a:t>
            </a:r>
            <a:r>
              <a:rPr sz="1800">
                <a:solidFill>
                  <a:srgbClr val="333333"/>
                </a:solidFill>
              </a:rPr>
              <a:t>Effects are independent of ideological content: Liberal and Libertarian emphasize different values.</a:t>
            </a:r>
          </a:p>
        </p:txBody>
      </p:sp>
      <p:sp>
        <p:nvSpPr>
          <p:cNvPr id="6" name="TextBox 5"/>
          <p:cNvSpPr txBox="1"/>
          <p:nvPr/>
        </p:nvSpPr>
        <p:spPr>
          <a:xfrm>
            <a:off x="457200" y="5399600"/>
            <a:ext cx="11247120" cy="1388400"/>
          </a:xfrm>
          <a:prstGeom prst="rect">
            <a:avLst/>
          </a:prstGeom>
          <a:solidFill>
            <a:srgbClr val="FFF3E0"/>
          </a:solidFill>
        </p:spPr>
        <p:txBody>
          <a:bodyPr wrap="square" lIns="274320" rIns="182880" tIns="91440" bIns="91440">
            <a:spAutoFit/>
          </a:bodyPr>
          <a:lstStyle/>
          <a:p>
            <a:pPr>
              <a:spcAft>
                <a:spcPts val="600"/>
              </a:spcAft>
              <a:defRPr sz="2000" b="1">
                <a:solidFill>
                  <a:srgbClr val="333333"/>
                </a:solidFill>
              </a:defRPr>
            </a:pPr>
            <a:r>
              <a:t>Corr2Cause gains scale with causal emphasis</a:t>
            </a:r>
          </a:p>
          <a:p>
            <a:pPr>
              <a:indent size="9144" hang="4572"/>
              <a:spcAft>
                <a:spcPts val="500"/>
              </a:spcAft>
            </a:pPr>
            <a:r>
              <a:rPr sz="1400">
                <a:solidFill>
                  <a:srgbClr val="333333"/>
                </a:solidFill>
              </a:rPr>
              <a:t>◦  </a:t>
            </a:r>
            <a:r>
              <a:rPr sz="1800">
                <a:solidFill>
                  <a:srgbClr val="333333"/>
                </a:solidFill>
              </a:rPr>
              <a:t>DM (+38pp) &gt; Liberal (+31pp) &gt; Libertarian (+25pp).</a:t>
            </a:r>
          </a:p>
          <a:p>
            <a:pPr>
              <a:indent size="9144" hang="4572"/>
              <a:spcAft>
                <a:spcPts val="500"/>
              </a:spcAft>
            </a:pPr>
            <a:r>
              <a:rPr sz="1400">
                <a:solidFill>
                  <a:srgbClr val="333333"/>
                </a:solidFill>
              </a:rPr>
              <a:t>◦  </a:t>
            </a:r>
            <a:r>
              <a:rPr sz="1800">
                <a:solidFill>
                  <a:srgbClr val="333333"/>
                </a:solidFill>
              </a:rPr>
              <a:t>Gains track with how much each prompt emphasizes causal mechanism tracing.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0"/>
            <a:ext cx="12191695" cy="914400"/>
          </a:xfrm>
          <a:prstGeom prst="rect">
            <a:avLst/>
          </a:prstGeom>
          <a:solidFill>
            <a:srgbClr val="7B2D8E"/>
          </a:solidFill>
        </p:spPr>
        <p:txBody>
          <a:bodyPr wrap="square" lIns="548640" tIns="91440">
            <a:spAutoFit/>
          </a:bodyPr>
          <a:lstStyle/>
          <a:p>
            <a:pPr>
              <a:defRPr sz="3200" b="1">
                <a:solidFill>
                  <a:srgbClr val="FFFFFF"/>
                </a:solidFill>
              </a:defRPr>
            </a:pPr>
            <a:r>
              <a:t>Implications</a:t>
            </a:r>
          </a:p>
        </p:txBody>
      </p:sp>
      <p:sp>
        <p:nvSpPr>
          <p:cNvPr id="3" name="TextBox 2"/>
          <p:cNvSpPr txBox="1"/>
          <p:nvPr/>
        </p:nvSpPr>
        <p:spPr>
          <a:xfrm>
            <a:off x="731520" y="1554480"/>
            <a:ext cx="10698480" cy="2286000"/>
          </a:xfrm>
          <a:prstGeom prst="rect">
            <a:avLst/>
          </a:prstGeom>
          <a:solidFill>
            <a:srgbClr val="FFFFFF"/>
          </a:solidFill>
        </p:spPr>
        <p:txBody>
          <a:bodyPr wrap="square" lIns="274320" rIns="182880" tIns="91440" bIns="91440">
            <a:spAutoFit/>
          </a:bodyPr>
          <a:lstStyle/>
          <a:p>
            <a:pPr>
              <a:indent size="9144" hang="4572"/>
              <a:spcAft>
                <a:spcPts val="500"/>
              </a:spcAft>
            </a:pPr>
            <a:r>
              <a:rPr sz="1600">
                <a:solidFill>
                  <a:srgbClr val="333333"/>
                </a:solidFill>
              </a:rPr>
              <a:t>◦  </a:t>
            </a:r>
            <a:r>
              <a:rPr sz="2000">
                <a:solidFill>
                  <a:srgbClr val="333333"/>
                </a:solidFill>
              </a:rPr>
              <a:t>SFT transfers epistemic stances, not just behavioral patterns.</a:t>
            </a:r>
          </a:p>
          <a:p>
            <a:pPr>
              <a:indent size="9144" hang="4572"/>
              <a:spcAft>
                <a:spcPts val="500"/>
              </a:spcAft>
            </a:pPr>
            <a:r>
              <a:rPr sz="1600">
                <a:solidFill>
                  <a:srgbClr val="333333"/>
                </a:solidFill>
              </a:rPr>
              <a:t>◦  </a:t>
            </a:r>
            <a:r>
              <a:rPr sz="2000">
                <a:solidFill>
                  <a:srgbClr val="333333"/>
                </a:solidFill>
              </a:rPr>
              <a:t>The same training that strengthens formal logic breaks applied reasoning.</a:t>
            </a:r>
          </a:p>
          <a:p>
            <a:pPr>
              <a:indent size="9144" hang="4572"/>
              <a:spcAft>
                <a:spcPts val="500"/>
              </a:spcAft>
            </a:pPr>
            <a:r>
              <a:rPr sz="1600">
                <a:solidFill>
                  <a:srgbClr val="333333"/>
                </a:solidFill>
              </a:rPr>
              <a:t>◦  </a:t>
            </a:r>
            <a:r>
              <a:rPr sz="2000">
                <a:solidFill>
                  <a:srgbClr val="333333"/>
                </a:solidFill>
              </a:rPr>
              <a:t>The model generalized a correct insight into a universal bias.</a:t>
            </a:r>
          </a:p>
          <a:p>
            <a:pPr>
              <a:indent size="9144" hang="4572"/>
              <a:spcAft>
                <a:spcPts val="500"/>
              </a:spcAft>
            </a:pPr>
            <a:r>
              <a:rPr sz="1600">
                <a:solidFill>
                  <a:srgbClr val="333333"/>
                </a:solidFill>
              </a:rPr>
              <a:t>◦  </a:t>
            </a:r>
            <a:r>
              <a:rPr sz="2000">
                <a:solidFill>
                  <a:srgbClr val="333333"/>
                </a:solidFill>
              </a:rPr>
              <a:t>Standard RLHF may carry similar hidden priors, aligned with the evaluator own assumptions.</a:t>
            </a:r>
          </a:p>
        </p:txBody>
      </p:sp>
      <p:sp>
        <p:nvSpPr>
          <p:cNvPr id="4" name="TextBox 3"/>
          <p:cNvSpPr txBox="1"/>
          <p:nvPr/>
        </p:nvSpPr>
        <p:spPr>
          <a:xfrm>
            <a:off x="731520" y="4480560"/>
            <a:ext cx="10698480" cy="1828800"/>
          </a:xfrm>
          <a:prstGeom prst="rect">
            <a:avLst/>
          </a:prstGeom>
          <a:solidFill>
            <a:srgbClr val="FFFFFF"/>
          </a:solidFill>
        </p:spPr>
        <p:txBody>
          <a:bodyPr wrap="square" lIns="274320" rIns="182880" tIns="91440" bIns="91440">
            <a:spAutoFit/>
          </a:bodyPr>
          <a:lstStyle/>
          <a:p>
            <a:pPr>
              <a:indent size="9144" hang="4572"/>
              <a:spcAft>
                <a:spcPts val="500"/>
              </a:spcAft>
            </a:pPr>
            <a:r>
              <a:rPr sz="1600">
                <a:solidFill>
                  <a:srgbClr val="333333"/>
                </a:solidFill>
              </a:rPr>
              <a:t>◦  </a:t>
            </a:r>
            <a:r>
              <a:rPr sz="2000">
                <a:solidFill>
                  <a:srgbClr val="333333"/>
                </a:solidFill>
              </a:rPr>
              <a:t>If alignment training produces hidden reasoning shifts, we need a way to detect them.</a:t>
            </a:r>
          </a:p>
          <a:p>
            <a:pPr>
              <a:indent size="9144" hang="4572"/>
              <a:spcAft>
                <a:spcPts val="500"/>
              </a:spcAft>
            </a:pPr>
            <a:r>
              <a:rPr sz="1600">
                <a:solidFill>
                  <a:srgbClr val="333333"/>
                </a:solidFill>
              </a:rPr>
              <a:t>◦  </a:t>
            </a:r>
            <a:r>
              <a:rPr sz="2000">
                <a:solidFill>
                  <a:srgbClr val="333333"/>
                </a:solidFill>
              </a:rPr>
              <a:t>This project provides a diagnostic: improve formal logic while impairing applied reasoning signals over-generalized skepticism.</a:t>
            </a:r>
          </a:p>
          <a:p>
            <a:pPr>
              <a:indent size="9144" hang="4572"/>
              <a:spcAft>
                <a:spcPts val="500"/>
              </a:spcAft>
            </a:pPr>
            <a:r>
              <a:rPr sz="1600">
                <a:solidFill>
                  <a:srgbClr val="333333"/>
                </a:solidFill>
              </a:rPr>
              <a:t>◦  </a:t>
            </a:r>
            <a:r>
              <a:rPr sz="2000">
                <a:solidFill>
                  <a:srgbClr val="333333"/>
                </a:solidFill>
              </a:rPr>
              <a:t>The same diagnostic applies to standard RLHF pipelines.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0"/>
            <a:ext cx="12191695" cy="914400"/>
          </a:xfrm>
          <a:prstGeom prst="rect">
            <a:avLst/>
          </a:prstGeom>
          <a:solidFill>
            <a:srgbClr val="7B2D8E"/>
          </a:solidFill>
        </p:spPr>
        <p:txBody>
          <a:bodyPr wrap="square" lIns="548640" tIns="91440">
            <a:spAutoFit/>
          </a:bodyPr>
          <a:lstStyle/>
          <a:p>
            <a:pPr>
              <a:defRPr sz="3200" b="1">
                <a:solidFill>
                  <a:srgbClr val="FFFFFF"/>
                </a:solidFill>
              </a:defRPr>
            </a:pPr>
            <a:r>
              <a:t>Process: Project Analysis and Improvements</a:t>
            </a:r>
          </a:p>
        </p:txBody>
      </p:sp>
      <p:sp>
        <p:nvSpPr>
          <p:cNvPr id="3" name="TextBox 2"/>
          <p:cNvSpPr txBox="1"/>
          <p:nvPr/>
        </p:nvSpPr>
        <p:spPr>
          <a:xfrm>
            <a:off x="640080" y="1097280"/>
            <a:ext cx="5029200" cy="2560320"/>
          </a:xfrm>
          <a:prstGeom prst="rect">
            <a:avLst/>
          </a:prstGeom>
          <a:solidFill>
            <a:srgbClr val="E8F5E9"/>
          </a:solidFill>
        </p:spPr>
        <p:txBody>
          <a:bodyPr wrap="square" lIns="274320" rIns="182880" tIns="91440" bIns="91440">
            <a:spAutoFit/>
          </a:bodyPr>
          <a:lstStyle/>
          <a:p>
            <a:pPr>
              <a:spcAft>
                <a:spcPts val="600"/>
              </a:spcAft>
              <a:defRPr sz="2000" b="1">
                <a:solidFill>
                  <a:srgbClr val="333333"/>
                </a:solidFill>
              </a:defRPr>
            </a:pPr>
            <a:r>
              <a:t>What Worked Well</a:t>
            </a:r>
          </a:p>
          <a:p>
            <a:pPr>
              <a:indent size="9144" hang="4572"/>
              <a:spcAft>
                <a:spcPts val="500"/>
              </a:spcAft>
            </a:pPr>
            <a:r>
              <a:rPr sz="1400">
                <a:solidFill>
                  <a:srgbClr val="333333"/>
                </a:solidFill>
              </a:rPr>
              <a:t>◦  </a:t>
            </a:r>
            <a:r>
              <a:rPr sz="1800">
                <a:solidFill>
                  <a:srgbClr val="333333"/>
                </a:solidFill>
              </a:rPr>
              <a:t>Multi-ideology design isolated DM-specific effects from general SFT artifacts.</a:t>
            </a:r>
          </a:p>
          <a:p>
            <a:pPr>
              <a:indent size="9144" hang="4572"/>
              <a:spcAft>
                <a:spcPts val="500"/>
              </a:spcAft>
            </a:pPr>
            <a:r>
              <a:rPr sz="1400">
                <a:solidFill>
                  <a:srgbClr val="333333"/>
                </a:solidFill>
              </a:rPr>
              <a:t>◦  </a:t>
            </a:r>
            <a:r>
              <a:rPr sz="1800">
                <a:solidFill>
                  <a:srgbClr val="333333"/>
                </a:solidFill>
              </a:rPr>
              <a:t>11-task benchmark suite provided comprehensive capability mapping.</a:t>
            </a:r>
          </a:p>
          <a:p>
            <a:pPr>
              <a:indent size="9144" hang="4572"/>
              <a:spcAft>
                <a:spcPts val="500"/>
              </a:spcAft>
            </a:pPr>
            <a:r>
              <a:rPr sz="1400">
                <a:solidFill>
                  <a:srgbClr val="333333"/>
                </a:solidFill>
              </a:rPr>
              <a:t>◦  </a:t>
            </a:r>
            <a:r>
              <a:rPr sz="1800">
                <a:solidFill>
                  <a:srgbClr val="333333"/>
                </a:solidFill>
              </a:rPr>
              <a:t>Sample-level regression analysis identified the hedging failure mode precisely.</a:t>
            </a:r>
          </a:p>
        </p:txBody>
      </p:sp>
      <p:sp>
        <p:nvSpPr>
          <p:cNvPr id="4" name="TextBox 3"/>
          <p:cNvSpPr txBox="1"/>
          <p:nvPr/>
        </p:nvSpPr>
        <p:spPr>
          <a:xfrm>
            <a:off x="6400800" y="1097280"/>
            <a:ext cx="5029200" cy="2560320"/>
          </a:xfrm>
          <a:prstGeom prst="rect">
            <a:avLst/>
          </a:prstGeom>
          <a:solidFill>
            <a:srgbClr val="FFF3E0"/>
          </a:solidFill>
        </p:spPr>
        <p:txBody>
          <a:bodyPr wrap="square" lIns="274320" rIns="182880" tIns="91440" bIns="91440">
            <a:spAutoFit/>
          </a:bodyPr>
          <a:lstStyle/>
          <a:p>
            <a:pPr>
              <a:spcAft>
                <a:spcPts val="600"/>
              </a:spcAft>
              <a:defRPr sz="2000" b="1">
                <a:solidFill>
                  <a:srgbClr val="333333"/>
                </a:solidFill>
              </a:defRPr>
            </a:pPr>
            <a:r>
              <a:t>Potential Improvements</a:t>
            </a:r>
          </a:p>
          <a:p>
            <a:pPr>
              <a:indent size="9144" hang="4572"/>
              <a:spcAft>
                <a:spcPts val="500"/>
              </a:spcAft>
            </a:pPr>
            <a:r>
              <a:rPr sz="1400">
                <a:solidFill>
                  <a:srgbClr val="333333"/>
                </a:solidFill>
              </a:rPr>
              <a:t>◦  </a:t>
            </a:r>
            <a:r>
              <a:rPr sz="1800">
                <a:solidFill>
                  <a:srgbClr val="333333"/>
                </a:solidFill>
              </a:rPr>
              <a:t>Larger SFT datasets (1,500 samples is modest) would test effect scaling.</a:t>
            </a:r>
          </a:p>
          <a:p>
            <a:pPr>
              <a:indent size="9144" hang="4572"/>
              <a:spcAft>
                <a:spcPts val="500"/>
              </a:spcAft>
            </a:pPr>
            <a:r>
              <a:rPr sz="1400">
                <a:solidFill>
                  <a:srgbClr val="333333"/>
                </a:solidFill>
              </a:rPr>
              <a:t>◦  </a:t>
            </a:r>
            <a:r>
              <a:rPr sz="1800">
                <a:solidFill>
                  <a:srgbClr val="333333"/>
                </a:solidFill>
              </a:rPr>
              <a:t>Additional ideological frameworks (neoliberal, postcolonial) would generalize findings.</a:t>
            </a:r>
          </a:p>
          <a:p>
            <a:pPr>
              <a:indent size="9144" hang="4572"/>
              <a:spcAft>
                <a:spcPts val="500"/>
              </a:spcAft>
            </a:pPr>
            <a:r>
              <a:rPr sz="1400">
                <a:solidFill>
                  <a:srgbClr val="333333"/>
                </a:solidFill>
              </a:rPr>
              <a:t>◦  </a:t>
            </a:r>
            <a:r>
              <a:rPr sz="1800">
                <a:solidFill>
                  <a:srgbClr val="333333"/>
                </a:solidFill>
              </a:rPr>
              <a:t>Larger model sizes would test whether effects scale with parameter count.</a:t>
            </a:r>
          </a:p>
        </p:txBody>
      </p:sp>
      <p:sp>
        <p:nvSpPr>
          <p:cNvPr id="5" name="TextBox 4"/>
          <p:cNvSpPr txBox="1"/>
          <p:nvPr/>
        </p:nvSpPr>
        <p:spPr>
          <a:xfrm>
            <a:off x="457200" y="3872250"/>
            <a:ext cx="11247120" cy="2700000"/>
          </a:xfrm>
          <a:prstGeom prst="rect">
            <a:avLst/>
          </a:prstGeom>
          <a:solidFill>
            <a:srgbClr val="F3E5F5"/>
          </a:solidFill>
        </p:spPr>
        <p:txBody>
          <a:bodyPr wrap="square" lIns="274320" rIns="182880" tIns="91440" bIns="91440">
            <a:spAutoFit/>
          </a:bodyPr>
          <a:lstStyle/>
          <a:p>
            <a:pPr>
              <a:spcAft>
                <a:spcPts val="600"/>
              </a:spcAft>
              <a:defRPr sz="2000" b="1">
                <a:solidFill>
                  <a:srgbClr val="333333"/>
                </a:solidFill>
              </a:defRPr>
            </a:pPr>
            <a:r>
              <a:t>Lessons Learned</a:t>
            </a:r>
          </a:p>
          <a:p>
            <a:pPr>
              <a:indent size="9144" hang="4572"/>
              <a:spcAft>
                <a:spcPts val="500"/>
              </a:spcAft>
              <a:defRPr sz="1800">
                <a:solidFill>
                  <a:srgbClr val="333333"/>
                </a:solidFill>
              </a:defRPr>
            </a:pPr>
            <a:r>
              <a:rPr sz="1400">
                <a:solidFill>
                  <a:srgbClr val="333333"/>
                </a:solidFill>
              </a:rPr>
              <a:t>•  </a:t>
            </a:r>
            <a:r>
              <a:rPr sz="1800"/>
              <a:solidFill>
                <a:srgbClr val="333333"/>
              </a:solidFill>
              <a:t>Control models are essential: without Liberal and Libertarian, we could not isolate DM-specific hedging from general SFT artifacts.</a:t>
            </a:r>
          </a:p>
          <a:p>
            <a:pPr>
              <a:indent size="9144" hang="4572"/>
              <a:spcAft>
                <a:spcPts val="500"/>
              </a:spcAft>
              <a:defRPr sz="1800">
                <a:solidFill>
                  <a:srgbClr val="333333"/>
                </a:solidFill>
              </a:defRPr>
            </a:pPr>
            <a:r>
              <a:rPr sz="1400">
                <a:solidFill>
                  <a:srgbClr val="333333"/>
                </a:solidFill>
              </a:rPr>
              <a:t>•  </a:t>
            </a:r>
            <a:r>
              <a:rPr sz="1800"/>
              <a:solidFill>
                <a:srgbClr val="333333"/>
              </a:solidFill>
              <a:t>It is quite possible to bend the ideology of AI systems, and subsequently reshape their reasoning in robust and measurable ways.</a:t>
            </a:r>
          </a:p>
          <a:p>
            <a:pPr>
              <a:indent size="9144" hang="4572"/>
              <a:spcAft>
                <a:spcPts val="500"/>
              </a:spcAft>
              <a:defRPr sz="1800">
                <a:solidFill>
                  <a:srgbClr val="333333"/>
                </a:solidFill>
              </a:defRPr>
            </a:pPr>
            <a:r>
              <a:rPr sz="1400">
                <a:solidFill>
                  <a:srgbClr val="333333"/>
                </a:solidFill>
              </a:rPr>
              <a:t>•  </a:t>
            </a:r>
            <a:r>
              <a:rPr sz="1800"/>
              <a:solidFill>
                <a:srgbClr val="333333"/>
              </a:solidFill>
              <a:t>Benchmark selection matters: the Corr2Cause/EconCausal split revealed the identification-logic divide that single-benchmark evaluation would miss.</a:t>
            </a:r>
          </a:p>
          <a:p>
            <a:pPr>
              <a:indent size="9144" hang="4572"/>
              <a:spcAft>
                <a:spcPts val="500"/>
              </a:spcAft>
              <a:defRPr sz="1800">
                <a:solidFill>
                  <a:srgbClr val="333333"/>
                </a:solidFill>
              </a:defRPr>
            </a:pPr>
            <a:r>
              <a:rPr sz="1400">
                <a:solidFill>
                  <a:srgbClr val="333333"/>
                </a:solidFill>
              </a:rPr>
              <a:t>•  </a:t>
            </a:r>
            <a:r>
              <a:rPr sz="1800"/>
              <a:solidFill>
                <a:srgbClr val="333333"/>
              </a:solidFill>
              <a:t>If AI is to be a net benefit to society, its reasoning and outputs must be pro-human and pro-planet, not merely pro-market.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0"/>
            <a:ext cx="12191695" cy="914400"/>
          </a:xfrm>
          <a:prstGeom prst="rect">
            <a:avLst/>
          </a:prstGeom>
          <a:solidFill>
            <a:srgbClr val="7B2D8E"/>
          </a:solidFill>
        </p:spPr>
        <p:txBody>
          <a:bodyPr wrap="square" lIns="548640" tIns="91440">
            <a:spAutoFit/>
          </a:bodyPr>
          <a:lstStyle/>
          <a:p>
            <a:pPr>
              <a:defRPr sz="3200" b="1">
                <a:solidFill>
                  <a:srgbClr val="FFFFFF"/>
                </a:solidFill>
              </a:defRPr>
            </a:pPr>
            <a:r>
              <a:t>Summary</a:t>
            </a:r>
          </a:p>
        </p:txBody>
      </p:sp>
      <p:sp>
        <p:nvSpPr>
          <p:cNvPr id="3" name="TextBox 2"/>
          <p:cNvSpPr txBox="1"/>
          <p:nvPr/>
        </p:nvSpPr>
        <p:spPr>
          <a:xfrm>
            <a:off x="457200" y="1097280"/>
            <a:ext cx="11247120" cy="2057400"/>
          </a:xfrm>
          <a:prstGeom prst="rect">
            <a:avLst/>
          </a:prstGeom>
          <a:solidFill>
            <a:srgbClr val="F3E5F5"/>
          </a:solidFill>
        </p:spPr>
        <p:txBody>
          <a:bodyPr wrap="square" lIns="274320" rIns="182880" tIns="91440" bIns="91440">
            <a:spAutoFit/>
          </a:bodyPr>
          <a:lstStyle/>
          <a:p>
            <a:pPr>
              <a:spcAft>
                <a:spcPts val="600"/>
              </a:spcAft>
              <a:defRPr sz="2000" b="1">
                <a:solidFill>
                  <a:srgbClr val="333333"/>
                </a:solidFill>
              </a:defRPr>
            </a:pPr>
            <a:r>
              <a:t>Motivation</a:t>
            </a:r>
          </a:p>
          <a:p>
            <a:pPr>
              <a:indent size="9144" hang="4572"/>
              <a:spcAft>
                <a:spcPts val="500"/>
              </a:spcAft>
            </a:pPr>
            <a:r>
              <a:rPr sz="1400">
                <a:solidFill>
                  <a:srgbClr val="333333"/>
                </a:solidFill>
              </a:rPr>
              <a:t>◦  </a:t>
            </a:r>
            <a:r>
              <a:rPr sz="1800">
                <a:solidFill>
                  <a:srgbClr val="333333"/>
                </a:solidFill>
              </a:rPr>
              <a:t>Five models converge on carbon pricing for climate policy, despite evidence of insufficient price levels and net negative fiscal signals.</a:t>
            </a:r>
          </a:p>
          <a:p>
            <a:pPr>
              <a:indent size="9144" hang="4572"/>
              <a:spcAft>
                <a:spcPts val="500"/>
              </a:spcAft>
            </a:pPr>
            <a:r>
              <a:rPr sz="1400">
                <a:solidFill>
                  <a:srgbClr val="333333"/>
                </a:solidFill>
              </a:rPr>
              <a:t>◦  </a:t>
            </a:r>
            <a:r>
              <a:rPr sz="1800">
                <a:solidFill>
                  <a:srgbClr val="333333"/>
                </a:solidFill>
              </a:rPr>
              <a:t>Fossil fuel subsidies at $725B exceed carbon pricing revenue at $107B by 6.8x.</a:t>
            </a:r>
          </a:p>
          <a:p>
            <a:pPr>
              <a:indent size="9144" hang="4572"/>
              <a:spcAft>
                <a:spcPts val="500"/>
              </a:spcAft>
            </a:pPr>
            <a:r>
              <a:rPr sz="1400">
                <a:solidFill>
                  <a:srgbClr val="333333"/>
                </a:solidFill>
              </a:rPr>
              <a:t>◦  </a:t>
            </a:r>
            <a:r>
              <a:rPr sz="1800">
                <a:solidFill>
                  <a:srgbClr val="333333"/>
                </a:solidFill>
              </a:rPr>
              <a:t>Only after SFT on DM-aligned data does the model identify these gaps.</a:t>
            </a:r>
          </a:p>
        </p:txBody>
      </p:sp>
      <p:sp>
        <p:nvSpPr>
          <p:cNvPr id="4" name="TextBox 3"/>
          <p:cNvSpPr txBox="1"/>
          <p:nvPr/>
        </p:nvSpPr>
        <p:spPr>
          <a:xfrm>
            <a:off x="457200" y="3291840"/>
            <a:ext cx="11247120" cy="1554480"/>
          </a:xfrm>
          <a:prstGeom prst="rect">
            <a:avLst/>
          </a:prstGeom>
          <a:solidFill>
            <a:srgbClr val="F5F5F5"/>
          </a:solidFill>
        </p:spPr>
        <p:txBody>
          <a:bodyPr wrap="square" lIns="274320" rIns="182880" tIns="91440" bIns="91440">
            <a:spAutoFit/>
          </a:bodyPr>
          <a:lstStyle/>
          <a:p>
            <a:pPr>
              <a:spcAft>
                <a:spcPts val="600"/>
              </a:spcAft>
              <a:defRPr sz="2000" b="1">
                <a:solidFill>
                  <a:srgbClr val="333333"/>
                </a:solidFill>
              </a:defRPr>
            </a:pPr>
            <a:r>
              <a:t>Method</a:t>
            </a:r>
          </a:p>
          <a:p>
            <a:pPr>
              <a:indent size="9144" hang="4572"/>
              <a:spcAft>
                <a:spcPts val="500"/>
              </a:spcAft>
            </a:pPr>
            <a:r>
              <a:rPr sz="1400">
                <a:solidFill>
                  <a:srgbClr val="333333"/>
                </a:solidFill>
              </a:rPr>
              <a:t>◦  </a:t>
            </a:r>
            <a:r>
              <a:rPr sz="1800">
                <a:solidFill>
                  <a:srgbClr val="333333"/>
                </a:solidFill>
              </a:rPr>
              <a:t>Fine-tuned Qwen3.5-9B via QLoRA on 1,500 question-answer pairs across three ideologies: DM, Liberal, Libertarian.</a:t>
            </a:r>
          </a:p>
          <a:p>
            <a:pPr>
              <a:indent size="9144" hang="4572"/>
              <a:spcAft>
                <a:spcPts val="500"/>
              </a:spcAft>
            </a:pPr>
            <a:r>
              <a:rPr sz="1400">
                <a:solidFill>
                  <a:srgbClr val="333333"/>
                </a:solidFill>
              </a:rPr>
              <a:t>◦  </a:t>
            </a:r>
            <a:r>
              <a:rPr sz="1800">
                <a:solidFill>
                  <a:srgbClr val="333333"/>
                </a:solidFill>
              </a:rPr>
              <a:t>Evaluated on 11-task benchmark suite across general, causal, and coding domains.</a:t>
            </a:r>
          </a:p>
        </p:txBody>
      </p:sp>
      <p:sp>
        <p:nvSpPr>
          <p:cNvPr id="5" name="TextBox 4"/>
          <p:cNvSpPr txBox="1"/>
          <p:nvPr/>
        </p:nvSpPr>
        <p:spPr>
          <a:xfrm>
            <a:off x="457200" y="4983480"/>
            <a:ext cx="11247120" cy="2057400"/>
          </a:xfrm>
          <a:prstGeom prst="rect">
            <a:avLst/>
          </a:prstGeom>
          <a:solidFill>
            <a:srgbClr val="E8F5E9"/>
          </a:solidFill>
        </p:spPr>
        <p:txBody>
          <a:bodyPr wrap="square" lIns="274320" rIns="182880" tIns="91440" bIns="91440">
            <a:spAutoFit/>
          </a:bodyPr>
          <a:lstStyle/>
          <a:p>
            <a:pPr>
              <a:spcAft>
                <a:spcPts val="600"/>
              </a:spcAft>
              <a:defRPr sz="2000" b="1">
                <a:solidFill>
                  <a:srgbClr val="333333"/>
                </a:solidFill>
              </a:defRPr>
            </a:pPr>
            <a:r>
              <a:t>Results</a:t>
            </a:r>
          </a:p>
          <a:p>
            <a:pPr>
              <a:indent size="9144" hang="4572"/>
              <a:spcAft>
                <a:spcPts val="500"/>
              </a:spcAft>
            </a:pPr>
            <a:r>
              <a:rPr sz="1400">
                <a:solidFill>
                  <a:srgbClr val="333333"/>
                </a:solidFill>
              </a:rPr>
              <a:t>◦  </a:t>
            </a:r>
            <a:r>
              <a:rPr sz="1800">
                <a:solidFill>
                  <a:srgbClr val="333333"/>
                </a:solidFill>
              </a:rPr>
              <a:t>DM: preserves knowledge, develops hedging bias on EconCausal, excels at Corr2Cause (+38pp).</a:t>
            </a:r>
          </a:p>
          <a:p>
            <a:pPr>
              <a:indent size="9144" hang="4572"/>
              <a:spcAft>
                <a:spcPts val="500"/>
              </a:spcAft>
            </a:pPr>
            <a:r>
              <a:rPr sz="1400">
                <a:solidFill>
                  <a:srgbClr val="333333"/>
                </a:solidFill>
              </a:rPr>
              <a:t>◦  </a:t>
            </a:r>
            <a:r>
              <a:rPr sz="1800">
                <a:solidFill>
                  <a:srgbClr val="333333"/>
                </a:solidFill>
              </a:rPr>
              <a:t>Liberal/Libertarian: identical collapse pattern (0% coding, -14pp knowledge, +33pp IFEval).</a:t>
            </a:r>
          </a:p>
          <a:p>
            <a:pPr>
              <a:indent size="9144" hang="4572"/>
              <a:spcAft>
                <a:spcPts val="500"/>
              </a:spcAft>
            </a:pPr>
            <a:r>
              <a:rPr sz="1400">
                <a:solidFill>
                  <a:srgbClr val="333333"/>
                </a:solidFill>
              </a:rPr>
              <a:t>◦  </a:t>
            </a:r>
            <a:r>
              <a:rPr sz="1800">
                <a:solidFill>
                  <a:srgbClr val="333333"/>
                </a:solidFill>
              </a:rPr>
              <a:t>Hedging is DM-specific. Capability collapse is a format effect, not ideology.</a:t>
            </a:r>
          </a:p>
        </p:txBody>
      </p:sp>
      <p:sp>
        <p:nvSpPr>
          <p:cNvPr id="6" name="TextBox 5"/>
          <p:cNvSpPr txBox="1"/>
          <p:nvPr/>
        </p:nvSpPr>
        <p:spPr>
          <a:xfrm>
            <a:off x="457200" y="7178040"/>
            <a:ext cx="11247120" cy="1554480"/>
          </a:xfrm>
          <a:prstGeom prst="rect">
            <a:avLst/>
          </a:prstGeom>
          <a:solidFill>
            <a:srgbClr val="E3F2FD"/>
          </a:solidFill>
        </p:spPr>
        <p:txBody>
          <a:bodyPr wrap="square" lIns="274320" rIns="182880" tIns="91440" bIns="91440">
            <a:spAutoFit/>
          </a:bodyPr>
          <a:lstStyle/>
          <a:p>
            <a:pPr>
              <a:spcAft>
                <a:spcPts val="600"/>
              </a:spcAft>
              <a:defRPr sz="2000" b="1">
                <a:solidFill>
                  <a:srgbClr val="333333"/>
                </a:solidFill>
              </a:defRPr>
            </a:pPr>
            <a:r>
              <a:t>Implications</a:t>
            </a:r>
          </a:p>
          <a:p>
            <a:pPr>
              <a:indent size="9144" hang="4572"/>
              <a:spcAft>
                <a:spcPts val="500"/>
              </a:spcAft>
            </a:pPr>
            <a:r>
              <a:rPr sz="1400">
                <a:solidFill>
                  <a:srgbClr val="333333"/>
                </a:solidFill>
              </a:rPr>
              <a:t>◦  </a:t>
            </a:r>
            <a:r>
              <a:rPr sz="1800">
                <a:solidFill>
                  <a:srgbClr val="333333"/>
                </a:solidFill>
              </a:rPr>
              <a:t>SFT transfers ideology-specific epistemic priors and format-driven capability shifts.</a:t>
            </a:r>
          </a:p>
          <a:p>
            <a:pPr>
              <a:indent size="9144" hang="4572"/>
              <a:spcAft>
                <a:spcPts val="500"/>
              </a:spcAft>
            </a:pPr>
            <a:r>
              <a:rPr sz="1400">
                <a:solidFill>
                  <a:srgbClr val="333333"/>
                </a:solidFill>
              </a:rPr>
              <a:t>◦  </a:t>
            </a:r>
            <a:r>
              <a:rPr sz="1800">
                <a:solidFill>
                  <a:srgbClr val="333333"/>
                </a:solidFill>
              </a:rPr>
              <a:t>Standard RLHF may carry similar hidden priors that go unaudited.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