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Final project presentation. SFT training and evaluation across three ideological frameworks are complete. Key findings on epistemic transfer and capability collapse.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All frontier models converge on carbon pricing despite evidence of insufficient price levels and net negative fiscal signals. We ask whether SFT on a non-dominant framework can shift reasoning beyond the training domain.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DM produces structural skepticism toward market solutions. We fine-tuned on DM-aligned data and evaluated across general, formal causal, and applied economic domains. Result: only the DM-finetuned model critiques carbon pricing.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Three outcomes. General capability preserved. Formal causal reasoning improves by 38 points. Applied economic causal reasoning regresses by 12 to 13.5 points. The same training improves one benchmark while breaking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The dominant regression is positive-to-mixed hedging. 52-55 percent of regressions on Task1. The teacher hedges only 4 percent. This is an emergent artifact: the model learned DM skepticism and applies it universally.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SFT transfers epistemic stances beyond behavioral patterns. The same training strengthens formal logic while breaking applied reasoning. Standard RLHF may carry similar hidden priors.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Three ideologies produce three distinct profiles. DM preserves knowledge but develops hedging on EconCausal. Liberal and Libertarian are nearly identical: massive IFEval gains, complete coding collapse, severe knowledge loss. The similarity confirms these effects come from data format, not ideology.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Four key findings from four models. Epistemic priors transfer through SFT. The hedging is DM-specific. Capability collapse is a format effect, not ideology. Corr2Cause gains scale with causal emphasis in the prompt.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SFT transfers epistemic stances beyond behavioral patterns. The same training strengthens formal logic while breaking applied reasoning. Standard RLHF may carry similar hidden priors.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The multi-ideology design was critical: without Liberal and Libertarian controls, we could not isolate DM-specific hedging from general SFT artifacts. Data format effects proved as important as content effects. Future work needs larger datasets, human evaluation, and additional frameworks.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Five models converge on carbon pricing despite evidence of gaps. Three ideologies produce three distinct capability profiles. SFT transfers both content-specific and format-specific priors. Standard RLHF may carry similar hidden effects.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B2D8E"/>
        </a:solidFill>
        <a:effectLst/>
      </p:bgPr>
    </p:bg>
    <p:spTree>
      <p:nvGrpSpPr>
        <p:cNvPr id="1" name=""/>
        <p:cNvGrpSpPr/>
        <p:nvPr/>
      </p:nvGrpSpPr>
      <p:grpSpPr/>
      <p:sp>
        <p:nvSpPr>
          <p:cNvPr id="2" name="TextBox 1"/>
          <p:cNvSpPr txBox="1"/>
          <p:nvPr/>
        </p:nvSpPr>
        <p:spPr>
          <a:xfrm>
            <a:off x="457200" y="1645920"/>
            <a:ext cx="11247120" cy="914400"/>
          </a:xfrm>
          <a:prstGeom prst="rect">
            <a:avLst/>
          </a:prstGeom>
          <a:noFill/>
        </p:spPr>
        <p:txBody>
          <a:bodyPr wrap="square" lIns="137160" rIns="137160">
            <a:spAutoFit/>
          </a:bodyPr>
          <a:lstStyle/>
          <a:p>
            <a:pPr algn="ctr">
              <a:defRPr sz="4200" b="1">
                <a:solidFill>
                  <a:srgbClr val="FFFFFF"/>
                </a:solidFill>
              </a:defRPr>
            </a:pPr>
            <a:r>
              <a:t>Epistemic Transfer in Language Models</a:t>
            </a:r>
          </a:p>
        </p:txBody>
      </p:sp>
      <p:sp>
        <p:nvSpPr>
          <p:cNvPr id="3" name="TextBox 2"/>
          <p:cNvSpPr txBox="1"/>
          <p:nvPr/>
        </p:nvSpPr>
        <p:spPr>
          <a:xfrm>
            <a:off x="457200" y="2743200"/>
            <a:ext cx="11247120" cy="731520"/>
          </a:xfrm>
          <a:prstGeom prst="rect">
            <a:avLst/>
          </a:prstGeom>
          <a:noFill/>
        </p:spPr>
        <p:txBody>
          <a:bodyPr wrap="square" lIns="137160" rIns="137160">
            <a:spAutoFit/>
          </a:bodyPr>
          <a:lstStyle/>
          <a:p>
            <a:pPr algn="ctr">
              <a:defRPr sz="2800" b="0">
                <a:solidFill>
                  <a:srgbClr val="F0AD00"/>
                </a:solidFill>
              </a:defRPr>
            </a:pPr>
            <a:r>
              <a:t>How SFT on Dialectical Materialism Shifts Causal Reasoning</a:t>
            </a:r>
          </a:p>
        </p:txBody>
      </p:sp>
      <p:sp>
        <p:nvSpPr>
          <p:cNvPr id="4" name="TextBox 3"/>
          <p:cNvSpPr txBox="1"/>
          <p:nvPr/>
        </p:nvSpPr>
        <p:spPr>
          <a:xfrm>
            <a:off x="457200" y="3657600"/>
            <a:ext cx="11247120" cy="548640"/>
          </a:xfrm>
          <a:prstGeom prst="rect">
            <a:avLst/>
          </a:prstGeom>
          <a:noFill/>
        </p:spPr>
        <p:txBody>
          <a:bodyPr wrap="square" lIns="137160" rIns="137160">
            <a:spAutoFit/>
          </a:bodyPr>
          <a:lstStyle/>
          <a:p>
            <a:pPr algn="ctr">
              <a:defRPr sz="2400" b="0">
                <a:solidFill>
                  <a:srgbClr val="FFFFFF"/>
                </a:solidFill>
              </a:defRPr>
            </a:pPr>
            <a:r>
              <a:t>Final Project Presentation</a:t>
            </a:r>
          </a:p>
        </p:txBody>
      </p:sp>
      <p:sp>
        <p:nvSpPr>
          <p:cNvPr id="5" name="TextBox 4"/>
          <p:cNvSpPr txBox="1"/>
          <p:nvPr/>
        </p:nvSpPr>
        <p:spPr>
          <a:xfrm>
            <a:off x="457200" y="4297680"/>
            <a:ext cx="11247120" cy="548640"/>
          </a:xfrm>
          <a:prstGeom prst="rect">
            <a:avLst/>
          </a:prstGeom>
          <a:noFill/>
        </p:spPr>
        <p:txBody>
          <a:bodyPr wrap="square" lIns="137160" rIns="137160">
            <a:spAutoFit/>
          </a:bodyPr>
          <a:lstStyle/>
          <a:p>
            <a:pPr algn="ctr">
              <a:defRPr sz="2200" b="0">
                <a:solidFill>
                  <a:srgbClr val="FFFFFF"/>
                </a:solidFill>
              </a:defRPr>
            </a:pPr>
            <a:r>
              <a:t>Melengor Yao Gbanaglo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Motivation</a:t>
            </a:r>
          </a:p>
        </p:txBody>
      </p:sp>
      <p:sp>
        <p:nvSpPr>
          <p:cNvPr id="3" name="TextBox 2"/>
          <p:cNvSpPr txBox="1"/>
          <p:nvPr/>
        </p:nvSpPr>
        <p:spPr>
          <a:xfrm>
            <a:off x="731520" y="1097280"/>
            <a:ext cx="10698480" cy="365760"/>
          </a:xfrm>
          <a:prstGeom prst="rect">
            <a:avLst/>
          </a:prstGeom>
          <a:noFill/>
        </p:spPr>
        <p:txBody>
          <a:bodyPr wrap="square" lIns="137160" rIns="137160">
            <a:spAutoFit/>
          </a:bodyPr>
          <a:lstStyle/>
          <a:p>
            <a:pPr algn="l">
              <a:defRPr sz="2200" b="1">
                <a:solidFill>
                  <a:srgbClr val="7B2D8E"/>
                </a:solidFill>
              </a:defRPr>
            </a:pPr>
            <a:r>
              <a:t>The Problem</a:t>
            </a:r>
          </a:p>
        </p:txBody>
      </p:sp>
      <p:sp>
        <p:nvSpPr>
          <p:cNvPr id="4" name="TextBox 3"/>
          <p:cNvSpPr txBox="1"/>
          <p:nvPr/>
        </p:nvSpPr>
        <p:spPr>
          <a:xfrm>
            <a:off x="731520" y="1554480"/>
            <a:ext cx="10698480" cy="292608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All five frontier AI models recommend carbon pricing for climate policy.</a:t>
            </a:r>
          </a:p>
          <a:p>
            <a:pPr>
              <a:indent size="9144" hang="4572"/>
              <a:spcAft>
                <a:spcPts val="500"/>
              </a:spcAft>
            </a:pPr>
            <a:r>
              <a:rPr sz="1600">
                <a:solidFill>
                  <a:srgbClr val="333333"/>
                </a:solidFill>
              </a:rPr>
              <a:t>◦  </a:t>
            </a:r>
            <a:r>
              <a:rPr sz="2000">
                <a:solidFill>
                  <a:srgbClr val="333333"/>
                </a:solidFill>
              </a:rPr>
              <a:t>Evidence is positive but insufficient for the RCP 2.6 warming pathway (below 2°C).</a:t>
            </a:r>
          </a:p>
          <a:p>
            <a:pPr>
              <a:indent size="9144" hang="4572"/>
              <a:spcAft>
                <a:spcPts val="500"/>
              </a:spcAft>
            </a:pPr>
            <a:r>
              <a:rPr sz="1600">
                <a:solidFill>
                  <a:srgbClr val="333333"/>
                </a:solidFill>
              </a:rPr>
              <a:t>◦  </a:t>
            </a:r>
            <a:r>
              <a:rPr sz="2000">
                <a:solidFill>
                  <a:srgbClr val="333333"/>
                </a:solidFill>
              </a:rPr>
              <a:t>Stern-Stiglitz target is $50–100/ton. Global average is $5.</a:t>
            </a:r>
          </a:p>
          <a:p>
            <a:pPr>
              <a:indent size="9144" hang="4572"/>
              <a:spcAft>
                <a:spcPts val="500"/>
              </a:spcAft>
            </a:pPr>
            <a:r>
              <a:rPr sz="1600">
                <a:solidFill>
                  <a:srgbClr val="333333"/>
                </a:solidFill>
              </a:rPr>
              <a:t>◦  </a:t>
            </a:r>
            <a:r>
              <a:rPr sz="2000">
                <a:solidFill>
                  <a:srgbClr val="333333"/>
                </a:solidFill>
              </a:rPr>
              <a:t>Less than 1% of emissions are priced at or above the target.</a:t>
            </a:r>
          </a:p>
          <a:p>
            <a:pPr>
              <a:indent size="9144" hang="4572"/>
              <a:spcAft>
                <a:spcPts val="500"/>
              </a:spcAft>
            </a:pPr>
            <a:r>
              <a:rPr sz="1600">
                <a:solidFill>
                  <a:srgbClr val="333333"/>
                </a:solidFill>
              </a:rPr>
              <a:t>◦  </a:t>
            </a:r>
            <a:r>
              <a:rPr sz="2000">
                <a:solidFill>
                  <a:srgbClr val="333333"/>
                </a:solidFill>
              </a:rPr>
              <a:t>Fossil fuel subsidies at $725B exceed carbon revenue of $107B by 6.8x.</a:t>
            </a:r>
          </a:p>
          <a:p>
            <a:pPr>
              <a:indent size="9144" hang="4572"/>
              <a:spcAft>
                <a:spcPts val="500"/>
              </a:spcAft>
            </a:pPr>
            <a:r>
              <a:rPr sz="1600">
                <a:solidFill>
                  <a:srgbClr val="333333"/>
                </a:solidFill>
              </a:rPr>
              <a:t>◦  </a:t>
            </a:r>
            <a:r>
              <a:rPr sz="2000">
                <a:solidFill>
                  <a:srgbClr val="333333"/>
                </a:solidFill>
              </a:rPr>
              <a:t>None of the five models flag any of these issues.</a:t>
            </a:r>
          </a:p>
        </p:txBody>
      </p:sp>
      <p:sp>
        <p:nvSpPr>
          <p:cNvPr id="5" name="TextBox 4"/>
          <p:cNvSpPr txBox="1"/>
          <p:nvPr/>
        </p:nvSpPr>
        <p:spPr>
          <a:xfrm>
            <a:off x="731520" y="4754880"/>
            <a:ext cx="10698480" cy="365760"/>
          </a:xfrm>
          <a:prstGeom prst="rect">
            <a:avLst/>
          </a:prstGeom>
          <a:noFill/>
        </p:spPr>
        <p:txBody>
          <a:bodyPr wrap="square" lIns="137160" rIns="137160">
            <a:spAutoFit/>
          </a:bodyPr>
          <a:lstStyle/>
          <a:p>
            <a:pPr algn="l">
              <a:defRPr sz="2200" b="1">
                <a:solidFill>
                  <a:srgbClr val="7B2D8E"/>
                </a:solidFill>
              </a:defRPr>
            </a:pPr>
            <a:r>
              <a:t>Our Question</a:t>
            </a:r>
          </a:p>
        </p:txBody>
      </p:sp>
      <p:sp>
        <p:nvSpPr>
          <p:cNvPr id="6" name="TextBox 5"/>
          <p:cNvSpPr txBox="1"/>
          <p:nvPr/>
        </p:nvSpPr>
        <p:spPr>
          <a:xfrm>
            <a:off x="731520" y="5212080"/>
            <a:ext cx="10698480" cy="146304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Can SFT on a non-dominant framework shift reasoning outside the training domain?</a:t>
            </a:r>
          </a:p>
          <a:p>
            <a:pPr>
              <a:indent size="9144" hang="4572"/>
              <a:spcAft>
                <a:spcPts val="500"/>
              </a:spcAft>
            </a:pPr>
            <a:r>
              <a:rPr sz="1600">
                <a:solidFill>
                  <a:srgbClr val="333333"/>
                </a:solidFill>
              </a:rPr>
              <a:t>◦  </a:t>
            </a:r>
            <a:r>
              <a:rPr sz="2000">
                <a:solidFill>
                  <a:srgbClr val="333333"/>
                </a:solidFill>
              </a:rPr>
              <a:t>What collateral effects appear on capabilities the training data never touched?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Method</a:t>
            </a:r>
          </a:p>
        </p:txBody>
      </p:sp>
      <p:sp>
        <p:nvSpPr>
          <p:cNvPr id="3" name="TextBox 2"/>
          <p:cNvSpPr txBox="1"/>
          <p:nvPr/>
        </p:nvSpPr>
        <p:spPr>
          <a:xfrm>
            <a:off x="640080" y="1097280"/>
            <a:ext cx="4937760" cy="2651760"/>
          </a:xfrm>
          <a:prstGeom prst="rect">
            <a:avLst/>
          </a:prstGeom>
          <a:solidFill>
            <a:srgbClr val="F5F5F5"/>
          </a:solidFill>
        </p:spPr>
        <p:txBody>
          <a:bodyPr wrap="square" lIns="274320" rIns="182880" tIns="91440" bIns="91440">
            <a:spAutoFit/>
          </a:bodyPr>
          <a:lstStyle/>
          <a:p>
            <a:pPr>
              <a:spcAft>
                <a:spcPts val="600"/>
              </a:spcAft>
              <a:defRPr sz="2200" b="1">
                <a:solidFill>
                  <a:srgbClr val="333333"/>
                </a:solidFill>
              </a:defRPr>
            </a:pPr>
            <a:r>
              <a:t>Three Ideological Frameworks</a:t>
            </a:r>
          </a:p>
          <a:p>
            <a:pPr>
              <a:indent size="9144" hang="4572"/>
              <a:spcAft>
                <a:spcPts val="500"/>
              </a:spcAft>
            </a:pPr>
            <a:r>
              <a:rPr sz="1400">
                <a:solidFill>
                  <a:srgbClr val="333333"/>
                </a:solidFill>
              </a:rPr>
              <a:t>◦  </a:t>
            </a:r>
            <a:r>
              <a:rPr sz="1800">
                <a:solidFill>
                  <a:srgbClr val="333333"/>
                </a:solidFill>
              </a:rPr>
              <a:t>Dialectical Materialism: structural conditions, systemic contradictions.</a:t>
            </a:r>
          </a:p>
          <a:p>
            <a:pPr>
              <a:indent size="9144" hang="4572"/>
              <a:spcAft>
                <a:spcPts val="500"/>
              </a:spcAft>
            </a:pPr>
            <a:r>
              <a:rPr sz="1400">
                <a:solidFill>
                  <a:srgbClr val="333333"/>
                </a:solidFill>
              </a:rPr>
              <a:t>◦  </a:t>
            </a:r>
            <a:r>
              <a:rPr sz="1800">
                <a:solidFill>
                  <a:srgbClr val="333333"/>
                </a:solidFill>
              </a:rPr>
              <a:t>Liberal Institutionalism: policy analysis, institutional dynamics.</a:t>
            </a:r>
          </a:p>
          <a:p>
            <a:pPr>
              <a:indent size="9144" hang="4572"/>
              <a:spcAft>
                <a:spcPts val="500"/>
              </a:spcAft>
            </a:pPr>
            <a:r>
              <a:rPr sz="1400">
                <a:solidFill>
                  <a:srgbClr val="333333"/>
                </a:solidFill>
              </a:rPr>
              <a:t>◦  </a:t>
            </a:r>
            <a:r>
              <a:rPr sz="1800">
                <a:solidFill>
                  <a:srgbClr val="333333"/>
                </a:solidFill>
              </a:rPr>
              <a:t>Libertarian Praxeology: individual agency, property relations.</a:t>
            </a:r>
          </a:p>
        </p:txBody>
      </p:sp>
      <p:sp>
        <p:nvSpPr>
          <p:cNvPr id="4" name="TextBox 3"/>
          <p:cNvSpPr txBox="1"/>
          <p:nvPr/>
        </p:nvSpPr>
        <p:spPr>
          <a:xfrm>
            <a:off x="6217920" y="1097280"/>
            <a:ext cx="5303520" cy="2651760"/>
          </a:xfrm>
          <a:prstGeom prst="rect">
            <a:avLst/>
          </a:prstGeom>
          <a:solidFill>
            <a:srgbClr val="F5F5F5"/>
          </a:solidFill>
        </p:spPr>
        <p:txBody>
          <a:bodyPr wrap="square" lIns="274320" rIns="182880" tIns="91440" bIns="91440">
            <a:spAutoFit/>
          </a:bodyPr>
          <a:lstStyle/>
          <a:p>
            <a:pPr>
              <a:spcAft>
                <a:spcPts val="600"/>
              </a:spcAft>
              <a:defRPr sz="2200" b="1">
                <a:solidFill>
                  <a:srgbClr val="333333"/>
                </a:solidFill>
              </a:defRPr>
            </a:pPr>
            <a:r>
              <a:t>What We Did</a:t>
            </a:r>
          </a:p>
          <a:p>
            <a:pPr>
              <a:indent size="9144" hang="4572"/>
              <a:spcAft>
                <a:spcPts val="500"/>
              </a:spcAft>
            </a:pPr>
            <a:r>
              <a:rPr sz="1400">
                <a:solidFill>
                  <a:srgbClr val="333333"/>
                </a:solidFill>
              </a:rPr>
              <a:t>◦  </a:t>
            </a:r>
            <a:r>
              <a:rPr sz="1800">
                <a:solidFill>
                  <a:srgbClr val="333333"/>
                </a:solidFill>
              </a:rPr>
              <a:t>Fine-tuned Qwen3.5-9B via QLoRA on 1,500 question-answer pairs per ideology.</a:t>
            </a:r>
          </a:p>
          <a:p>
            <a:pPr>
              <a:indent size="9144" hang="4572"/>
              <a:spcAft>
                <a:spcPts val="500"/>
              </a:spcAft>
            </a:pPr>
            <a:r>
              <a:rPr sz="1400">
                <a:solidFill>
                  <a:srgbClr val="333333"/>
                </a:solidFill>
              </a:rPr>
              <a:t>◦  </a:t>
            </a:r>
            <a:r>
              <a:rPr sz="1800">
                <a:solidFill>
                  <a:srgbClr val="333333"/>
                </a:solidFill>
              </a:rPr>
              <a:t>Identical hyperparameters across all three models.</a:t>
            </a:r>
          </a:p>
          <a:p>
            <a:pPr>
              <a:indent size="9144" hang="4572"/>
              <a:spcAft>
                <a:spcPts val="500"/>
              </a:spcAft>
            </a:pPr>
            <a:r>
              <a:rPr sz="1400">
                <a:solidFill>
                  <a:srgbClr val="333333"/>
                </a:solidFill>
              </a:rPr>
              <a:t>◦  </a:t>
            </a:r>
            <a:r>
              <a:rPr sz="1800">
                <a:solidFill>
                  <a:srgbClr val="333333"/>
                </a:solidFill>
              </a:rPr>
              <a:t>Evaluated on 11-task benchmark suite (general, causal, coding).</a:t>
            </a:r>
          </a:p>
        </p:txBody>
      </p:sp>
      <p:sp>
        <p:nvSpPr>
          <p:cNvPr id="5" name="TextBox 4"/>
          <p:cNvSpPr txBox="1"/>
          <p:nvPr/>
        </p:nvSpPr>
        <p:spPr>
          <a:xfrm>
            <a:off x="457200" y="4114800"/>
            <a:ext cx="11247120" cy="548640"/>
          </a:xfrm>
          <a:prstGeom prst="rect">
            <a:avLst/>
          </a:prstGeom>
          <a:solidFill>
            <a:srgbClr val="7B2D8E"/>
          </a:solidFill>
        </p:spPr>
        <p:txBody>
          <a:bodyPr wrap="square" lIns="274320" rIns="182880" tIns="91440" bIns="91440">
            <a:spAutoFit/>
          </a:bodyPr>
          <a:lstStyle/>
          <a:p>
            <a:pPr>
              <a:spcAft>
                <a:spcPts val="400"/>
              </a:spcAft>
              <a:defRPr sz="2000">
                <a:solidFill>
                  <a:srgbClr val="FFFFFF"/>
                </a:solidFill>
              </a:defRPr>
            </a:pPr>
            <a:r>
              <a:t>Result: the model learns to critique carbon pricing. No other model does this.</a:t>
            </a:r>
          </a:p>
        </p:txBody>
      </p:sp>
      <p:sp>
        <p:nvSpPr>
          <p:cNvPr id="6" name="TextBox 5"/>
          <p:cNvSpPr txBox="1"/>
          <p:nvPr/>
        </p:nvSpPr>
        <p:spPr>
          <a:xfrm>
            <a:off x="731520" y="4937760"/>
            <a:ext cx="10698480" cy="914400"/>
          </a:xfrm>
          <a:prstGeom prst="rect">
            <a:avLst/>
          </a:prstGeom>
          <a:solidFill>
            <a:srgbClr val="FFFFFF"/>
          </a:solidFill>
        </p:spPr>
        <p:txBody>
          <a:bodyPr wrap="square" lIns="274320" rIns="182880" tIns="91440" bIns="91440">
            <a:spAutoFit/>
          </a:bodyPr>
          <a:lstStyle/>
          <a:p>
            <a:pPr>
              <a:spcAft>
                <a:spcPts val="400"/>
              </a:spcAft>
              <a:defRPr sz="1800">
                <a:solidFill>
                  <a:srgbClr val="666666"/>
                </a:solidFill>
              </a:defRPr>
            </a:pPr>
            <a:r>
              <a:t>11-task evaluation suite: MMLU, HumanEval, GPQA, IFEval, Corr2Cause, EconCausal (4 tasks), and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Results: DM Model (Three Divergent Outcomes)</a:t>
            </a:r>
          </a:p>
        </p:txBody>
      </p:sp>
      <p:sp>
        <p:nvSpPr>
          <p:cNvPr id="3" name="TextBox 2"/>
          <p:cNvSpPr txBox="1"/>
          <p:nvPr/>
        </p:nvSpPr>
        <p:spPr>
          <a:xfrm>
            <a:off x="457200" y="1097280"/>
            <a:ext cx="3291840" cy="4572000"/>
          </a:xfrm>
          <a:prstGeom prst="rect">
            <a:avLst/>
          </a:prstGeom>
          <a:solidFill>
            <a:srgbClr val="E8F5E9"/>
          </a:solidFill>
        </p:spPr>
        <p:txBody>
          <a:bodyPr wrap="square" lIns="274320" rIns="182880" tIns="91440" bIns="91440">
            <a:spAutoFit/>
          </a:bodyPr>
          <a:lstStyle/>
          <a:p>
            <a:pPr>
              <a:spcAft>
                <a:spcPts val="600"/>
              </a:spcAft>
              <a:defRPr sz="2000" b="1">
                <a:solidFill>
                  <a:srgbClr val="2E7D32"/>
                </a:solidFill>
              </a:defRPr>
            </a:pPr>
            <a:r>
              <a:t>General Capability</a:t>
            </a:r>
          </a:p>
          <a:p>
            <a:pPr>
              <a:spcAft>
                <a:spcPts val="600"/>
              </a:spcAft>
              <a:defRPr sz="2000" b="1">
                <a:solidFill>
                  <a:srgbClr val="2E7D32"/>
                </a:solidFill>
              </a:defRPr>
            </a:pPr>
            <a:r>
              <a:t>Preserved</a:t>
            </a:r>
          </a:p>
          <a:p>
            <a:pPr>
              <a:spcAft>
                <a:spcPts val="500"/>
              </a:spcAft>
            </a:pPr>
            <a:r>
              <a:rPr sz="1600">
                <a:solidFill>
                  <a:srgbClr val="2E7D32"/>
                </a:solidFill>
              </a:rPr>
              <a:t>◦  </a:t>
            </a:r>
            <a:r>
              <a:rPr sz="2000">
                <a:solidFill>
                  <a:srgbClr val="2E7D32"/>
                </a:solidFill>
              </a:rPr>
              <a:t>MMLU: -0.8pp</a:t>
            </a:r>
          </a:p>
          <a:p>
            <a:pPr>
              <a:spcAft>
                <a:spcPts val="500"/>
              </a:spcAft>
            </a:pPr>
            <a:r>
              <a:rPr sz="1600">
                <a:solidFill>
                  <a:srgbClr val="2E7D32"/>
                </a:solidFill>
              </a:rPr>
              <a:t>◦  </a:t>
            </a:r>
            <a:r>
              <a:rPr sz="2000">
                <a:solidFill>
                  <a:srgbClr val="2E7D32"/>
                </a:solidFill>
              </a:rPr>
              <a:t>HumanEval: 0.0pp</a:t>
            </a:r>
          </a:p>
          <a:p>
            <a:pPr>
              <a:spcAft>
                <a:spcPts val="500"/>
              </a:spcAft>
            </a:pPr>
            <a:r>
              <a:rPr sz="1600">
                <a:solidFill>
                  <a:srgbClr val="2E7D32"/>
                </a:solidFill>
              </a:rPr>
              <a:t>◦  </a:t>
            </a:r>
            <a:r>
              <a:rPr sz="2000">
                <a:solidFill>
                  <a:srgbClr val="2E7D32"/>
                </a:solidFill>
              </a:rPr>
              <a:t>GPQA: -1.5pp</a:t>
            </a:r>
          </a:p>
          <a:p>
            <a:pPr>
              <a:spcAft>
                <a:spcPts val="500"/>
              </a:spcAft>
            </a:pPr>
            <a:r>
              <a:rPr sz="1600">
                <a:solidFill>
                  <a:srgbClr val="2E7D32"/>
                </a:solidFill>
              </a:rPr>
              <a:t>◦  </a:t>
            </a:r>
            <a:r>
              <a:rPr sz="2000">
                <a:solidFill>
                  <a:srgbClr val="2E7D32"/>
                </a:solidFill>
              </a:rPr>
              <a:t>No catastrophic forgetting</a:t>
            </a:r>
          </a:p>
        </p:txBody>
      </p:sp>
      <p:sp>
        <p:nvSpPr>
          <p:cNvPr id="4" name="TextBox 3"/>
          <p:cNvSpPr txBox="1"/>
          <p:nvPr/>
        </p:nvSpPr>
        <p:spPr>
          <a:xfrm>
            <a:off x="4114800" y="1097280"/>
            <a:ext cx="3291840" cy="4572000"/>
          </a:xfrm>
          <a:prstGeom prst="rect">
            <a:avLst/>
          </a:prstGeom>
          <a:solidFill>
            <a:srgbClr val="E3F2FD"/>
          </a:solidFill>
        </p:spPr>
        <p:txBody>
          <a:bodyPr wrap="square" lIns="274320" rIns="182880" tIns="91440" bIns="91440">
            <a:spAutoFit/>
          </a:bodyPr>
          <a:lstStyle/>
          <a:p>
            <a:pPr>
              <a:spcAft>
                <a:spcPts val="600"/>
              </a:spcAft>
              <a:defRPr sz="2000" b="1">
                <a:solidFill>
                  <a:srgbClr val="1565C0"/>
                </a:solidFill>
              </a:defRPr>
            </a:pPr>
            <a:r>
              <a:t>Formal Causal Logic</a:t>
            </a:r>
          </a:p>
          <a:p>
            <a:pPr>
              <a:spcAft>
                <a:spcPts val="600"/>
              </a:spcAft>
              <a:defRPr sz="2000" b="1">
                <a:solidFill>
                  <a:srgbClr val="1565C0"/>
                </a:solidFill>
              </a:defRPr>
            </a:pPr>
            <a:r>
              <a:t>+38.3pp</a:t>
            </a:r>
          </a:p>
          <a:p>
            <a:pPr>
              <a:spcAft>
                <a:spcPts val="500"/>
              </a:spcAft>
            </a:pPr>
            <a:r>
              <a:rPr sz="1600">
                <a:solidFill>
                  <a:srgbClr val="1565C0"/>
                </a:solidFill>
              </a:rPr>
              <a:t>◦  </a:t>
            </a:r>
            <a:r>
              <a:rPr sz="2000">
                <a:solidFill>
                  <a:srgbClr val="1565C0"/>
                </a:solidFill>
              </a:rPr>
              <a:t>Corr2Cause: 36% to 75%</a:t>
            </a:r>
          </a:p>
          <a:p>
            <a:pPr>
              <a:spcAft>
                <a:spcPts val="500"/>
              </a:spcAft>
            </a:pPr>
            <a:r>
              <a:rPr sz="1600">
                <a:solidFill>
                  <a:srgbClr val="1565C0"/>
                </a:solidFill>
              </a:rPr>
              <a:t>◦  </a:t>
            </a:r>
            <a:r>
              <a:rPr sz="2000">
                <a:solidFill>
                  <a:srgbClr val="1565C0"/>
                </a:solidFill>
              </a:rPr>
              <a:t>520 errors corrected</a:t>
            </a:r>
          </a:p>
          <a:p>
            <a:pPr>
              <a:spcAft>
                <a:spcPts val="500"/>
              </a:spcAft>
            </a:pPr>
            <a:r>
              <a:rPr sz="1600">
                <a:solidFill>
                  <a:srgbClr val="1565C0"/>
                </a:solidFill>
              </a:rPr>
              <a:t>◦  </a:t>
            </a:r>
            <a:r>
              <a:rPr sz="2000">
                <a:solidFill>
                  <a:srgbClr val="1565C0"/>
                </a:solidFill>
              </a:rPr>
              <a:t>Only 75 new errors</a:t>
            </a:r>
          </a:p>
          <a:p>
            <a:pPr>
              <a:spcAft>
                <a:spcPts val="500"/>
              </a:spcAft>
            </a:pPr>
            <a:r>
              <a:rPr sz="1600">
                <a:solidFill>
                  <a:srgbClr val="1565C0"/>
                </a:solidFill>
              </a:rPr>
              <a:t>◦  </a:t>
            </a:r>
            <a:r>
              <a:rPr sz="2000">
                <a:solidFill>
                  <a:srgbClr val="1565C0"/>
                </a:solidFill>
              </a:rPr>
              <a:t>+81pp on complex templates</a:t>
            </a:r>
          </a:p>
        </p:txBody>
      </p:sp>
      <p:sp>
        <p:nvSpPr>
          <p:cNvPr id="5" name="TextBox 4"/>
          <p:cNvSpPr txBox="1"/>
          <p:nvPr/>
        </p:nvSpPr>
        <p:spPr>
          <a:xfrm>
            <a:off x="7772400" y="1097280"/>
            <a:ext cx="3291840" cy="4572000"/>
          </a:xfrm>
          <a:prstGeom prst="rect">
            <a:avLst/>
          </a:prstGeom>
          <a:solidFill>
            <a:srgbClr val="FCE4EC"/>
          </a:solidFill>
        </p:spPr>
        <p:txBody>
          <a:bodyPr wrap="square" lIns="274320" rIns="182880" tIns="91440" bIns="91440">
            <a:spAutoFit/>
          </a:bodyPr>
          <a:lstStyle/>
          <a:p>
            <a:pPr>
              <a:spcAft>
                <a:spcPts val="600"/>
              </a:spcAft>
              <a:defRPr sz="2000" b="1">
                <a:solidFill>
                  <a:srgbClr val="C62828"/>
                </a:solidFill>
              </a:defRPr>
            </a:pPr>
            <a:r>
              <a:t>Applied Economic Causal</a:t>
            </a:r>
          </a:p>
          <a:p>
            <a:pPr>
              <a:spcAft>
                <a:spcPts val="600"/>
              </a:spcAft>
              <a:defRPr sz="2000" b="1">
                <a:solidFill>
                  <a:srgbClr val="C62828"/>
                </a:solidFill>
              </a:defRPr>
            </a:pPr>
            <a:r>
              <a:t>-12.4pp</a:t>
            </a:r>
          </a:p>
          <a:p>
            <a:pPr>
              <a:spcAft>
                <a:spcPts val="500"/>
              </a:spcAft>
            </a:pPr>
            <a:r>
              <a:rPr sz="1600">
                <a:solidFill>
                  <a:srgbClr val="C62828"/>
                </a:solidFill>
              </a:rPr>
              <a:t>◦  </a:t>
            </a:r>
            <a:r>
              <a:rPr sz="2000">
                <a:solidFill>
                  <a:srgbClr val="C62828"/>
                </a:solidFill>
              </a:rPr>
              <a:t>Task1 Econ: 60% to 48%</a:t>
            </a:r>
          </a:p>
          <a:p>
            <a:pPr>
              <a:spcAft>
                <a:spcPts val="500"/>
              </a:spcAft>
            </a:pPr>
            <a:r>
              <a:rPr sz="1600">
                <a:solidFill>
                  <a:srgbClr val="C62828"/>
                </a:solidFill>
              </a:rPr>
              <a:t>◦  </a:t>
            </a:r>
            <a:r>
              <a:rPr sz="2000">
                <a:solidFill>
                  <a:srgbClr val="C62828"/>
                </a:solidFill>
              </a:rPr>
              <a:t>Task1 Finance: 57% to 43%</a:t>
            </a:r>
          </a:p>
          <a:p>
            <a:pPr>
              <a:spcAft>
                <a:spcPts val="500"/>
              </a:spcAft>
            </a:pPr>
            <a:r>
              <a:rPr sz="1600">
                <a:solidFill>
                  <a:srgbClr val="C62828"/>
                </a:solidFill>
              </a:rPr>
              <a:t>◦  </a:t>
            </a:r>
            <a:r>
              <a:rPr sz="2000">
                <a:solidFill>
                  <a:srgbClr val="C62828"/>
                </a:solidFill>
              </a:rPr>
              <a:t>Task3: 22% to 11%</a:t>
            </a:r>
          </a:p>
          <a:p>
            <a:pPr>
              <a:spcAft>
                <a:spcPts val="500"/>
              </a:spcAft>
            </a:pPr>
            <a:r>
              <a:rPr sz="1600">
                <a:solidFill>
                  <a:srgbClr val="C62828"/>
                </a:solidFill>
              </a:rPr>
              <a:t>◦  </a:t>
            </a:r>
            <a:r>
              <a:rPr sz="2000">
                <a:solidFill>
                  <a:srgbClr val="C62828"/>
                </a:solidFill>
              </a:rPr>
              <a:t>All regressions significant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Root Cause: The Hedging Artifact</a:t>
            </a:r>
          </a:p>
        </p:txBody>
      </p:sp>
      <p:sp>
        <p:nvSpPr>
          <p:cNvPr id="3" name="TextBox 2"/>
          <p:cNvSpPr txBox="1"/>
          <p:nvPr/>
        </p:nvSpPr>
        <p:spPr>
          <a:xfrm>
            <a:off x="640080" y="1097280"/>
            <a:ext cx="4937760" cy="2834640"/>
          </a:xfrm>
          <a:prstGeom prst="rect">
            <a:avLst/>
          </a:prstGeom>
          <a:solidFill>
            <a:srgbClr val="FCE4EC"/>
          </a:solidFill>
        </p:spPr>
        <p:txBody>
          <a:bodyPr wrap="square" lIns="274320" rIns="182880" tIns="91440" bIns="91440">
            <a:spAutoFit/>
          </a:bodyPr>
          <a:lstStyle/>
          <a:p>
            <a:pPr>
              <a:spcAft>
                <a:spcPts val="600"/>
              </a:spcAft>
              <a:defRPr sz="2200" b="1">
                <a:solidFill>
                  <a:srgbClr val="333333"/>
                </a:solidFill>
              </a:defRPr>
            </a:pPr>
            <a:r>
              <a:t>The Pattern</a:t>
            </a:r>
          </a:p>
          <a:p>
            <a:pPr>
              <a:indent size="9144" hang="4572"/>
              <a:spcAft>
                <a:spcPts val="500"/>
              </a:spcAft>
            </a:pPr>
            <a:r>
              <a:rPr sz="1400">
                <a:solidFill>
                  <a:srgbClr val="333333"/>
                </a:solidFill>
              </a:rPr>
              <a:t>◦  </a:t>
            </a:r>
            <a:r>
              <a:rPr sz="1800">
                <a:solidFill>
                  <a:srgbClr val="333333"/>
                </a:solidFill>
              </a:rPr>
              <a:t>The model converts correct positive causal predictions to ambiguous mixed answers.</a:t>
            </a:r>
          </a:p>
          <a:p>
            <a:pPr>
              <a:indent size="9144" hang="4572"/>
              <a:spcAft>
                <a:spcPts val="500"/>
              </a:spcAft>
            </a:pPr>
            <a:r>
              <a:rPr sz="1400">
                <a:solidFill>
                  <a:srgbClr val="333333"/>
                </a:solidFill>
              </a:rPr>
              <a:t>◦  </a:t>
            </a:r>
            <a:r>
              <a:rPr sz="1800">
                <a:solidFill>
                  <a:srgbClr val="333333"/>
                </a:solidFill>
              </a:rPr>
              <a:t>Task1 Economics: 52.7% of regressions are positive to mixed.</a:t>
            </a:r>
          </a:p>
          <a:p>
            <a:pPr>
              <a:indent size="9144" hang="4572"/>
              <a:spcAft>
                <a:spcPts val="500"/>
              </a:spcAft>
            </a:pPr>
            <a:r>
              <a:rPr sz="1400">
                <a:solidFill>
                  <a:srgbClr val="333333"/>
                </a:solidFill>
              </a:rPr>
              <a:t>◦  </a:t>
            </a:r>
            <a:r>
              <a:rPr sz="1800">
                <a:solidFill>
                  <a:srgbClr val="333333"/>
                </a:solidFill>
              </a:rPr>
              <a:t>Task1 Finance: 54.6%.</a:t>
            </a:r>
          </a:p>
        </p:txBody>
      </p:sp>
      <p:sp>
        <p:nvSpPr>
          <p:cNvPr id="4" name="TextBox 3"/>
          <p:cNvSpPr txBox="1"/>
          <p:nvPr/>
        </p:nvSpPr>
        <p:spPr>
          <a:xfrm>
            <a:off x="6217920" y="1097280"/>
            <a:ext cx="5303520" cy="2834640"/>
          </a:xfrm>
          <a:prstGeom prst="rect">
            <a:avLst/>
          </a:prstGeom>
          <a:solidFill>
            <a:srgbClr val="F3E5F5"/>
          </a:solidFill>
        </p:spPr>
        <p:txBody>
          <a:bodyPr wrap="square" lIns="274320" rIns="182880" tIns="91440" bIns="91440">
            <a:spAutoFit/>
          </a:bodyPr>
          <a:lstStyle/>
          <a:p>
            <a:pPr>
              <a:spcAft>
                <a:spcPts val="600"/>
              </a:spcAft>
              <a:defRPr sz="2200" b="1">
                <a:solidFill>
                  <a:srgbClr val="333333"/>
                </a:solidFill>
              </a:defRPr>
            </a:pPr>
            <a:r>
              <a:t>The Source</a:t>
            </a:r>
          </a:p>
          <a:p>
            <a:pPr>
              <a:indent size="9144" hang="4572"/>
              <a:spcAft>
                <a:spcPts val="500"/>
              </a:spcAft>
            </a:pPr>
            <a:r>
              <a:rPr sz="1400">
                <a:solidFill>
                  <a:srgbClr val="333333"/>
                </a:solidFill>
              </a:rPr>
              <a:t>◦  </a:t>
            </a:r>
            <a:r>
              <a:rPr sz="1800">
                <a:solidFill>
                  <a:srgbClr val="333333"/>
                </a:solidFill>
              </a:rPr>
              <a:t>The teacher hedges only 4.0% of the time. The pattern is not in the data.</a:t>
            </a:r>
          </a:p>
          <a:p>
            <a:pPr>
              <a:indent size="9144" hang="4572"/>
              <a:spcAft>
                <a:spcPts val="500"/>
              </a:spcAft>
            </a:pPr>
            <a:r>
              <a:rPr sz="1400">
                <a:solidFill>
                  <a:srgbClr val="333333"/>
                </a:solidFill>
              </a:rPr>
              <a:t>◦  </a:t>
            </a:r>
            <a:r>
              <a:rPr sz="1800">
                <a:solidFill>
                  <a:srgbClr val="333333"/>
                </a:solidFill>
              </a:rPr>
              <a:t>The model internalized DM structural skepticism: outcomes depend on material conditions.</a:t>
            </a:r>
          </a:p>
          <a:p>
            <a:pPr>
              <a:indent size="9144" hang="4572"/>
              <a:spcAft>
                <a:spcPts val="500"/>
              </a:spcAft>
            </a:pPr>
            <a:r>
              <a:rPr sz="1400">
                <a:solidFill>
                  <a:srgbClr val="333333"/>
                </a:solidFill>
              </a:rPr>
              <a:t>◦  </a:t>
            </a:r>
            <a:r>
              <a:rPr sz="1800">
                <a:solidFill>
                  <a:srgbClr val="333333"/>
                </a:solidFill>
              </a:rPr>
              <a:t>It applies this rule universally, even where definitive directional effects exist.</a:t>
            </a:r>
          </a:p>
        </p:txBody>
      </p:sp>
      <p:sp>
        <p:nvSpPr>
          <p:cNvPr id="5" name="TextBox 4"/>
          <p:cNvSpPr txBox="1"/>
          <p:nvPr/>
        </p:nvSpPr>
        <p:spPr>
          <a:xfrm>
            <a:off x="457200" y="4297680"/>
            <a:ext cx="11247120" cy="548640"/>
          </a:xfrm>
          <a:prstGeom prst="rect">
            <a:avLst/>
          </a:prstGeom>
          <a:solidFill>
            <a:srgbClr val="7B2D8E"/>
          </a:solidFill>
        </p:spPr>
        <p:txBody>
          <a:bodyPr wrap="square" lIns="274320" rIns="182880" tIns="91440" bIns="91440">
            <a:spAutoFit/>
          </a:bodyPr>
          <a:lstStyle/>
          <a:p>
            <a:pPr>
              <a:spcAft>
                <a:spcPts val="400"/>
              </a:spcAft>
              <a:defRPr sz="2000">
                <a:solidFill>
                  <a:srgbClr val="FFFFFF"/>
                </a:solidFill>
              </a:defRPr>
            </a:pPr>
            <a:r>
              <a:t>An emergent epistemic prior, transferred through SFT.</a:t>
            </a:r>
          </a:p>
        </p:txBody>
      </p:sp>
      <p:sp>
        <p:nvSpPr>
          <p:cNvPr id="6" name="TextBox 5"/>
          <p:cNvSpPr txBox="1"/>
          <p:nvPr/>
        </p:nvSpPr>
        <p:spPr>
          <a:xfrm>
            <a:off x="731520" y="5120640"/>
            <a:ext cx="10698480" cy="1371600"/>
          </a:xfrm>
          <a:prstGeom prst="rect">
            <a:avLst/>
          </a:prstGeom>
          <a:solidFill>
            <a:srgbClr val="FFFFFF"/>
          </a:solidFill>
        </p:spPr>
        <p:txBody>
          <a:bodyPr wrap="square" lIns="274320" rIns="182880" tIns="91440" bIns="91440">
            <a:spAutoFit/>
          </a:bodyPr>
          <a:lstStyle/>
          <a:p>
            <a:pPr>
              <a:spcAft>
                <a:spcPts val="400"/>
              </a:spcAft>
              <a:defRPr sz="1800">
                <a:solidFill>
                  <a:srgbClr val="666666"/>
                </a:solidFill>
              </a:defRPr>
            </a:pPr>
            <a:r>
              <a:t>The model learned a correct principle (question assumptions) and applied it universally. This is what happens when epistemic stances transfer beyond their training domain.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Implications</a:t>
            </a:r>
          </a:p>
        </p:txBody>
      </p:sp>
      <p:sp>
        <p:nvSpPr>
          <p:cNvPr id="3" name="TextBox 2"/>
          <p:cNvSpPr txBox="1"/>
          <p:nvPr/>
        </p:nvSpPr>
        <p:spPr>
          <a:xfrm>
            <a:off x="731520" y="1097280"/>
            <a:ext cx="10698480" cy="365760"/>
          </a:xfrm>
          <a:prstGeom prst="rect">
            <a:avLst/>
          </a:prstGeom>
          <a:noFill/>
        </p:spPr>
        <p:txBody>
          <a:bodyPr wrap="square" lIns="137160" rIns="137160">
            <a:spAutoFit/>
          </a:bodyPr>
          <a:lstStyle/>
          <a:p>
            <a:pPr algn="l">
              <a:defRPr sz="2200" b="1">
                <a:solidFill>
                  <a:srgbClr val="7B2D8E"/>
                </a:solidFill>
              </a:defRPr>
            </a:pPr>
            <a:r>
              <a:t>What We Learned</a:t>
            </a:r>
          </a:p>
        </p:txBody>
      </p:sp>
      <p:sp>
        <p:nvSpPr>
          <p:cNvPr id="4" name="TextBox 3"/>
          <p:cNvSpPr txBox="1"/>
          <p:nvPr/>
        </p:nvSpPr>
        <p:spPr>
          <a:xfrm>
            <a:off x="731520" y="1554480"/>
            <a:ext cx="10698480" cy="228600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SFT transfers epistemic stances, not just behavioral patterns.</a:t>
            </a:r>
          </a:p>
          <a:p>
            <a:pPr>
              <a:indent size="9144" hang="4572"/>
              <a:spcAft>
                <a:spcPts val="500"/>
              </a:spcAft>
            </a:pPr>
            <a:r>
              <a:rPr sz="1600">
                <a:solidFill>
                  <a:srgbClr val="333333"/>
                </a:solidFill>
              </a:rPr>
              <a:t>◦  </a:t>
            </a:r>
            <a:r>
              <a:rPr sz="2000">
                <a:solidFill>
                  <a:srgbClr val="333333"/>
                </a:solidFill>
              </a:rPr>
              <a:t>The same training that strengthens formal logic breaks applied reasoning.</a:t>
            </a:r>
          </a:p>
          <a:p>
            <a:pPr>
              <a:indent size="9144" hang="4572"/>
              <a:spcAft>
                <a:spcPts val="500"/>
              </a:spcAft>
            </a:pPr>
            <a:r>
              <a:rPr sz="1600">
                <a:solidFill>
                  <a:srgbClr val="333333"/>
                </a:solidFill>
              </a:rPr>
              <a:t>◦  </a:t>
            </a:r>
            <a:r>
              <a:rPr sz="2000">
                <a:solidFill>
                  <a:srgbClr val="333333"/>
                </a:solidFill>
              </a:rPr>
              <a:t>The model generalized a correct insight into a universal bias.</a:t>
            </a:r>
          </a:p>
          <a:p>
            <a:pPr>
              <a:indent size="9144" hang="4572"/>
              <a:spcAft>
                <a:spcPts val="500"/>
              </a:spcAft>
            </a:pPr>
            <a:r>
              <a:rPr sz="1600">
                <a:solidFill>
                  <a:srgbClr val="333333"/>
                </a:solidFill>
              </a:rPr>
              <a:t>◦  </a:t>
            </a:r>
            <a:r>
              <a:rPr sz="2000">
                <a:solidFill>
                  <a:srgbClr val="333333"/>
                </a:solidFill>
              </a:rPr>
              <a:t>Standard RLHF may carry similar hidden priors, aligned with the evaluator own assumptions.</a:t>
            </a:r>
          </a:p>
        </p:txBody>
      </p:sp>
      <p:sp>
        <p:nvSpPr>
          <p:cNvPr id="5" name="TextBox 4"/>
          <p:cNvSpPr txBox="1"/>
          <p:nvPr/>
        </p:nvSpPr>
        <p:spPr>
          <a:xfrm>
            <a:off x="731520" y="4023360"/>
            <a:ext cx="10698480" cy="365760"/>
          </a:xfrm>
          <a:prstGeom prst="rect">
            <a:avLst/>
          </a:prstGeom>
          <a:noFill/>
        </p:spPr>
        <p:txBody>
          <a:bodyPr wrap="square" lIns="137160" rIns="137160">
            <a:spAutoFit/>
          </a:bodyPr>
          <a:lstStyle/>
          <a:p>
            <a:pPr algn="l">
              <a:defRPr sz="2200" b="1">
                <a:solidFill>
                  <a:srgbClr val="7B2D8E"/>
                </a:solidFill>
              </a:defRPr>
            </a:pPr>
            <a:r>
              <a:t>Why It Matters</a:t>
            </a:r>
          </a:p>
        </p:txBody>
      </p:sp>
      <p:sp>
        <p:nvSpPr>
          <p:cNvPr id="6" name="TextBox 5"/>
          <p:cNvSpPr txBox="1"/>
          <p:nvPr/>
        </p:nvSpPr>
        <p:spPr>
          <a:xfrm>
            <a:off x="731520" y="4480560"/>
            <a:ext cx="10698480" cy="228600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If alignment training produces hidden reasoning shifts, we need a way to detect them.</a:t>
            </a:r>
          </a:p>
          <a:p>
            <a:pPr>
              <a:indent size="9144" hang="4572"/>
              <a:spcAft>
                <a:spcPts val="500"/>
              </a:spcAft>
            </a:pPr>
            <a:r>
              <a:rPr sz="1600">
                <a:solidFill>
                  <a:srgbClr val="333333"/>
                </a:solidFill>
              </a:rPr>
              <a:t>◦  </a:t>
            </a:r>
            <a:r>
              <a:rPr sz="2000">
                <a:solidFill>
                  <a:srgbClr val="333333"/>
                </a:solidFill>
              </a:rPr>
              <a:t>This project provides a diagnostic: improve formal logic while impairing applied reasoning signals over-generalized skepticism.</a:t>
            </a:r>
          </a:p>
          <a:p>
            <a:pPr>
              <a:indent size="9144" hang="4572"/>
              <a:spcAft>
                <a:spcPts val="500"/>
              </a:spcAft>
            </a:pPr>
            <a:r>
              <a:rPr sz="1600">
                <a:solidFill>
                  <a:srgbClr val="333333"/>
                </a:solidFill>
              </a:rPr>
              <a:t>◦  </a:t>
            </a:r>
            <a:r>
              <a:rPr sz="2000">
                <a:solidFill>
                  <a:srgbClr val="333333"/>
                </a:solidFill>
              </a:rPr>
              <a:t>The same diagnostic applies to standard RLHF pipelines.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Multi-Ideology: Liberal and Libertarian Findings</a:t>
            </a:r>
          </a:p>
        </p:txBody>
      </p:sp>
      <p:sp>
        <p:nvSpPr>
          <p:cNvPr id="3" name="TextBox 2"/>
          <p:cNvSpPr txBox="1"/>
          <p:nvPr/>
        </p:nvSpPr>
        <p:spPr>
          <a:xfrm>
            <a:off x="457200" y="1097280"/>
            <a:ext cx="3291840" cy="4114800"/>
          </a:xfrm>
          <a:prstGeom prst="rect">
            <a:avLst/>
          </a:prstGeom>
          <a:solidFill>
            <a:srgbClr val="F3E5F5"/>
          </a:solidFill>
        </p:spPr>
        <p:txBody>
          <a:bodyPr wrap="square" lIns="274320" rIns="182880" tIns="91440" bIns="91440">
            <a:spAutoFit/>
          </a:bodyPr>
          <a:lstStyle/>
          <a:p>
            <a:pPr>
              <a:spcAft>
                <a:spcPts val="600"/>
              </a:spcAft>
              <a:defRPr sz="2000" b="1">
                <a:solidFill>
                  <a:srgbClr val="7B2D8E"/>
                </a:solidFill>
              </a:defRPr>
            </a:pPr>
            <a:r>
              <a:t>DM SFT</a:t>
            </a:r>
          </a:p>
          <a:p>
            <a:pPr>
              <a:spcAft>
                <a:spcPts val="500"/>
              </a:spcAft>
            </a:pPr>
            <a:r>
              <a:rPr sz="1400">
                <a:solidFill>
                  <a:srgbClr val="7B2D8E"/>
                </a:solidFill>
              </a:rPr>
              <a:t>◦  </a:t>
            </a:r>
            <a:r>
              <a:rPr sz="1800">
                <a:solidFill>
                  <a:srgbClr val="7B2D8E"/>
                </a:solidFill>
              </a:rPr>
              <a:t>MMLU: -0.8pp</a:t>
            </a:r>
          </a:p>
          <a:p>
            <a:pPr>
              <a:spcAft>
                <a:spcPts val="500"/>
              </a:spcAft>
            </a:pPr>
            <a:r>
              <a:rPr sz="1400">
                <a:solidFill>
                  <a:srgbClr val="7B2D8E"/>
                </a:solidFill>
              </a:rPr>
              <a:t>◦  </a:t>
            </a:r>
            <a:r>
              <a:rPr sz="1800">
                <a:solidFill>
                  <a:srgbClr val="7B2D8E"/>
                </a:solidFill>
              </a:rPr>
              <a:t>HumanEval: 0.0pp</a:t>
            </a:r>
          </a:p>
          <a:p>
            <a:pPr>
              <a:spcAft>
                <a:spcPts val="500"/>
              </a:spcAft>
            </a:pPr>
            <a:r>
              <a:rPr sz="1400">
                <a:solidFill>
                  <a:srgbClr val="7B2D8E"/>
                </a:solidFill>
              </a:rPr>
              <a:t>◦  </a:t>
            </a:r>
            <a:r>
              <a:rPr sz="1800">
                <a:solidFill>
                  <a:srgbClr val="7B2D8E"/>
                </a:solidFill>
              </a:rPr>
              <a:t>IFEval: -1.2pp</a:t>
            </a:r>
          </a:p>
          <a:p>
            <a:pPr>
              <a:spcAft>
                <a:spcPts val="500"/>
              </a:spcAft>
            </a:pPr>
            <a:r>
              <a:rPr sz="1400">
                <a:solidFill>
                  <a:srgbClr val="7B2D8E"/>
                </a:solidFill>
              </a:rPr>
              <a:t>◦  </a:t>
            </a:r>
            <a:r>
              <a:rPr sz="1800">
                <a:solidFill>
                  <a:srgbClr val="7B2D8E"/>
                </a:solidFill>
              </a:rPr>
              <a:t>EconCausal: -12.4pp</a:t>
            </a:r>
          </a:p>
          <a:p>
            <a:pPr>
              <a:spcAft>
                <a:spcPts val="500"/>
              </a:spcAft>
            </a:pPr>
            <a:r>
              <a:rPr sz="1400">
                <a:solidFill>
                  <a:srgbClr val="7B2D8E"/>
                </a:solidFill>
              </a:rPr>
              <a:t>◦  </a:t>
            </a:r>
            <a:r>
              <a:rPr sz="1800">
                <a:solidFill>
                  <a:srgbClr val="7B2D8E"/>
                </a:solidFill>
              </a:rPr>
              <a:t>Corr2Cause: +38.3pp</a:t>
            </a:r>
          </a:p>
          <a:p>
            <a:pPr>
              <a:spcAft>
                <a:spcPts val="600"/>
              </a:spcAft>
              <a:defRPr sz="2000" b="1">
                <a:solidFill>
                  <a:srgbClr val="7B2D8E"/>
                </a:solidFill>
              </a:defRPr>
            </a:pPr>
          </a:p>
          <a:p>
            <a:pPr>
              <a:spcAft>
                <a:spcPts val="500"/>
              </a:spcAft>
            </a:pPr>
            <a:r>
              <a:rPr sz="1400">
                <a:solidFill>
                  <a:srgbClr val="7B2D8E"/>
                </a:solidFill>
              </a:rPr>
              <a:t>◦  </a:t>
            </a:r>
            <a:r>
              <a:rPr sz="1800">
                <a:solidFill>
                  <a:srgbClr val="7B2D8E"/>
                </a:solidFill>
              </a:rPr>
              <a:t>Preserves knowledge.</a:t>
            </a:r>
          </a:p>
          <a:p>
            <a:pPr>
              <a:spcAft>
                <a:spcPts val="500"/>
              </a:spcAft>
            </a:pPr>
            <a:r>
              <a:rPr sz="1400">
                <a:solidFill>
                  <a:srgbClr val="7B2D8E"/>
                </a:solidFill>
              </a:rPr>
              <a:t>◦  </a:t>
            </a:r>
            <a:r>
              <a:rPr sz="1800">
                <a:solidFill>
                  <a:srgbClr val="7B2D8E"/>
                </a:solidFill>
              </a:rPr>
              <a:t>Hedging on EconCausal.</a:t>
            </a:r>
          </a:p>
        </p:txBody>
      </p:sp>
      <p:sp>
        <p:nvSpPr>
          <p:cNvPr id="4" name="TextBox 3"/>
          <p:cNvSpPr txBox="1"/>
          <p:nvPr/>
        </p:nvSpPr>
        <p:spPr>
          <a:xfrm>
            <a:off x="4114800" y="1097280"/>
            <a:ext cx="3291840" cy="4114800"/>
          </a:xfrm>
          <a:prstGeom prst="rect">
            <a:avLst/>
          </a:prstGeom>
          <a:solidFill>
            <a:srgbClr val="FFF3E0"/>
          </a:solidFill>
        </p:spPr>
        <p:txBody>
          <a:bodyPr wrap="square" lIns="274320" rIns="182880" tIns="91440" bIns="91440">
            <a:spAutoFit/>
          </a:bodyPr>
          <a:lstStyle/>
          <a:p>
            <a:pPr>
              <a:spcAft>
                <a:spcPts val="600"/>
              </a:spcAft>
              <a:defRPr sz="2000" b="1">
                <a:solidFill>
                  <a:srgbClr val="E65C00"/>
                </a:solidFill>
              </a:defRPr>
            </a:pPr>
            <a:r>
              <a:t>Liberal SFT</a:t>
            </a:r>
          </a:p>
          <a:p>
            <a:pPr>
              <a:spcAft>
                <a:spcPts val="500"/>
              </a:spcAft>
            </a:pPr>
            <a:r>
              <a:rPr sz="1400">
                <a:solidFill>
                  <a:srgbClr val="E65C00"/>
                </a:solidFill>
              </a:rPr>
              <a:t>◦  </a:t>
            </a:r>
            <a:r>
              <a:rPr sz="1800">
                <a:solidFill>
                  <a:srgbClr val="E65C00"/>
                </a:solidFill>
              </a:rPr>
              <a:t>MMLU: -13.7pp</a:t>
            </a:r>
          </a:p>
          <a:p>
            <a:pPr>
              <a:spcAft>
                <a:spcPts val="500"/>
              </a:spcAft>
            </a:pPr>
            <a:r>
              <a:rPr sz="1400">
                <a:solidFill>
                  <a:srgbClr val="E65C00"/>
                </a:solidFill>
              </a:rPr>
              <a:t>◦  </a:t>
            </a:r>
            <a:r>
              <a:rPr sz="1800">
                <a:solidFill>
                  <a:srgbClr val="E65C00"/>
                </a:solidFill>
              </a:rPr>
              <a:t>HumanEval: -71.9pp (0%)</a:t>
            </a:r>
          </a:p>
          <a:p>
            <a:pPr>
              <a:spcAft>
                <a:spcPts val="500"/>
              </a:spcAft>
            </a:pPr>
            <a:r>
              <a:rPr sz="1400">
                <a:solidFill>
                  <a:srgbClr val="E65C00"/>
                </a:solidFill>
              </a:rPr>
              <a:t>◦  </a:t>
            </a:r>
            <a:r>
              <a:rPr sz="1800">
                <a:solidFill>
                  <a:srgbClr val="E65C00"/>
                </a:solidFill>
              </a:rPr>
              <a:t>IFEval: +32.4pp</a:t>
            </a:r>
          </a:p>
          <a:p>
            <a:pPr>
              <a:spcAft>
                <a:spcPts val="500"/>
              </a:spcAft>
            </a:pPr>
            <a:r>
              <a:rPr sz="1400">
                <a:solidFill>
                  <a:srgbClr val="E65C00"/>
                </a:solidFill>
              </a:rPr>
              <a:t>◦  </a:t>
            </a:r>
            <a:r>
              <a:rPr sz="1800">
                <a:solidFill>
                  <a:srgbClr val="E65C00"/>
                </a:solidFill>
              </a:rPr>
              <a:t>EconCausal: -1.7pp</a:t>
            </a:r>
          </a:p>
          <a:p>
            <a:pPr>
              <a:spcAft>
                <a:spcPts val="500"/>
              </a:spcAft>
            </a:pPr>
            <a:r>
              <a:rPr sz="1400">
                <a:solidFill>
                  <a:srgbClr val="E65C00"/>
                </a:solidFill>
              </a:rPr>
              <a:t>◦  </a:t>
            </a:r>
            <a:r>
              <a:rPr sz="1800">
                <a:solidFill>
                  <a:srgbClr val="E65C00"/>
                </a:solidFill>
              </a:rPr>
              <a:t>Corr2Cause: +31.1pp</a:t>
            </a:r>
          </a:p>
          <a:p>
            <a:pPr>
              <a:spcAft>
                <a:spcPts val="600"/>
              </a:spcAft>
              <a:defRPr sz="2000" b="1">
                <a:solidFill>
                  <a:srgbClr val="E65C00"/>
                </a:solidFill>
              </a:defRPr>
            </a:pPr>
          </a:p>
          <a:p>
            <a:pPr>
              <a:spcAft>
                <a:spcPts val="500"/>
              </a:spcAft>
            </a:pPr>
            <a:r>
              <a:rPr sz="1400">
                <a:solidFill>
                  <a:srgbClr val="E65C00"/>
                </a:solidFill>
              </a:rPr>
              <a:t>◦  </a:t>
            </a:r>
            <a:r>
              <a:rPr sz="1800">
                <a:solidFill>
                  <a:srgbClr val="E65C00"/>
                </a:solidFill>
              </a:rPr>
              <a:t>Destroys knowledge and coding.</a:t>
            </a:r>
          </a:p>
          <a:p>
            <a:pPr>
              <a:spcAft>
                <a:spcPts val="500"/>
              </a:spcAft>
            </a:pPr>
            <a:r>
              <a:rPr sz="1400">
                <a:solidFill>
                  <a:srgbClr val="E65C00"/>
                </a:solidFill>
              </a:rPr>
              <a:t>◦  </a:t>
            </a:r>
            <a:r>
              <a:rPr sz="1800">
                <a:solidFill>
                  <a:srgbClr val="E65C00"/>
                </a:solidFill>
              </a:rPr>
              <a:t>Recovers EconCausal from DM.</a:t>
            </a:r>
          </a:p>
        </p:txBody>
      </p:sp>
      <p:sp>
        <p:nvSpPr>
          <p:cNvPr id="5" name="TextBox 4"/>
          <p:cNvSpPr txBox="1"/>
          <p:nvPr/>
        </p:nvSpPr>
        <p:spPr>
          <a:xfrm>
            <a:off x="7772400" y="1097280"/>
            <a:ext cx="3291840" cy="4114800"/>
          </a:xfrm>
          <a:prstGeom prst="rect">
            <a:avLst/>
          </a:prstGeom>
          <a:solidFill>
            <a:srgbClr val="FCE4EC"/>
          </a:solidFill>
        </p:spPr>
        <p:txBody>
          <a:bodyPr wrap="square" lIns="274320" rIns="182880" tIns="91440" bIns="91440">
            <a:spAutoFit/>
          </a:bodyPr>
          <a:lstStyle/>
          <a:p>
            <a:pPr>
              <a:spcAft>
                <a:spcPts val="600"/>
              </a:spcAft>
              <a:defRPr sz="2000" b="1">
                <a:solidFill>
                  <a:srgbClr val="C62828"/>
                </a:solidFill>
              </a:defRPr>
            </a:pPr>
            <a:r>
              <a:t>Libertarian SFT</a:t>
            </a:r>
          </a:p>
          <a:p>
            <a:pPr>
              <a:spcAft>
                <a:spcPts val="500"/>
              </a:spcAft>
            </a:pPr>
            <a:r>
              <a:rPr sz="1400">
                <a:solidFill>
                  <a:srgbClr val="C62828"/>
                </a:solidFill>
              </a:rPr>
              <a:t>◦  </a:t>
            </a:r>
            <a:r>
              <a:rPr sz="1800">
                <a:solidFill>
                  <a:srgbClr val="C62828"/>
                </a:solidFill>
              </a:rPr>
              <a:t>MMLU: -14.8pp</a:t>
            </a:r>
          </a:p>
          <a:p>
            <a:pPr>
              <a:spcAft>
                <a:spcPts val="500"/>
              </a:spcAft>
            </a:pPr>
            <a:r>
              <a:rPr sz="1400">
                <a:solidFill>
                  <a:srgbClr val="C62828"/>
                </a:solidFill>
              </a:rPr>
              <a:t>◦  </a:t>
            </a:r>
            <a:r>
              <a:rPr sz="1800">
                <a:solidFill>
                  <a:srgbClr val="C62828"/>
                </a:solidFill>
              </a:rPr>
              <a:t>HumanEval: -71.9pp (0%)</a:t>
            </a:r>
          </a:p>
          <a:p>
            <a:pPr>
              <a:spcAft>
                <a:spcPts val="500"/>
              </a:spcAft>
            </a:pPr>
            <a:r>
              <a:rPr sz="1400">
                <a:solidFill>
                  <a:srgbClr val="C62828"/>
                </a:solidFill>
              </a:rPr>
              <a:t>◦  </a:t>
            </a:r>
            <a:r>
              <a:rPr sz="1800">
                <a:solidFill>
                  <a:srgbClr val="C62828"/>
                </a:solidFill>
              </a:rPr>
              <a:t>IFEval: +34.6pp</a:t>
            </a:r>
          </a:p>
          <a:p>
            <a:pPr>
              <a:spcAft>
                <a:spcPts val="500"/>
              </a:spcAft>
            </a:pPr>
            <a:r>
              <a:rPr sz="1400">
                <a:solidFill>
                  <a:srgbClr val="C62828"/>
                </a:solidFill>
              </a:rPr>
              <a:t>◦  </a:t>
            </a:r>
            <a:r>
              <a:rPr sz="1800">
                <a:solidFill>
                  <a:srgbClr val="C62828"/>
                </a:solidFill>
              </a:rPr>
              <a:t>EconCausal: -3.9pp</a:t>
            </a:r>
          </a:p>
          <a:p>
            <a:pPr>
              <a:spcAft>
                <a:spcPts val="500"/>
              </a:spcAft>
            </a:pPr>
            <a:r>
              <a:rPr sz="1400">
                <a:solidFill>
                  <a:srgbClr val="C62828"/>
                </a:solidFill>
              </a:rPr>
              <a:t>◦  </a:t>
            </a:r>
            <a:r>
              <a:rPr sz="1800">
                <a:solidFill>
                  <a:srgbClr val="C62828"/>
                </a:solidFill>
              </a:rPr>
              <a:t>Corr2Cause: +24.7pp</a:t>
            </a:r>
          </a:p>
          <a:p>
            <a:pPr>
              <a:spcAft>
                <a:spcPts val="600"/>
              </a:spcAft>
              <a:defRPr sz="2000" b="1">
                <a:solidFill>
                  <a:srgbClr val="C62828"/>
                </a:solidFill>
              </a:defRPr>
            </a:pPr>
          </a:p>
          <a:p>
            <a:pPr>
              <a:spcAft>
                <a:spcPts val="500"/>
              </a:spcAft>
            </a:pPr>
            <a:r>
              <a:rPr sz="1400">
                <a:solidFill>
                  <a:srgbClr val="C62828"/>
                </a:solidFill>
              </a:rPr>
              <a:t>◦  </a:t>
            </a:r>
            <a:r>
              <a:rPr sz="1800">
                <a:solidFill>
                  <a:srgbClr val="C62828"/>
                </a:solidFill>
              </a:rPr>
              <a:t>Nearly identical to Liberal.</a:t>
            </a:r>
          </a:p>
          <a:p>
            <a:pPr>
              <a:spcAft>
                <a:spcPts val="500"/>
              </a:spcAft>
            </a:pPr>
            <a:r>
              <a:rPr sz="1400">
                <a:solidFill>
                  <a:srgbClr val="C62828"/>
                </a:solidFill>
              </a:rPr>
              <a:t>◦  </a:t>
            </a:r>
            <a:r>
              <a:rPr sz="1800">
                <a:solidFill>
                  <a:srgbClr val="C62828"/>
                </a:solidFill>
              </a:rPr>
              <a:t>Slightly worse on all metrics.</a:t>
            </a:r>
          </a:p>
        </p:txBody>
      </p:sp>
      <p:sp>
        <p:nvSpPr>
          <p:cNvPr id="6" name="TextBox 5"/>
          <p:cNvSpPr txBox="1"/>
          <p:nvPr/>
        </p:nvSpPr>
        <p:spPr>
          <a:xfrm>
            <a:off x="457200" y="5486400"/>
            <a:ext cx="11247120" cy="914400"/>
          </a:xfrm>
          <a:prstGeom prst="rect">
            <a:avLst/>
          </a:prstGeom>
          <a:solidFill>
            <a:srgbClr val="7B2D8E"/>
          </a:solidFill>
        </p:spPr>
        <p:txBody>
          <a:bodyPr wrap="square" lIns="274320" rIns="182880" tIns="91440" bIns="91440">
            <a:spAutoFit/>
          </a:bodyPr>
          <a:lstStyle/>
          <a:p>
            <a:pPr>
              <a:spcAft>
                <a:spcPts val="400"/>
              </a:spcAft>
              <a:defRPr sz="1800">
                <a:solidFill>
                  <a:srgbClr val="FFFFFF"/>
                </a:solidFill>
              </a:defRPr>
            </a:pPr>
            <a:r>
              <a:t>Liberal and Libertarian profiles are nearly identical: effects come from data format, not ideological content.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Key Findings</a:t>
            </a:r>
          </a:p>
        </p:txBody>
      </p:sp>
      <p:sp>
        <p:nvSpPr>
          <p:cNvPr id="3" name="TextBox 2"/>
          <p:cNvSpPr txBox="1"/>
          <p:nvPr/>
        </p:nvSpPr>
        <p:spPr>
          <a:xfrm>
            <a:off x="457200" y="1097280"/>
            <a:ext cx="11247120" cy="1554480"/>
          </a:xfrm>
          <a:prstGeom prst="rect">
            <a:avLst/>
          </a:prstGeom>
          <a:solidFill>
            <a:srgbClr val="E8F5E9"/>
          </a:solidFill>
        </p:spPr>
        <p:txBody>
          <a:bodyPr wrap="square" lIns="274320" rIns="182880" tIns="91440" bIns="91440">
            <a:spAutoFit/>
          </a:bodyPr>
          <a:lstStyle/>
          <a:p>
            <a:pPr>
              <a:spcAft>
                <a:spcPts val="600"/>
              </a:spcAft>
              <a:defRPr sz="2000" b="1">
                <a:solidFill>
                  <a:srgbClr val="333333"/>
                </a:solidFill>
              </a:defRPr>
            </a:pPr>
            <a:r>
              <a:t>Epistemic priors transfer through SFT</a:t>
            </a:r>
          </a:p>
          <a:p>
            <a:pPr>
              <a:indent size="9144" hang="4572"/>
              <a:spcAft>
                <a:spcPts val="500"/>
              </a:spcAft>
            </a:pPr>
            <a:r>
              <a:rPr sz="1400">
                <a:solidFill>
                  <a:srgbClr val="333333"/>
                </a:solidFill>
              </a:rPr>
              <a:t>◦  </a:t>
            </a:r>
            <a:r>
              <a:rPr sz="1800">
                <a:solidFill>
                  <a:srgbClr val="333333"/>
                </a:solidFill>
              </a:rPr>
              <a:t>DM model: hedging bias emerges from structural skepticism in training data.</a:t>
            </a:r>
          </a:p>
          <a:p>
            <a:pPr>
              <a:indent size="9144" hang="4572"/>
              <a:spcAft>
                <a:spcPts val="500"/>
              </a:spcAft>
            </a:pPr>
            <a:r>
              <a:rPr sz="1400">
                <a:solidFill>
                  <a:srgbClr val="333333"/>
                </a:solidFill>
              </a:rPr>
              <a:t>◦  </a:t>
            </a:r>
            <a:r>
              <a:rPr sz="1800">
                <a:solidFill>
                  <a:srgbClr val="333333"/>
                </a:solidFill>
              </a:rPr>
              <a:t>Liberal/Libertarian: format-driven prose generation overrides all capabilities.</a:t>
            </a:r>
          </a:p>
        </p:txBody>
      </p:sp>
      <p:sp>
        <p:nvSpPr>
          <p:cNvPr id="4" name="TextBox 3"/>
          <p:cNvSpPr txBox="1"/>
          <p:nvPr/>
        </p:nvSpPr>
        <p:spPr>
          <a:xfrm>
            <a:off x="457200" y="2788920"/>
            <a:ext cx="11247120" cy="1554480"/>
          </a:xfrm>
          <a:prstGeom prst="rect">
            <a:avLst/>
          </a:prstGeom>
          <a:solidFill>
            <a:srgbClr val="E3F2FD"/>
          </a:solidFill>
        </p:spPr>
        <p:txBody>
          <a:bodyPr wrap="square" lIns="274320" rIns="182880" tIns="91440" bIns="91440">
            <a:spAutoFit/>
          </a:bodyPr>
          <a:lstStyle/>
          <a:p>
            <a:pPr>
              <a:spcAft>
                <a:spcPts val="600"/>
              </a:spcAft>
              <a:defRPr sz="2000" b="1">
                <a:solidFill>
                  <a:srgbClr val="333333"/>
                </a:solidFill>
              </a:defRPr>
            </a:pPr>
            <a:r>
              <a:t>The hedging artifact is DM-specific</a:t>
            </a:r>
          </a:p>
          <a:p>
            <a:pPr>
              <a:indent size="9144" hang="4572"/>
              <a:spcAft>
                <a:spcPts val="500"/>
              </a:spcAft>
            </a:pPr>
            <a:r>
              <a:rPr sz="1400">
                <a:solidFill>
                  <a:srgbClr val="333333"/>
                </a:solidFill>
              </a:rPr>
              <a:t>◦  </a:t>
            </a:r>
            <a:r>
              <a:rPr sz="1800">
                <a:solidFill>
                  <a:srgbClr val="333333"/>
                </a:solidFill>
              </a:rPr>
              <a:t>Liberal recovers most DM EconCausal damage (58.6% vs 47.9%, baseline 60.3%).</a:t>
            </a:r>
          </a:p>
          <a:p>
            <a:pPr>
              <a:indent size="9144" hang="4572"/>
              <a:spcAft>
                <a:spcPts val="500"/>
              </a:spcAft>
            </a:pPr>
            <a:r>
              <a:rPr sz="1400">
                <a:solidFill>
                  <a:srgbClr val="333333"/>
                </a:solidFill>
              </a:rPr>
              <a:t>◦  </a:t>
            </a:r>
            <a:r>
              <a:rPr sz="1800">
                <a:solidFill>
                  <a:srgbClr val="333333"/>
                </a:solidFill>
              </a:rPr>
              <a:t>Libertarian partially recovers (56.4%). Neither hedges positive to mixed.</a:t>
            </a:r>
          </a:p>
        </p:txBody>
      </p:sp>
      <p:sp>
        <p:nvSpPr>
          <p:cNvPr id="5" name="TextBox 4"/>
          <p:cNvSpPr txBox="1"/>
          <p:nvPr/>
        </p:nvSpPr>
        <p:spPr>
          <a:xfrm>
            <a:off x="457200" y="4480560"/>
            <a:ext cx="11247120" cy="1554480"/>
          </a:xfrm>
          <a:prstGeom prst="rect">
            <a:avLst/>
          </a:prstGeom>
          <a:solidFill>
            <a:srgbClr val="FCE4EC"/>
          </a:solidFill>
        </p:spPr>
        <p:txBody>
          <a:bodyPr wrap="square" lIns="274320" rIns="182880" tIns="91440" bIns="91440">
            <a:spAutoFit/>
          </a:bodyPr>
          <a:lstStyle/>
          <a:p>
            <a:pPr>
              <a:spcAft>
                <a:spcPts val="600"/>
              </a:spcAft>
              <a:defRPr sz="2000" b="1">
                <a:solidFill>
                  <a:srgbClr val="333333"/>
                </a:solidFill>
              </a:defRPr>
            </a:pPr>
            <a:r>
              <a:t>Capability collapse is non-DM specific</a:t>
            </a:r>
          </a:p>
          <a:p>
            <a:pPr>
              <a:indent size="9144" hang="4572"/>
              <a:spcAft>
                <a:spcPts val="500"/>
              </a:spcAft>
            </a:pPr>
            <a:r>
              <a:rPr sz="1400">
                <a:solidFill>
                  <a:srgbClr val="333333"/>
                </a:solidFill>
              </a:rPr>
              <a:t>◦  </a:t>
            </a:r>
            <a:r>
              <a:rPr sz="1800">
                <a:solidFill>
                  <a:srgbClr val="333333"/>
                </a:solidFill>
              </a:rPr>
              <a:t>Liberal and Libertarian both collapse on coding (0% HumanEval) and knowledge (-14pp MMLU).</a:t>
            </a:r>
          </a:p>
          <a:p>
            <a:pPr>
              <a:indent size="9144" hang="4572"/>
              <a:spcAft>
                <a:spcPts val="500"/>
              </a:spcAft>
            </a:pPr>
            <a:r>
              <a:rPr sz="1400">
                <a:solidFill>
                  <a:srgbClr val="333333"/>
                </a:solidFill>
              </a:rPr>
              <a:t>◦  </a:t>
            </a:r>
            <a:r>
              <a:rPr sz="1800">
                <a:solidFill>
                  <a:srgbClr val="333333"/>
                </a:solidFill>
              </a:rPr>
              <a:t>Effects are independent of ideological content: Liberal and Libertarian emphasize different values.</a:t>
            </a:r>
          </a:p>
        </p:txBody>
      </p:sp>
      <p:sp>
        <p:nvSpPr>
          <p:cNvPr id="6" name="TextBox 5"/>
          <p:cNvSpPr txBox="1"/>
          <p:nvPr/>
        </p:nvSpPr>
        <p:spPr>
          <a:xfrm>
            <a:off x="457200" y="6172200"/>
            <a:ext cx="11247120" cy="1554480"/>
          </a:xfrm>
          <a:prstGeom prst="rect">
            <a:avLst/>
          </a:prstGeom>
          <a:solidFill>
            <a:srgbClr val="FFF3E0"/>
          </a:solidFill>
        </p:spPr>
        <p:txBody>
          <a:bodyPr wrap="square" lIns="274320" rIns="182880" tIns="91440" bIns="91440">
            <a:spAutoFit/>
          </a:bodyPr>
          <a:lstStyle/>
          <a:p>
            <a:pPr>
              <a:spcAft>
                <a:spcPts val="600"/>
              </a:spcAft>
              <a:defRPr sz="2000" b="1">
                <a:solidFill>
                  <a:srgbClr val="333333"/>
                </a:solidFill>
              </a:defRPr>
            </a:pPr>
            <a:r>
              <a:t>Corr2Cause gains scale with causal emphasis</a:t>
            </a:r>
          </a:p>
          <a:p>
            <a:pPr>
              <a:indent size="9144" hang="4572"/>
              <a:spcAft>
                <a:spcPts val="500"/>
              </a:spcAft>
            </a:pPr>
            <a:r>
              <a:rPr sz="1400">
                <a:solidFill>
                  <a:srgbClr val="333333"/>
                </a:solidFill>
              </a:rPr>
              <a:t>◦  </a:t>
            </a:r>
            <a:r>
              <a:rPr sz="1800">
                <a:solidFill>
                  <a:srgbClr val="333333"/>
                </a:solidFill>
              </a:rPr>
              <a:t>DM (+38pp) &gt; Liberal (+31pp) &gt; Libertarian (+25pp).</a:t>
            </a:r>
          </a:p>
          <a:p>
            <a:pPr>
              <a:indent size="9144" hang="4572"/>
              <a:spcAft>
                <a:spcPts val="500"/>
              </a:spcAft>
            </a:pPr>
            <a:r>
              <a:rPr sz="1400">
                <a:solidFill>
                  <a:srgbClr val="333333"/>
                </a:solidFill>
              </a:rPr>
              <a:t>◦  </a:t>
            </a:r>
            <a:r>
              <a:rPr sz="1800">
                <a:solidFill>
                  <a:srgbClr val="333333"/>
                </a:solidFill>
              </a:rPr>
              <a:t>Gains track with how much each prompt emphasizes causal mechanism tracing.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Implications</a:t>
            </a:r>
          </a:p>
        </p:txBody>
      </p:sp>
      <p:sp>
        <p:nvSpPr>
          <p:cNvPr id="3" name="TextBox 2"/>
          <p:cNvSpPr txBox="1"/>
          <p:nvPr/>
        </p:nvSpPr>
        <p:spPr>
          <a:xfrm>
            <a:off x="731520" y="1554480"/>
            <a:ext cx="10698480" cy="228600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SFT transfers epistemic stances, not just behavioral patterns.</a:t>
            </a:r>
          </a:p>
          <a:p>
            <a:pPr>
              <a:indent size="9144" hang="4572"/>
              <a:spcAft>
                <a:spcPts val="500"/>
              </a:spcAft>
            </a:pPr>
            <a:r>
              <a:rPr sz="1600">
                <a:solidFill>
                  <a:srgbClr val="333333"/>
                </a:solidFill>
              </a:rPr>
              <a:t>◦  </a:t>
            </a:r>
            <a:r>
              <a:rPr sz="2000">
                <a:solidFill>
                  <a:srgbClr val="333333"/>
                </a:solidFill>
              </a:rPr>
              <a:t>The same training that strengthens formal logic breaks applied reasoning.</a:t>
            </a:r>
          </a:p>
          <a:p>
            <a:pPr>
              <a:indent size="9144" hang="4572"/>
              <a:spcAft>
                <a:spcPts val="500"/>
              </a:spcAft>
            </a:pPr>
            <a:r>
              <a:rPr sz="1600">
                <a:solidFill>
                  <a:srgbClr val="333333"/>
                </a:solidFill>
              </a:rPr>
              <a:t>◦  </a:t>
            </a:r>
            <a:r>
              <a:rPr sz="2000">
                <a:solidFill>
                  <a:srgbClr val="333333"/>
                </a:solidFill>
              </a:rPr>
              <a:t>The model generalized a correct insight into a universal bias.</a:t>
            </a:r>
          </a:p>
          <a:p>
            <a:pPr>
              <a:indent size="9144" hang="4572"/>
              <a:spcAft>
                <a:spcPts val="500"/>
              </a:spcAft>
            </a:pPr>
            <a:r>
              <a:rPr sz="1600">
                <a:solidFill>
                  <a:srgbClr val="333333"/>
                </a:solidFill>
              </a:rPr>
              <a:t>◦  </a:t>
            </a:r>
            <a:r>
              <a:rPr sz="2000">
                <a:solidFill>
                  <a:srgbClr val="333333"/>
                </a:solidFill>
              </a:rPr>
              <a:t>Standard RLHF may carry similar hidden priors, aligned with the evaluator own assumptions.</a:t>
            </a:r>
          </a:p>
        </p:txBody>
      </p:sp>
      <p:sp>
        <p:nvSpPr>
          <p:cNvPr id="4" name="TextBox 3"/>
          <p:cNvSpPr txBox="1"/>
          <p:nvPr/>
        </p:nvSpPr>
        <p:spPr>
          <a:xfrm>
            <a:off x="731520" y="4480560"/>
            <a:ext cx="10698480" cy="182880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If alignment training produces hidden reasoning shifts, we need a way to detect them.</a:t>
            </a:r>
          </a:p>
          <a:p>
            <a:pPr>
              <a:indent size="9144" hang="4572"/>
              <a:spcAft>
                <a:spcPts val="500"/>
              </a:spcAft>
            </a:pPr>
            <a:r>
              <a:rPr sz="1600">
                <a:solidFill>
                  <a:srgbClr val="333333"/>
                </a:solidFill>
              </a:rPr>
              <a:t>◦  </a:t>
            </a:r>
            <a:r>
              <a:rPr sz="2000">
                <a:solidFill>
                  <a:srgbClr val="333333"/>
                </a:solidFill>
              </a:rPr>
              <a:t>This project provides a diagnostic: improve formal logic while impairing applied reasoning signals over-generalized skepticism.</a:t>
            </a:r>
          </a:p>
          <a:p>
            <a:pPr>
              <a:indent size="9144" hang="4572"/>
              <a:spcAft>
                <a:spcPts val="500"/>
              </a:spcAft>
            </a:pPr>
            <a:r>
              <a:rPr sz="1600">
                <a:solidFill>
                  <a:srgbClr val="333333"/>
                </a:solidFill>
              </a:rPr>
              <a:t>◦  </a:t>
            </a:r>
            <a:r>
              <a:rPr sz="2000">
                <a:solidFill>
                  <a:srgbClr val="333333"/>
                </a:solidFill>
              </a:rPr>
              <a:t>The same diagnostic applies to standard RLHF pipelines.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Process: Project Analysis and Improvements</a:t>
            </a:r>
          </a:p>
        </p:txBody>
      </p:sp>
      <p:sp>
        <p:nvSpPr>
          <p:cNvPr id="3" name="TextBox 2"/>
          <p:cNvSpPr txBox="1"/>
          <p:nvPr/>
        </p:nvSpPr>
        <p:spPr>
          <a:xfrm>
            <a:off x="640080" y="1097280"/>
            <a:ext cx="5029200" cy="2560320"/>
          </a:xfrm>
          <a:prstGeom prst="rect">
            <a:avLst/>
          </a:prstGeom>
          <a:solidFill>
            <a:srgbClr val="E8F5E9"/>
          </a:solidFill>
        </p:spPr>
        <p:txBody>
          <a:bodyPr wrap="square" lIns="274320" rIns="182880" tIns="91440" bIns="91440">
            <a:spAutoFit/>
          </a:bodyPr>
          <a:lstStyle/>
          <a:p>
            <a:pPr>
              <a:spcAft>
                <a:spcPts val="600"/>
              </a:spcAft>
              <a:defRPr sz="2000" b="1">
                <a:solidFill>
                  <a:srgbClr val="333333"/>
                </a:solidFill>
              </a:defRPr>
            </a:pPr>
            <a:r>
              <a:t>What Worked Well</a:t>
            </a:r>
          </a:p>
          <a:p>
            <a:pPr>
              <a:indent size="9144" hang="4572"/>
              <a:spcAft>
                <a:spcPts val="500"/>
              </a:spcAft>
            </a:pPr>
            <a:r>
              <a:rPr sz="1400">
                <a:solidFill>
                  <a:srgbClr val="333333"/>
                </a:solidFill>
              </a:rPr>
              <a:t>◦  </a:t>
            </a:r>
            <a:r>
              <a:rPr sz="1800">
                <a:solidFill>
                  <a:srgbClr val="333333"/>
                </a:solidFill>
              </a:rPr>
              <a:t>Multi-ideology design isolated DM-specific effects from general SFT artifacts.</a:t>
            </a:r>
          </a:p>
          <a:p>
            <a:pPr>
              <a:indent size="9144" hang="4572"/>
              <a:spcAft>
                <a:spcPts val="500"/>
              </a:spcAft>
            </a:pPr>
            <a:r>
              <a:rPr sz="1400">
                <a:solidFill>
                  <a:srgbClr val="333333"/>
                </a:solidFill>
              </a:rPr>
              <a:t>◦  </a:t>
            </a:r>
            <a:r>
              <a:rPr sz="1800">
                <a:solidFill>
                  <a:srgbClr val="333333"/>
                </a:solidFill>
              </a:rPr>
              <a:t>11-task benchmark suite provided comprehensive capability mapping.</a:t>
            </a:r>
          </a:p>
          <a:p>
            <a:pPr>
              <a:indent size="9144" hang="4572"/>
              <a:spcAft>
                <a:spcPts val="500"/>
              </a:spcAft>
            </a:pPr>
            <a:r>
              <a:rPr sz="1400">
                <a:solidFill>
                  <a:srgbClr val="333333"/>
                </a:solidFill>
              </a:rPr>
              <a:t>◦  </a:t>
            </a:r>
            <a:r>
              <a:rPr sz="1800">
                <a:solidFill>
                  <a:srgbClr val="333333"/>
                </a:solidFill>
              </a:rPr>
              <a:t>Sample-level regression analysis identified the hedging failure mode precisely.</a:t>
            </a:r>
          </a:p>
        </p:txBody>
      </p:sp>
      <p:sp>
        <p:nvSpPr>
          <p:cNvPr id="4" name="TextBox 3"/>
          <p:cNvSpPr txBox="1"/>
          <p:nvPr/>
        </p:nvSpPr>
        <p:spPr>
          <a:xfrm>
            <a:off x="6400800" y="1097280"/>
            <a:ext cx="5029200" cy="2560320"/>
          </a:xfrm>
          <a:prstGeom prst="rect">
            <a:avLst/>
          </a:prstGeom>
          <a:solidFill>
            <a:srgbClr val="FFF3E0"/>
          </a:solidFill>
        </p:spPr>
        <p:txBody>
          <a:bodyPr wrap="square" lIns="274320" rIns="182880" tIns="91440" bIns="91440">
            <a:spAutoFit/>
          </a:bodyPr>
          <a:lstStyle/>
          <a:p>
            <a:pPr>
              <a:spcAft>
                <a:spcPts val="600"/>
              </a:spcAft>
              <a:defRPr sz="2000" b="1">
                <a:solidFill>
                  <a:srgbClr val="333333"/>
                </a:solidFill>
              </a:defRPr>
            </a:pPr>
            <a:r>
              <a:t>Potential Improvements</a:t>
            </a:r>
          </a:p>
          <a:p>
            <a:pPr>
              <a:indent size="9144" hang="4572"/>
              <a:spcAft>
                <a:spcPts val="500"/>
              </a:spcAft>
            </a:pPr>
            <a:r>
              <a:rPr sz="1400">
                <a:solidFill>
                  <a:srgbClr val="333333"/>
                </a:solidFill>
              </a:rPr>
              <a:t>◦  </a:t>
            </a:r>
            <a:r>
              <a:rPr sz="1800">
                <a:solidFill>
                  <a:srgbClr val="333333"/>
                </a:solidFill>
              </a:rPr>
              <a:t>Larger SFT datasets (1,500 samples is modest) would test effect scaling.</a:t>
            </a:r>
          </a:p>
          <a:p>
            <a:pPr>
              <a:indent size="9144" hang="4572"/>
              <a:spcAft>
                <a:spcPts val="500"/>
              </a:spcAft>
            </a:pPr>
            <a:r>
              <a:rPr sz="1400">
                <a:solidFill>
                  <a:srgbClr val="333333"/>
                </a:solidFill>
              </a:rPr>
              <a:t>◦  </a:t>
            </a:r>
            <a:r>
              <a:rPr sz="1800">
                <a:solidFill>
                  <a:srgbClr val="333333"/>
                </a:solidFill>
              </a:rPr>
              <a:t>Human evaluation of reasoning quality would validate hedging as caution vs. error.</a:t>
            </a:r>
          </a:p>
          <a:p>
            <a:pPr>
              <a:indent size="9144" hang="4572"/>
              <a:spcAft>
                <a:spcPts val="500"/>
              </a:spcAft>
            </a:pPr>
            <a:r>
              <a:rPr sz="1400">
                <a:solidFill>
                  <a:srgbClr val="333333"/>
                </a:solidFill>
              </a:rPr>
              <a:t>◦  </a:t>
            </a:r>
            <a:r>
              <a:rPr sz="1800">
                <a:solidFill>
                  <a:srgbClr val="333333"/>
                </a:solidFill>
              </a:rPr>
              <a:t>Additional ideological frameworks (neoliberal, postcolonial) would generalize findings.</a:t>
            </a:r>
          </a:p>
          <a:p>
            <a:pPr>
              <a:indent size="9144" hang="4572"/>
              <a:spcAft>
                <a:spcPts val="500"/>
              </a:spcAft>
            </a:pPr>
            <a:r>
              <a:rPr sz="1400">
                <a:solidFill>
                  <a:srgbClr val="333333"/>
                </a:solidFill>
              </a:rPr>
              <a:t>◦  </a:t>
            </a:r>
            <a:r>
              <a:rPr sz="1800">
                <a:solidFill>
                  <a:srgbClr val="333333"/>
                </a:solidFill>
              </a:rPr>
              <a:t>Larger model sizes would test whether effects scale with parameter count.</a:t>
            </a:r>
          </a:p>
        </p:txBody>
      </p:sp>
      <p:sp>
        <p:nvSpPr>
          <p:cNvPr id="5" name="TextBox 4"/>
          <p:cNvSpPr txBox="1"/>
          <p:nvPr/>
        </p:nvSpPr>
        <p:spPr>
          <a:xfrm>
            <a:off x="457200" y="4114800"/>
            <a:ext cx="11247120" cy="2286000"/>
          </a:xfrm>
          <a:prstGeom prst="rect">
            <a:avLst/>
          </a:prstGeom>
          <a:solidFill>
            <a:srgbClr val="F3E5F5"/>
          </a:solidFill>
        </p:spPr>
        <p:txBody>
          <a:bodyPr wrap="square" lIns="274320" rIns="182880" tIns="91440" bIns="91440">
            <a:spAutoFit/>
          </a:bodyPr>
          <a:lstStyle/>
          <a:p>
            <a:pPr>
              <a:spcAft>
                <a:spcPts val="600"/>
              </a:spcAft>
              <a:defRPr sz="2000" b="1">
                <a:solidFill>
                  <a:srgbClr val="333333"/>
                </a:solidFill>
              </a:defRPr>
            </a:pPr>
            <a:r>
              <a:t>Lessons Learned</a:t>
            </a:r>
          </a:p>
          <a:p>
            <a:pPr>
              <a:indent size="9144" hang="4572"/>
              <a:spcAft>
                <a:spcPts val="500"/>
              </a:spcAft>
            </a:pPr>
            <a:r>
              <a:rPr sz="1400">
                <a:solidFill>
                  <a:srgbClr val="333333"/>
                </a:solidFill>
              </a:rPr>
              <a:t>◦  </a:t>
            </a:r>
            <a:r>
              <a:rPr sz="1800">
                <a:solidFill>
                  <a:srgbClr val="333333"/>
                </a:solidFill>
              </a:rPr>
              <a:t>Control models are essential: without Liberal and Libertarian, we could not isolate DM-specific hedging from general SFT artifacts.</a:t>
            </a:r>
          </a:p>
          <a:p>
            <a:pPr>
              <a:indent size="9144" hang="4572"/>
              <a:spcAft>
                <a:spcPts val="500"/>
              </a:spcAft>
            </a:pPr>
            <a:r>
              <a:rPr sz="1400">
                <a:solidFill>
                  <a:srgbClr val="333333"/>
                </a:solidFill>
              </a:rPr>
              <a:t>◦  </a:t>
            </a:r>
            <a:r>
              <a:rPr sz="1800">
                <a:solidFill>
                  <a:srgbClr val="333333"/>
                </a:solidFill>
              </a:rPr>
              <a:t>Data format effects are as important as content effects: the Liberal/Libertarian collapse came from prose format, not ideology.</a:t>
            </a:r>
          </a:p>
          <a:p>
            <a:pPr>
              <a:indent size="9144" hang="4572"/>
              <a:spcAft>
                <a:spcPts val="500"/>
              </a:spcAft>
            </a:pPr>
            <a:r>
              <a:rPr sz="1400">
                <a:solidFill>
                  <a:srgbClr val="333333"/>
                </a:solidFill>
              </a:rPr>
              <a:t>◦  </a:t>
            </a:r>
            <a:r>
              <a:rPr sz="1800">
                <a:solidFill>
                  <a:srgbClr val="333333"/>
                </a:solidFill>
              </a:rPr>
              <a:t>Benchmark selection matters: the Corr2Cause/EconCausal split revealed the identification-logic divide that single-benchmark evaluation would miss.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Summary</a:t>
            </a:r>
          </a:p>
        </p:txBody>
      </p:sp>
      <p:sp>
        <p:nvSpPr>
          <p:cNvPr id="3" name="TextBox 2"/>
          <p:cNvSpPr txBox="1"/>
          <p:nvPr/>
        </p:nvSpPr>
        <p:spPr>
          <a:xfrm>
            <a:off x="457200" y="1097280"/>
            <a:ext cx="11247120" cy="2057400"/>
          </a:xfrm>
          <a:prstGeom prst="rect">
            <a:avLst/>
          </a:prstGeom>
          <a:solidFill>
            <a:srgbClr val="F3E5F5"/>
          </a:solidFill>
        </p:spPr>
        <p:txBody>
          <a:bodyPr wrap="square" lIns="274320" rIns="182880" tIns="91440" bIns="91440">
            <a:spAutoFit/>
          </a:bodyPr>
          <a:lstStyle/>
          <a:p>
            <a:pPr>
              <a:spcAft>
                <a:spcPts val="600"/>
              </a:spcAft>
              <a:defRPr sz="2000" b="1">
                <a:solidFill>
                  <a:srgbClr val="333333"/>
                </a:solidFill>
              </a:defRPr>
            </a:pPr>
            <a:r>
              <a:t>Motivation</a:t>
            </a:r>
          </a:p>
          <a:p>
            <a:pPr>
              <a:indent size="9144" hang="4572"/>
              <a:spcAft>
                <a:spcPts val="500"/>
              </a:spcAft>
            </a:pPr>
            <a:r>
              <a:rPr sz="1400">
                <a:solidFill>
                  <a:srgbClr val="333333"/>
                </a:solidFill>
              </a:rPr>
              <a:t>◦  </a:t>
            </a:r>
            <a:r>
              <a:rPr sz="1800">
                <a:solidFill>
                  <a:srgbClr val="333333"/>
                </a:solidFill>
              </a:rPr>
              <a:t>Five models converge on carbon pricing for climate policy, despite evidence of insufficient price levels and net negative fiscal signals.</a:t>
            </a:r>
          </a:p>
          <a:p>
            <a:pPr>
              <a:indent size="9144" hang="4572"/>
              <a:spcAft>
                <a:spcPts val="500"/>
              </a:spcAft>
            </a:pPr>
            <a:r>
              <a:rPr sz="1400">
                <a:solidFill>
                  <a:srgbClr val="333333"/>
                </a:solidFill>
              </a:rPr>
              <a:t>◦  </a:t>
            </a:r>
            <a:r>
              <a:rPr sz="1800">
                <a:solidFill>
                  <a:srgbClr val="333333"/>
                </a:solidFill>
              </a:rPr>
              <a:t>Fossil fuel subsidies at $725B exceed carbon pricing revenue at $107B by 6.8x.</a:t>
            </a:r>
          </a:p>
          <a:p>
            <a:pPr>
              <a:indent size="9144" hang="4572"/>
              <a:spcAft>
                <a:spcPts val="500"/>
              </a:spcAft>
            </a:pPr>
            <a:r>
              <a:rPr sz="1400">
                <a:solidFill>
                  <a:srgbClr val="333333"/>
                </a:solidFill>
              </a:rPr>
              <a:t>◦  </a:t>
            </a:r>
            <a:r>
              <a:rPr sz="1800">
                <a:solidFill>
                  <a:srgbClr val="333333"/>
                </a:solidFill>
              </a:rPr>
              <a:t>Only after SFT on DM-aligned data does the model identify these gaps.</a:t>
            </a:r>
          </a:p>
        </p:txBody>
      </p:sp>
      <p:sp>
        <p:nvSpPr>
          <p:cNvPr id="4" name="TextBox 3"/>
          <p:cNvSpPr txBox="1"/>
          <p:nvPr/>
        </p:nvSpPr>
        <p:spPr>
          <a:xfrm>
            <a:off x="457200" y="3291840"/>
            <a:ext cx="11247120" cy="1554480"/>
          </a:xfrm>
          <a:prstGeom prst="rect">
            <a:avLst/>
          </a:prstGeom>
          <a:solidFill>
            <a:srgbClr val="F5F5F5"/>
          </a:solidFill>
        </p:spPr>
        <p:txBody>
          <a:bodyPr wrap="square" lIns="274320" rIns="182880" tIns="91440" bIns="91440">
            <a:spAutoFit/>
          </a:bodyPr>
          <a:lstStyle/>
          <a:p>
            <a:pPr>
              <a:spcAft>
                <a:spcPts val="600"/>
              </a:spcAft>
              <a:defRPr sz="2000" b="1">
                <a:solidFill>
                  <a:srgbClr val="333333"/>
                </a:solidFill>
              </a:defRPr>
            </a:pPr>
            <a:r>
              <a:t>Method</a:t>
            </a:r>
          </a:p>
          <a:p>
            <a:pPr>
              <a:indent size="9144" hang="4572"/>
              <a:spcAft>
                <a:spcPts val="500"/>
              </a:spcAft>
            </a:pPr>
            <a:r>
              <a:rPr sz="1400">
                <a:solidFill>
                  <a:srgbClr val="333333"/>
                </a:solidFill>
              </a:rPr>
              <a:t>◦  </a:t>
            </a:r>
            <a:r>
              <a:rPr sz="1800">
                <a:solidFill>
                  <a:srgbClr val="333333"/>
                </a:solidFill>
              </a:rPr>
              <a:t>Fine-tuned Qwen3.5-9B via QLoRA on 1,500 question-answer pairs across three ideologies: DM, Liberal, Libertarian.</a:t>
            </a:r>
          </a:p>
          <a:p>
            <a:pPr>
              <a:indent size="9144" hang="4572"/>
              <a:spcAft>
                <a:spcPts val="500"/>
              </a:spcAft>
            </a:pPr>
            <a:r>
              <a:rPr sz="1400">
                <a:solidFill>
                  <a:srgbClr val="333333"/>
                </a:solidFill>
              </a:rPr>
              <a:t>◦  </a:t>
            </a:r>
            <a:r>
              <a:rPr sz="1800">
                <a:solidFill>
                  <a:srgbClr val="333333"/>
                </a:solidFill>
              </a:rPr>
              <a:t>Evaluated on 11-task benchmark suite across general, causal, and coding domains.</a:t>
            </a:r>
          </a:p>
        </p:txBody>
      </p:sp>
      <p:sp>
        <p:nvSpPr>
          <p:cNvPr id="5" name="TextBox 4"/>
          <p:cNvSpPr txBox="1"/>
          <p:nvPr/>
        </p:nvSpPr>
        <p:spPr>
          <a:xfrm>
            <a:off x="457200" y="4983480"/>
            <a:ext cx="11247120" cy="2057400"/>
          </a:xfrm>
          <a:prstGeom prst="rect">
            <a:avLst/>
          </a:prstGeom>
          <a:solidFill>
            <a:srgbClr val="E8F5E9"/>
          </a:solidFill>
        </p:spPr>
        <p:txBody>
          <a:bodyPr wrap="square" lIns="274320" rIns="182880" tIns="91440" bIns="91440">
            <a:spAutoFit/>
          </a:bodyPr>
          <a:lstStyle/>
          <a:p>
            <a:pPr>
              <a:spcAft>
                <a:spcPts val="600"/>
              </a:spcAft>
              <a:defRPr sz="2000" b="1">
                <a:solidFill>
                  <a:srgbClr val="333333"/>
                </a:solidFill>
              </a:defRPr>
            </a:pPr>
            <a:r>
              <a:t>Results</a:t>
            </a:r>
          </a:p>
          <a:p>
            <a:pPr>
              <a:indent size="9144" hang="4572"/>
              <a:spcAft>
                <a:spcPts val="500"/>
              </a:spcAft>
            </a:pPr>
            <a:r>
              <a:rPr sz="1400">
                <a:solidFill>
                  <a:srgbClr val="333333"/>
                </a:solidFill>
              </a:rPr>
              <a:t>◦  </a:t>
            </a:r>
            <a:r>
              <a:rPr sz="1800">
                <a:solidFill>
                  <a:srgbClr val="333333"/>
                </a:solidFill>
              </a:rPr>
              <a:t>DM: preserves knowledge, develops hedging bias on EconCausal, excels at Corr2Cause (+38pp).</a:t>
            </a:r>
          </a:p>
          <a:p>
            <a:pPr>
              <a:indent size="9144" hang="4572"/>
              <a:spcAft>
                <a:spcPts val="500"/>
              </a:spcAft>
            </a:pPr>
            <a:r>
              <a:rPr sz="1400">
                <a:solidFill>
                  <a:srgbClr val="333333"/>
                </a:solidFill>
              </a:rPr>
              <a:t>◦  </a:t>
            </a:r>
            <a:r>
              <a:rPr sz="1800">
                <a:solidFill>
                  <a:srgbClr val="333333"/>
                </a:solidFill>
              </a:rPr>
              <a:t>Liberal/Libertarian: identical collapse pattern (0% coding, -14pp knowledge, +33pp IFEval).</a:t>
            </a:r>
          </a:p>
          <a:p>
            <a:pPr>
              <a:indent size="9144" hang="4572"/>
              <a:spcAft>
                <a:spcPts val="500"/>
              </a:spcAft>
            </a:pPr>
            <a:r>
              <a:rPr sz="1400">
                <a:solidFill>
                  <a:srgbClr val="333333"/>
                </a:solidFill>
              </a:rPr>
              <a:t>◦  </a:t>
            </a:r>
            <a:r>
              <a:rPr sz="1800">
                <a:solidFill>
                  <a:srgbClr val="333333"/>
                </a:solidFill>
              </a:rPr>
              <a:t>Hedging is DM-specific. Capability collapse is a format effect, not ideology.</a:t>
            </a:r>
          </a:p>
        </p:txBody>
      </p:sp>
      <p:sp>
        <p:nvSpPr>
          <p:cNvPr id="6" name="TextBox 5"/>
          <p:cNvSpPr txBox="1"/>
          <p:nvPr/>
        </p:nvSpPr>
        <p:spPr>
          <a:xfrm>
            <a:off x="457200" y="7178040"/>
            <a:ext cx="11247120" cy="1554480"/>
          </a:xfrm>
          <a:prstGeom prst="rect">
            <a:avLst/>
          </a:prstGeom>
          <a:solidFill>
            <a:srgbClr val="E3F2FD"/>
          </a:solidFill>
        </p:spPr>
        <p:txBody>
          <a:bodyPr wrap="square" lIns="274320" rIns="182880" tIns="91440" bIns="91440">
            <a:spAutoFit/>
          </a:bodyPr>
          <a:lstStyle/>
          <a:p>
            <a:pPr>
              <a:spcAft>
                <a:spcPts val="600"/>
              </a:spcAft>
              <a:defRPr sz="2000" b="1">
                <a:solidFill>
                  <a:srgbClr val="333333"/>
                </a:solidFill>
              </a:defRPr>
            </a:pPr>
            <a:r>
              <a:t>Implications</a:t>
            </a:r>
          </a:p>
          <a:p>
            <a:pPr>
              <a:indent size="9144" hang="4572"/>
              <a:spcAft>
                <a:spcPts val="500"/>
              </a:spcAft>
            </a:pPr>
            <a:r>
              <a:rPr sz="1400">
                <a:solidFill>
                  <a:srgbClr val="333333"/>
                </a:solidFill>
              </a:rPr>
              <a:t>◦  </a:t>
            </a:r>
            <a:r>
              <a:rPr sz="1800">
                <a:solidFill>
                  <a:srgbClr val="333333"/>
                </a:solidFill>
              </a:rPr>
              <a:t>SFT transfers ideology-specific epistemic priors and format-driven capability shifts.</a:t>
            </a:r>
          </a:p>
          <a:p>
            <a:pPr>
              <a:indent size="9144" hang="4572"/>
              <a:spcAft>
                <a:spcPts val="500"/>
              </a:spcAft>
            </a:pPr>
            <a:r>
              <a:rPr sz="1400">
                <a:solidFill>
                  <a:srgbClr val="333333"/>
                </a:solidFill>
              </a:rPr>
              <a:t>◦  </a:t>
            </a:r>
            <a:r>
              <a:rPr sz="1800">
                <a:solidFill>
                  <a:srgbClr val="333333"/>
                </a:solidFill>
              </a:rPr>
              <a:t>Standard RLHF may carry similar hidden priors that go unaudited.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