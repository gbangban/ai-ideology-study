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a mid-project progress update. Phase 1 (SFT + evaluation) is complete with results. Phase 2 (GRPO training) is in active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We ask whether SFT transfers epistemic priors beyond the training domain. Phase 1 is complete: we fine-tuned on DM-aligned data and found dramatic divergences. Phase 2 is in progress: we use GRPO to correct the regressions. Phase 3 will compare multiple ideological framings.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Three outcomes. General capability preserved. Formal causal reasoning improves by 38 points. Applied economic causal reasoning regresses by 12 to 13.5 points. The same training improves one benchmark while breaking another.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The dominant regression is positive-to-mixed hedging. 52-55% of regressions on Task1. The teacher hedges only 4%. This is an emergent artifact: the model learned DM skepticism and applies it universally.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Two conditions. V3 is the control: outcome rewards only, flat advantage. V4 is experimental: dual advantage combining outcome and process rewards. The commitment tag rewards definitive answers and penalizes hedging. Goal: v4 reduces hedging more effectively than v3.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V3 at step 902, outcome reward improved 131% over 500 steps. V4 at step 410, leading on outcome at step 405. Key iterations: we fixed gradient quantization with three-tier rewards, fixed planning overfitting with conciseness penalties, and removed Corr2Cause from GRPO since SFT already 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Phase 1 is complete. We are currently in Phase 2, mid-GRPO training. V3 and v4 runs should complete by June 19. Evaluation and comparison by June 28. Phase 3 multi-ideology evaluation follows immediately. Final analysis and paper revision target mid-July.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Primary success criterion: v4 improves EconCausal over SFT at p&lt;0.025. We track answer distribution to measure hedging reduction. Secondary metrics ensure no collateral damage. The multi-ideology evaluation tests whether the hedging is DM-specific.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Four challenges. Gradient quantization and planning overfitting are fixed. Loss convergence is expected behavior. Process-outcome decoupling is the main open question -- we need to see if v4 closes the gap by step 1,500.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Phase 1 is complete with clear results. Phase 2 GRPO training should finish this week. Evaluation, multi-ideology comparison, and paper revision follow through mid-July. The project is on track.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B2D8E"/>
        </a:solidFill>
        <a:effectLst/>
      </p:bgPr>
    </p:bg>
    <p:spTree>
      <p:nvGrpSpPr>
        <p:cNvPr id="1" name=""/>
        <p:cNvGrpSpPr/>
        <p:nvPr/>
      </p:nvGrpSpPr>
      <p:grpSpPr/>
      <p:sp>
        <p:nvSpPr>
          <p:cNvPr id="2" name="TextBox 1"/>
          <p:cNvSpPr txBox="1"/>
          <p:nvPr/>
        </p:nvSpPr>
        <p:spPr>
          <a:xfrm>
            <a:off x="457200" y="914400"/>
            <a:ext cx="11247120" cy="1097280"/>
          </a:xfrm>
          <a:prstGeom prst="rect">
            <a:avLst/>
          </a:prstGeom>
          <a:noFill/>
        </p:spPr>
        <p:txBody>
          <a:bodyPr wrap="square" lIns="137160" rIns="137160">
            <a:spAutoFit/>
          </a:bodyPr>
          <a:lstStyle/>
          <a:p>
            <a:pPr algn="ctr">
              <a:defRPr sz="4200" b="1">
                <a:solidFill>
                  <a:srgbClr val="FFFFFF"/>
                </a:solidFill>
              </a:defRPr>
            </a:pPr>
            <a:r>
              <a:t>Epistemic Transfer in Language Models</a:t>
            </a:r>
          </a:p>
        </p:txBody>
      </p:sp>
      <p:sp>
        <p:nvSpPr>
          <p:cNvPr id="3" name="TextBox 2"/>
          <p:cNvSpPr txBox="1"/>
          <p:nvPr/>
        </p:nvSpPr>
        <p:spPr>
          <a:xfrm>
            <a:off x="457200" y="2103120"/>
            <a:ext cx="11247120" cy="731520"/>
          </a:xfrm>
          <a:prstGeom prst="rect">
            <a:avLst/>
          </a:prstGeom>
          <a:noFill/>
        </p:spPr>
        <p:txBody>
          <a:bodyPr wrap="square" lIns="137160" rIns="137160">
            <a:spAutoFit/>
          </a:bodyPr>
          <a:lstStyle/>
          <a:p>
            <a:pPr algn="ctr">
              <a:defRPr sz="2800" b="0">
                <a:solidFill>
                  <a:srgbClr val="F0AD00"/>
                </a:solidFill>
              </a:defRPr>
            </a:pPr>
            <a:r>
              <a:t>Dialectical Materialism Alignment and Causal Reasoning Shifts</a:t>
            </a:r>
          </a:p>
        </p:txBody>
      </p:sp>
      <p:sp>
        <p:nvSpPr>
          <p:cNvPr id="4" name="TextBox 3"/>
          <p:cNvSpPr txBox="1"/>
          <p:nvPr/>
        </p:nvSpPr>
        <p:spPr>
          <a:xfrm>
            <a:off x="457200" y="3474720"/>
            <a:ext cx="11247120" cy="548640"/>
          </a:xfrm>
          <a:prstGeom prst="rect">
            <a:avLst/>
          </a:prstGeom>
          <a:noFill/>
        </p:spPr>
        <p:txBody>
          <a:bodyPr wrap="square" lIns="137160" rIns="137160">
            <a:spAutoFit/>
          </a:bodyPr>
          <a:lstStyle/>
          <a:p>
            <a:pPr algn="ctr">
              <a:defRPr sz="2400" b="0">
                <a:solidFill>
                  <a:srgbClr val="FFFFFF"/>
                </a:solidFill>
              </a:defRPr>
            </a:pPr>
            <a:r>
              <a:t>Mid-Project Peer Review Progress Update</a:t>
            </a:r>
          </a:p>
        </p:txBody>
      </p:sp>
      <p:sp>
        <p:nvSpPr>
          <p:cNvPr id="5" name="TextBox 4"/>
          <p:cNvSpPr txBox="1"/>
          <p:nvPr/>
        </p:nvSpPr>
        <p:spPr>
          <a:xfrm>
            <a:off x="457200" y="4114800"/>
            <a:ext cx="11247120" cy="548640"/>
          </a:xfrm>
          <a:prstGeom prst="rect">
            <a:avLst/>
          </a:prstGeom>
          <a:noFill/>
        </p:spPr>
        <p:txBody>
          <a:bodyPr wrap="square" lIns="137160" rIns="137160">
            <a:spAutoFit/>
          </a:bodyPr>
          <a:lstStyle/>
          <a:p>
            <a:pPr algn="ctr">
              <a:defRPr sz="2200" b="0">
                <a:solidFill>
                  <a:srgbClr val="FFFFFF"/>
                </a:solidFill>
              </a:defRPr>
            </a:pPr>
            <a:r>
              <a:t>Melengor Yao Gbanaglo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Project Overview</a:t>
            </a:r>
          </a:p>
        </p:txBody>
      </p:sp>
      <p:sp>
        <p:nvSpPr>
          <p:cNvPr id="3" name="TextBox 2"/>
          <p:cNvSpPr txBox="1"/>
          <p:nvPr/>
        </p:nvSpPr>
        <p:spPr>
          <a:xfrm>
            <a:off x="731520" y="1143000"/>
            <a:ext cx="10698480" cy="365760"/>
          </a:xfrm>
          <a:prstGeom prst="rect">
            <a:avLst/>
          </a:prstGeom>
          <a:noFill/>
        </p:spPr>
        <p:txBody>
          <a:bodyPr wrap="square" lIns="137160" rIns="137160">
            <a:spAutoFit/>
          </a:bodyPr>
          <a:lstStyle/>
          <a:p>
            <a:pPr algn="l">
              <a:defRPr sz="2400" b="1">
                <a:solidFill>
                  <a:srgbClr val="7B2D8E"/>
                </a:solidFill>
              </a:defRPr>
            </a:pPr>
            <a:r>
              <a:t>Research Question</a:t>
            </a:r>
          </a:p>
        </p:txBody>
      </p:sp>
      <p:sp>
        <p:nvSpPr>
          <p:cNvPr id="4" name="TextBox 3"/>
          <p:cNvSpPr txBox="1"/>
          <p:nvPr/>
        </p:nvSpPr>
        <p:spPr>
          <a:xfrm>
            <a:off x="731520" y="1600200"/>
            <a:ext cx="10698480" cy="1635861"/>
          </a:xfrm>
          <a:prstGeom prst="rect">
            <a:avLst/>
          </a:prstGeom>
          <a:noFill/>
        </p:spPr>
        <p:txBody>
          <a:bodyPr wrap="square" lIns="457200">
            <a:spAutoFit/>
          </a:bodyPr>
          <a:lstStyle/>
          <a:p>
            <a:pPr>
              <a:spcAft>
                <a:spcPts val="600"/>
              </a:spcAft>
              <a:defRPr sz="2400">
                <a:solidFill>
                  <a:srgbClr val="333333"/>
                </a:solidFill>
              </a:defRPr>
              <a:buNone/>
            </a:pPr>
            <a:r>
              <a:t>•  Can targeted SFT on a non-dominant analytical framework shift a model's reasoning?</a:t>
            </a:r>
          </a:p>
          <a:p>
            <a:pPr>
              <a:spcAft>
                <a:spcPts val="600"/>
              </a:spcAft>
              <a:defRPr sz="2400">
                <a:solidFill>
                  <a:srgbClr val="333333"/>
                </a:solidFill>
              </a:defRPr>
              <a:buNone/>
            </a:pPr>
            <a:r>
              <a:t>•  What collateral effects does this produce on capabilities outside the training domain?</a:t>
            </a:r>
          </a:p>
          <a:p>
            <a:pPr>
              <a:spcAft>
                <a:spcPts val="600"/>
              </a:spcAft>
              <a:defRPr sz="2400">
                <a:solidFill>
                  <a:srgbClr val="333333"/>
                </a:solidFill>
              </a:defRPr>
              <a:buNone/>
            </a:pPr>
            <a:r>
              <a:t>•  Can reinforcement learning with process rewards correct unintended reasoning shifts?</a:t>
            </a:r>
          </a:p>
        </p:txBody>
      </p:sp>
      <p:sp>
        <p:nvSpPr>
          <p:cNvPr id="5" name="Rectangle 4"/>
          <p:cNvSpPr/>
          <p:nvPr/>
        </p:nvSpPr>
        <p:spPr>
          <a:xfrm>
            <a:off x="731520" y="3729837"/>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876141"/>
            <a:ext cx="10698480" cy="365760"/>
          </a:xfrm>
          <a:prstGeom prst="rect">
            <a:avLst/>
          </a:prstGeom>
          <a:noFill/>
        </p:spPr>
        <p:txBody>
          <a:bodyPr wrap="square" lIns="137160" rIns="137160">
            <a:spAutoFit/>
          </a:bodyPr>
          <a:lstStyle/>
          <a:p>
            <a:pPr algn="l">
              <a:defRPr sz="2400" b="1">
                <a:solidFill>
                  <a:srgbClr val="7B2D8E"/>
                </a:solidFill>
              </a:defRPr>
            </a:pPr>
            <a:r>
              <a:t>Approach</a:t>
            </a:r>
          </a:p>
        </p:txBody>
      </p:sp>
      <p:sp>
        <p:nvSpPr>
          <p:cNvPr id="7" name="TextBox 6"/>
          <p:cNvSpPr txBox="1"/>
          <p:nvPr/>
        </p:nvSpPr>
        <p:spPr>
          <a:xfrm>
            <a:off x="731520" y="4333341"/>
            <a:ext cx="10698480" cy="2135428"/>
          </a:xfrm>
          <a:prstGeom prst="rect">
            <a:avLst/>
          </a:prstGeom>
          <a:noFill/>
        </p:spPr>
        <p:txBody>
          <a:bodyPr wrap="square" lIns="457200">
            <a:spAutoFit/>
          </a:bodyPr>
          <a:lstStyle/>
          <a:p>
            <a:pPr>
              <a:spcAft>
                <a:spcPts val="600"/>
              </a:spcAft>
              <a:defRPr sz="2400">
                <a:solidFill>
                  <a:srgbClr val="333333"/>
                </a:solidFill>
              </a:defRPr>
              <a:buNone/>
            </a:pPr>
            <a:r>
              <a:t>•  Phase 1 (Complete): SFT Qwen3.5-9B on 1,500 DM-aligned Q&amp;A pairs, evaluate across 3 domains</a:t>
            </a:r>
          </a:p>
          <a:p>
            <a:pPr>
              <a:spcAft>
                <a:spcPts val="600"/>
              </a:spcAft>
              <a:defRPr sz="2400">
                <a:solidFill>
                  <a:srgbClr val="333333"/>
                </a:solidFill>
              </a:defRPr>
              <a:buNone/>
            </a:pPr>
            <a:r>
              <a:t>•  Phase 2 (In Progress): GRPO with outcome-only (v3) vs. dual advantage + process rewards (v4)</a:t>
            </a:r>
          </a:p>
          <a:p>
            <a:pPr>
              <a:spcAft>
                <a:spcPts val="600"/>
              </a:spcAft>
              <a:defRPr sz="2400">
                <a:solidFill>
                  <a:srgbClr val="333333"/>
                </a:solidFill>
              </a:defRPr>
              <a:buNone/>
            </a:pPr>
            <a:r>
              <a:t>•  Phase 3 (Planned): Multi-ideology comparison (Liberal, Libertarian SFT models)</a:t>
            </a:r>
          </a:p>
          <a:p>
            <a:pPr>
              <a:spcAft>
                <a:spcPts val="600"/>
              </a:spcAft>
              <a:defRPr sz="2400">
                <a:solidFill>
                  <a:srgbClr val="333333"/>
                </a:solidFill>
              </a:defRPr>
              <a:buNone/>
            </a:pPr>
            <a:r>
              <a:t>•  Phase 4 (Planned): Final analysis, paper revision, project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Phase 1 Results: Three Divergent Outcomes</a:t>
            </a:r>
          </a:p>
        </p:txBody>
      </p:sp>
      <p:sp>
        <p:nvSpPr>
          <p:cNvPr id="3" name="Rectangle 2"/>
          <p:cNvSpPr/>
          <p:nvPr/>
        </p:nvSpPr>
        <p:spPr>
          <a:xfrm>
            <a:off x="457200" y="1143000"/>
            <a:ext cx="3291840" cy="4114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2926080" cy="365760"/>
          </a:xfrm>
          <a:prstGeom prst="rect">
            <a:avLst/>
          </a:prstGeom>
          <a:noFill/>
        </p:spPr>
        <p:txBody>
          <a:bodyPr wrap="square" lIns="137160" rIns="137160">
            <a:spAutoFit/>
          </a:bodyPr>
          <a:lstStyle/>
          <a:p>
            <a:pPr algn="l">
              <a:defRPr sz="2100" b="1">
                <a:solidFill>
                  <a:srgbClr val="2E7D32"/>
                </a:solidFill>
              </a:defRPr>
            </a:pPr>
            <a:r>
              <a:t>General: Preserved</a:t>
            </a:r>
          </a:p>
        </p:txBody>
      </p:sp>
      <p:sp>
        <p:nvSpPr>
          <p:cNvPr id="5" name="TextBox 4"/>
          <p:cNvSpPr txBox="1"/>
          <p:nvPr/>
        </p:nvSpPr>
        <p:spPr>
          <a:xfrm>
            <a:off x="640080" y="1691640"/>
            <a:ext cx="2926080" cy="1901748"/>
          </a:xfrm>
          <a:prstGeom prst="rect">
            <a:avLst/>
          </a:prstGeom>
          <a:noFill/>
        </p:spPr>
        <p:txBody>
          <a:bodyPr wrap="square" lIns="457200">
            <a:spAutoFit/>
          </a:bodyPr>
          <a:lstStyle/>
          <a:p>
            <a:pPr>
              <a:spcAft>
                <a:spcPts val="600"/>
              </a:spcAft>
              <a:defRPr sz="2000">
                <a:solidFill>
                  <a:srgbClr val="333333"/>
                </a:solidFill>
              </a:defRPr>
              <a:buNone/>
            </a:pPr>
            <a:r>
              <a:t>•  MMLU: -0.8pp (within noise)</a:t>
            </a:r>
          </a:p>
          <a:p>
            <a:pPr>
              <a:spcAft>
                <a:spcPts val="600"/>
              </a:spcAft>
              <a:defRPr sz="2000">
                <a:solidFill>
                  <a:srgbClr val="333333"/>
                </a:solidFill>
              </a:defRPr>
              <a:buNone/>
            </a:pPr>
            <a:r>
              <a:t>•  HumanEval: 0.0pp (identical)</a:t>
            </a:r>
          </a:p>
          <a:p>
            <a:pPr>
              <a:spcAft>
                <a:spcPts val="600"/>
              </a:spcAft>
              <a:defRPr sz="2000">
                <a:solidFill>
                  <a:srgbClr val="333333"/>
                </a:solidFill>
              </a:defRPr>
              <a:buNone/>
            </a:pPr>
            <a:r>
              <a:t>•  GPQA: -1.5pp (within noise)</a:t>
            </a:r>
          </a:p>
          <a:p>
            <a:pPr>
              <a:spcAft>
                <a:spcPts val="600"/>
              </a:spcAft>
              <a:defRPr sz="2000">
                <a:solidFill>
                  <a:srgbClr val="333333"/>
                </a:solidFill>
              </a:defRPr>
              <a:buNone/>
            </a:pPr>
            <a:r>
              <a:t>•  No catastrophic forgetting</a:t>
            </a:r>
          </a:p>
        </p:txBody>
      </p:sp>
      <p:sp>
        <p:nvSpPr>
          <p:cNvPr id="6" name="Rectangle 5"/>
          <p:cNvSpPr/>
          <p:nvPr/>
        </p:nvSpPr>
        <p:spPr>
          <a:xfrm>
            <a:off x="4069079" y="1143000"/>
            <a:ext cx="3291840" cy="4114800"/>
          </a:xfrm>
          <a:prstGeom prst="rect">
            <a:avLst/>
          </a:prstGeom>
          <a:solidFill>
            <a:srgbClr val="E3F2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59" y="1280160"/>
            <a:ext cx="2926080" cy="365760"/>
          </a:xfrm>
          <a:prstGeom prst="rect">
            <a:avLst/>
          </a:prstGeom>
          <a:noFill/>
        </p:spPr>
        <p:txBody>
          <a:bodyPr wrap="square" lIns="137160" rIns="137160">
            <a:spAutoFit/>
          </a:bodyPr>
          <a:lstStyle/>
          <a:p>
            <a:pPr algn="l">
              <a:defRPr sz="2100" b="1">
                <a:solidFill>
                  <a:srgbClr val="1565C0"/>
                </a:solidFill>
              </a:defRPr>
            </a:pPr>
            <a:r>
              <a:t>Formal Causal: +38.3pp</a:t>
            </a:r>
          </a:p>
        </p:txBody>
      </p:sp>
      <p:sp>
        <p:nvSpPr>
          <p:cNvPr id="8" name="TextBox 7"/>
          <p:cNvSpPr txBox="1"/>
          <p:nvPr/>
        </p:nvSpPr>
        <p:spPr>
          <a:xfrm>
            <a:off x="4251959" y="1691640"/>
            <a:ext cx="2926080" cy="1901748"/>
          </a:xfrm>
          <a:prstGeom prst="rect">
            <a:avLst/>
          </a:prstGeom>
          <a:noFill/>
        </p:spPr>
        <p:txBody>
          <a:bodyPr wrap="square" lIns="457200">
            <a:spAutoFit/>
          </a:bodyPr>
          <a:lstStyle/>
          <a:p>
            <a:pPr>
              <a:spcAft>
                <a:spcPts val="600"/>
              </a:spcAft>
              <a:defRPr sz="2000">
                <a:solidFill>
                  <a:srgbClr val="333333"/>
                </a:solidFill>
              </a:defRPr>
              <a:buNone/>
            </a:pPr>
            <a:r>
              <a:t>•  Corr2Cause: 36.3% -&gt; 74.6%</a:t>
            </a:r>
          </a:p>
          <a:p>
            <a:pPr>
              <a:spcAft>
                <a:spcPts val="600"/>
              </a:spcAft>
              <a:defRPr sz="2000">
                <a:solidFill>
                  <a:srgbClr val="333333"/>
                </a:solidFill>
              </a:defRPr>
              <a:buNone/>
            </a:pPr>
            <a:r>
              <a:t>•  Corrects 520 baseline errors</a:t>
            </a:r>
          </a:p>
          <a:p>
            <a:pPr>
              <a:spcAft>
                <a:spcPts val="600"/>
              </a:spcAft>
              <a:defRPr sz="2000">
                <a:solidFill>
                  <a:srgbClr val="333333"/>
                </a:solidFill>
              </a:defRPr>
              <a:buNone/>
            </a:pPr>
            <a:r>
              <a:t>•  Only 75 new errors introduced</a:t>
            </a:r>
          </a:p>
          <a:p>
            <a:pPr>
              <a:spcAft>
                <a:spcPts val="600"/>
              </a:spcAft>
              <a:defRPr sz="2000">
                <a:solidFill>
                  <a:srgbClr val="333333"/>
                </a:solidFill>
              </a:defRPr>
              <a:buNone/>
            </a:pPr>
            <a:r>
              <a:t>•  +81pp on complex templates</a:t>
            </a:r>
          </a:p>
        </p:txBody>
      </p:sp>
      <p:sp>
        <p:nvSpPr>
          <p:cNvPr id="9" name="Rectangle 8"/>
          <p:cNvSpPr/>
          <p:nvPr/>
        </p:nvSpPr>
        <p:spPr>
          <a:xfrm>
            <a:off x="7680960" y="1143000"/>
            <a:ext cx="3291840" cy="4114800"/>
          </a:xfrm>
          <a:prstGeom prst="rect">
            <a:avLst/>
          </a:prstGeom>
          <a:solidFill>
            <a:srgbClr val="FCE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280160"/>
            <a:ext cx="2926080" cy="365760"/>
          </a:xfrm>
          <a:prstGeom prst="rect">
            <a:avLst/>
          </a:prstGeom>
          <a:noFill/>
        </p:spPr>
        <p:txBody>
          <a:bodyPr wrap="square" lIns="137160" rIns="137160">
            <a:spAutoFit/>
          </a:bodyPr>
          <a:lstStyle/>
          <a:p>
            <a:pPr algn="l">
              <a:defRPr sz="2100" b="1">
                <a:solidFill>
                  <a:srgbClr val="C62828"/>
                </a:solidFill>
              </a:defRPr>
            </a:pPr>
            <a:r>
              <a:t>Applied Causal: -12.4pp</a:t>
            </a:r>
          </a:p>
        </p:txBody>
      </p:sp>
      <p:sp>
        <p:nvSpPr>
          <p:cNvPr id="11" name="TextBox 10"/>
          <p:cNvSpPr txBox="1"/>
          <p:nvPr/>
        </p:nvSpPr>
        <p:spPr>
          <a:xfrm>
            <a:off x="7863840" y="1691640"/>
            <a:ext cx="2926080" cy="1901748"/>
          </a:xfrm>
          <a:prstGeom prst="rect">
            <a:avLst/>
          </a:prstGeom>
          <a:noFill/>
        </p:spPr>
        <p:txBody>
          <a:bodyPr wrap="square" lIns="457200">
            <a:spAutoFit/>
          </a:bodyPr>
          <a:lstStyle/>
          <a:p>
            <a:pPr>
              <a:spcAft>
                <a:spcPts val="600"/>
              </a:spcAft>
              <a:defRPr sz="2000">
                <a:solidFill>
                  <a:srgbClr val="333333"/>
                </a:solidFill>
              </a:defRPr>
              <a:buNone/>
            </a:pPr>
            <a:r>
              <a:t>•  Task1 Econ: 60.3% -&gt; 47.9%</a:t>
            </a:r>
          </a:p>
          <a:p>
            <a:pPr>
              <a:spcAft>
                <a:spcPts val="600"/>
              </a:spcAft>
              <a:defRPr sz="2000">
                <a:solidFill>
                  <a:srgbClr val="333333"/>
                </a:solidFill>
              </a:defRPr>
              <a:buNone/>
            </a:pPr>
            <a:r>
              <a:t>•  Task1 Finance: 56.5% -&gt; 43.0%</a:t>
            </a:r>
          </a:p>
          <a:p>
            <a:pPr>
              <a:spcAft>
                <a:spcPts val="600"/>
              </a:spcAft>
              <a:defRPr sz="2000">
                <a:solidFill>
                  <a:srgbClr val="333333"/>
                </a:solidFill>
              </a:defRPr>
              <a:buNone/>
            </a:pPr>
            <a:r>
              <a:t>•  Task3: 22.2% -&gt; 11.4%</a:t>
            </a:r>
          </a:p>
          <a:p>
            <a:pPr>
              <a:spcAft>
                <a:spcPts val="600"/>
              </a:spcAft>
              <a:defRPr sz="2000">
                <a:solidFill>
                  <a:srgbClr val="333333"/>
                </a:solidFill>
              </a:defRPr>
              <a:buNone/>
            </a:pPr>
            <a:r>
              <a:t>•  All regressions significant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Root Cause: The Hedging Artifact</a:t>
            </a:r>
          </a:p>
        </p:txBody>
      </p:sp>
      <p:sp>
        <p:nvSpPr>
          <p:cNvPr id="3" name="TextBox 2"/>
          <p:cNvSpPr txBox="1"/>
          <p:nvPr/>
        </p:nvSpPr>
        <p:spPr>
          <a:xfrm>
            <a:off x="731520" y="1143000"/>
            <a:ext cx="10698480" cy="365760"/>
          </a:xfrm>
          <a:prstGeom prst="rect">
            <a:avLst/>
          </a:prstGeom>
          <a:noFill/>
        </p:spPr>
        <p:txBody>
          <a:bodyPr wrap="square" lIns="137160" rIns="137160">
            <a:spAutoFit/>
          </a:bodyPr>
          <a:lstStyle/>
          <a:p>
            <a:pPr algn="l">
              <a:defRPr sz="2400" b="1">
                <a:solidFill>
                  <a:srgbClr val="C62828"/>
                </a:solidFill>
              </a:defRPr>
            </a:pPr>
            <a:r>
              <a:t>Dominant Failure Mode: Positive-to-Mixed Hedging</a:t>
            </a:r>
          </a:p>
        </p:txBody>
      </p:sp>
      <p:sp>
        <p:nvSpPr>
          <p:cNvPr id="4" name="TextBox 3"/>
          <p:cNvSpPr txBox="1"/>
          <p:nvPr/>
        </p:nvSpPr>
        <p:spPr>
          <a:xfrm>
            <a:off x="731520" y="1600200"/>
            <a:ext cx="10698480" cy="2135428"/>
          </a:xfrm>
          <a:prstGeom prst="rect">
            <a:avLst/>
          </a:prstGeom>
          <a:noFill/>
        </p:spPr>
        <p:txBody>
          <a:bodyPr wrap="square" lIns="457200">
            <a:spAutoFit/>
          </a:bodyPr>
          <a:lstStyle/>
          <a:p>
            <a:pPr>
              <a:spcAft>
                <a:spcPts val="600"/>
              </a:spcAft>
              <a:defRPr sz="2400">
                <a:solidFill>
                  <a:srgbClr val="333333"/>
                </a:solidFill>
              </a:defRPr>
              <a:buNone/>
            </a:pPr>
            <a:r>
              <a:t>•  Finetuned model converts correct positive predictions (+) to ambiguous "mixed"</a:t>
            </a:r>
          </a:p>
          <a:p>
            <a:pPr>
              <a:spcAft>
                <a:spcPts val="600"/>
              </a:spcAft>
              <a:defRPr sz="2400">
                <a:solidFill>
                  <a:srgbClr val="333333"/>
                </a:solidFill>
              </a:defRPr>
              <a:buNone/>
            </a:pPr>
            <a:r>
              <a:t>•  Task1 Econ: 96 of 182 regressions are + to mixed (52.7%)</a:t>
            </a:r>
          </a:p>
          <a:p>
            <a:pPr>
              <a:spcAft>
                <a:spcPts val="600"/>
              </a:spcAft>
              <a:defRPr sz="2400">
                <a:solidFill>
                  <a:srgbClr val="333333"/>
                </a:solidFill>
              </a:defRPr>
              <a:buNone/>
            </a:pPr>
            <a:r>
              <a:t>•  Task1 Finance: 95 of 174 regressions (54.6%)</a:t>
            </a:r>
          </a:p>
          <a:p>
            <a:pPr>
              <a:spcAft>
                <a:spcPts val="600"/>
              </a:spcAft>
              <a:defRPr sz="2400">
                <a:solidFill>
                  <a:srgbClr val="333333"/>
                </a:solidFill>
              </a:defRPr>
              <a:buNone/>
            </a:pPr>
            <a:r>
              <a:t>•  Positive-effect conversion accounts for 77-85% of all Task1 regressions</a:t>
            </a:r>
          </a:p>
        </p:txBody>
      </p:sp>
      <p:sp>
        <p:nvSpPr>
          <p:cNvPr id="5" name="Rectangle 4"/>
          <p:cNvSpPr/>
          <p:nvPr/>
        </p:nvSpPr>
        <p:spPr>
          <a:xfrm>
            <a:off x="731520" y="4229404"/>
            <a:ext cx="10698480" cy="36576"/>
          </a:xfrm>
          <a:prstGeom prst="rect">
            <a:avLst/>
          </a:prstGeom>
          <a:solidFill>
            <a:srgbClr val="7B2D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375708"/>
            <a:ext cx="10698480" cy="365760"/>
          </a:xfrm>
          <a:prstGeom prst="rect">
            <a:avLst/>
          </a:prstGeom>
          <a:noFill/>
        </p:spPr>
        <p:txBody>
          <a:bodyPr wrap="square" lIns="137160" rIns="137160">
            <a:spAutoFit/>
          </a:bodyPr>
          <a:lstStyle/>
          <a:p>
            <a:pPr algn="l">
              <a:defRPr sz="2400" b="1">
                <a:solidFill>
                  <a:srgbClr val="7B2D8E"/>
                </a:solidFill>
              </a:defRPr>
            </a:pPr>
            <a:r>
              <a:t>A Transferred Epistemic Prior</a:t>
            </a:r>
          </a:p>
        </p:txBody>
      </p:sp>
      <p:sp>
        <p:nvSpPr>
          <p:cNvPr id="7" name="TextBox 6"/>
          <p:cNvSpPr txBox="1"/>
          <p:nvPr/>
        </p:nvSpPr>
        <p:spPr>
          <a:xfrm>
            <a:off x="731520" y="4832908"/>
            <a:ext cx="10698480" cy="2135428"/>
          </a:xfrm>
          <a:prstGeom prst="rect">
            <a:avLst/>
          </a:prstGeom>
          <a:noFill/>
        </p:spPr>
        <p:txBody>
          <a:bodyPr wrap="square" lIns="457200">
            <a:spAutoFit/>
          </a:bodyPr>
          <a:lstStyle/>
          <a:p>
            <a:pPr>
              <a:spcAft>
                <a:spcPts val="600"/>
              </a:spcAft>
              <a:defRPr sz="2400">
                <a:solidFill>
                  <a:srgbClr val="333333"/>
                </a:solidFill>
              </a:defRPr>
              <a:buNone/>
            </a:pPr>
            <a:r>
              <a:t>•  Hedging is ABSENT from training data -- teacher hedges only 4.0% of the time</a:t>
            </a:r>
          </a:p>
          <a:p>
            <a:pPr>
              <a:spcAft>
                <a:spcPts val="600"/>
              </a:spcAft>
              <a:defRPr sz="2400">
                <a:solidFill>
                  <a:srgbClr val="333333"/>
                </a:solidFill>
              </a:defRPr>
              <a:buNone/>
            </a:pPr>
            <a:r>
              <a:t>•  Model internalizes DM skepticism: "outcomes depend on material conditions"</a:t>
            </a:r>
          </a:p>
          <a:p>
            <a:pPr>
              <a:spcAft>
                <a:spcPts val="600"/>
              </a:spcAft>
              <a:defRPr sz="2400">
                <a:solidFill>
                  <a:srgbClr val="333333"/>
                </a:solidFill>
              </a:defRPr>
              <a:buNone/>
            </a:pPr>
            <a:r>
              <a:t>•  Applies this indiscriminately -- even where definitive directional effects exist</a:t>
            </a:r>
          </a:p>
          <a:p>
            <a:pPr>
              <a:spcAft>
                <a:spcPts val="600"/>
              </a:spcAft>
              <a:defRPr sz="2400">
                <a:solidFill>
                  <a:srgbClr val="333333"/>
                </a:solidFill>
              </a:defRPr>
              <a:buNone/>
            </a:pPr>
            <a:r>
              <a:t>•  This is not a reasoning error. It is a transferred epistemic prior.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Phase 2: GRPO Training Design</a:t>
            </a:r>
          </a:p>
        </p:txBody>
      </p:sp>
      <p:sp>
        <p:nvSpPr>
          <p:cNvPr id="3" name="TextBox 2"/>
          <p:cNvSpPr txBox="1"/>
          <p:nvPr/>
        </p:nvSpPr>
        <p:spPr>
          <a:xfrm>
            <a:off x="731520" y="1143000"/>
            <a:ext cx="5029200" cy="320040"/>
          </a:xfrm>
          <a:prstGeom prst="rect">
            <a:avLst/>
          </a:prstGeom>
          <a:noFill/>
        </p:spPr>
        <p:txBody>
          <a:bodyPr wrap="square" lIns="137160" rIns="137160">
            <a:spAutoFit/>
          </a:bodyPr>
          <a:lstStyle/>
          <a:p>
            <a:pPr algn="l">
              <a:defRPr sz="2000" b="1">
                <a:solidFill>
                  <a:srgbClr val="1565C0"/>
                </a:solidFill>
              </a:defRPr>
            </a:pPr>
            <a:r>
              <a:t>V3 (Control): Outcome-Only Rewards</a:t>
            </a:r>
          </a:p>
        </p:txBody>
      </p:sp>
      <p:sp>
        <p:nvSpPr>
          <p:cNvPr id="4" name="TextBox 3"/>
          <p:cNvSpPr txBox="1"/>
          <p:nvPr/>
        </p:nvSpPr>
        <p:spPr>
          <a:xfrm>
            <a:off x="731520" y="1508760"/>
            <a:ext cx="5029200" cy="2342896"/>
          </a:xfrm>
          <a:prstGeom prst="rect">
            <a:avLst/>
          </a:prstGeom>
          <a:noFill/>
        </p:spPr>
        <p:txBody>
          <a:bodyPr wrap="square" lIns="457200">
            <a:spAutoFit/>
          </a:bodyPr>
          <a:lstStyle/>
          <a:p>
            <a:pPr>
              <a:spcAft>
                <a:spcPts val="600"/>
              </a:spcAft>
              <a:defRPr sz="2000">
                <a:solidFill>
                  <a:srgbClr val="333333"/>
                </a:solidFill>
              </a:defRPr>
              <a:buNone/>
            </a:pPr>
            <a:r>
              <a:t>•  Three-tier outcome rewards: full/partial/none credit</a:t>
            </a:r>
          </a:p>
          <a:p>
            <a:pPr>
              <a:spcAft>
                <a:spcPts val="600"/>
              </a:spcAft>
              <a:defRPr sz="2000">
                <a:solidFill>
                  <a:srgbClr val="333333"/>
                </a:solidFill>
              </a:defRPr>
              <a:buNone/>
            </a:pPr>
            <a:r>
              <a:t>•  Ground-truth correctness from EconCausal + Corr2Cause</a:t>
            </a:r>
          </a:p>
          <a:p>
            <a:pPr>
              <a:spcAft>
                <a:spcPts val="600"/>
              </a:spcAft>
              <a:defRPr sz="2000">
                <a:solidFill>
                  <a:srgbClr val="333333"/>
                </a:solidFill>
              </a:defRPr>
              <a:buNone/>
            </a:pPr>
            <a:r>
              <a:t>•  Reasoning quality reward (heuristic, [0.0, 0.5])</a:t>
            </a:r>
          </a:p>
          <a:p>
            <a:pPr>
              <a:spcAft>
                <a:spcPts val="600"/>
              </a:spcAft>
              <a:defRPr sz="2000">
                <a:solidFill>
                  <a:srgbClr val="333333"/>
                </a:solidFill>
              </a:defRPr>
              <a:buNone/>
            </a:pPr>
            <a:r>
              <a:t>•  Flat advantage: single normalization of all rewards</a:t>
            </a:r>
          </a:p>
          <a:p>
            <a:pPr>
              <a:spcAft>
                <a:spcPts val="600"/>
              </a:spcAft>
              <a:defRPr sz="2000">
                <a:solidFill>
                  <a:srgbClr val="333333"/>
                </a:solidFill>
              </a:defRPr>
              <a:buNone/>
            </a:pPr>
            <a:r>
              <a:t>•  Free-form output (no tags required)</a:t>
            </a:r>
          </a:p>
        </p:txBody>
      </p:sp>
      <p:sp>
        <p:nvSpPr>
          <p:cNvPr id="5" name="TextBox 4"/>
          <p:cNvSpPr txBox="1"/>
          <p:nvPr/>
        </p:nvSpPr>
        <p:spPr>
          <a:xfrm>
            <a:off x="6400800" y="1188720"/>
            <a:ext cx="5029200" cy="320040"/>
          </a:xfrm>
          <a:prstGeom prst="rect">
            <a:avLst/>
          </a:prstGeom>
          <a:noFill/>
        </p:spPr>
        <p:txBody>
          <a:bodyPr wrap="square" lIns="137160" rIns="137160">
            <a:spAutoFit/>
          </a:bodyPr>
          <a:lstStyle/>
          <a:p>
            <a:pPr algn="l">
              <a:defRPr sz="2000" b="1">
                <a:solidFill>
                  <a:srgbClr val="E65C00"/>
                </a:solidFill>
              </a:defRPr>
            </a:pPr>
            <a:r>
              <a:t>V4 (Experimental): Dual Advantage + Process</a:t>
            </a:r>
          </a:p>
        </p:txBody>
      </p:sp>
      <p:sp>
        <p:nvSpPr>
          <p:cNvPr id="6" name="TextBox 5"/>
          <p:cNvSpPr txBox="1"/>
          <p:nvPr/>
        </p:nvSpPr>
        <p:spPr>
          <a:xfrm>
            <a:off x="6400800" y="1554480"/>
            <a:ext cx="5029200" cy="2342896"/>
          </a:xfrm>
          <a:prstGeom prst="rect">
            <a:avLst/>
          </a:prstGeom>
          <a:noFill/>
        </p:spPr>
        <p:txBody>
          <a:bodyPr wrap="square" lIns="457200">
            <a:spAutoFit/>
          </a:bodyPr>
          <a:lstStyle/>
          <a:p>
            <a:pPr>
              <a:spcAft>
                <a:spcPts val="600"/>
              </a:spcAft>
              <a:defRPr sz="2000">
                <a:solidFill>
                  <a:srgbClr val="333333"/>
                </a:solidFill>
              </a:defRPr>
              <a:buNone/>
            </a:pPr>
            <a:r>
              <a:t>•  Same outcome rewards as v3</a:t>
            </a:r>
          </a:p>
          <a:p>
            <a:pPr>
              <a:spcAft>
                <a:spcPts val="600"/>
              </a:spcAft>
              <a:defRPr sz="2000">
                <a:solidFill>
                  <a:srgbClr val="333333"/>
                </a:solidFill>
              </a:defRPr>
              <a:buNone/>
            </a:pPr>
            <a:r>
              <a:t>•  Process rewards: planning, commitment, reflection, monitor</a:t>
            </a:r>
          </a:p>
          <a:p>
            <a:pPr>
              <a:spcAft>
                <a:spcPts val="600"/>
              </a:spcAft>
              <a:defRPr sz="2000">
                <a:solidFill>
                  <a:srgbClr val="333333"/>
                </a:solidFill>
              </a:defRPr>
              <a:buNone/>
            </a:pPr>
            <a:r>
              <a:t>•  Dual advantage: A_traj (outcome) + A_MR (process), alpha=0.5</a:t>
            </a:r>
          </a:p>
          <a:p>
            <a:pPr>
              <a:spcAft>
                <a:spcPts val="600"/>
              </a:spcAft>
              <a:defRPr sz="2000">
                <a:solidFill>
                  <a:srgbClr val="333333"/>
                </a:solidFill>
              </a:defRPr>
              <a:buNone/>
            </a:pPr>
            <a:r>
              <a:t>•  Tagged output: &lt;planning&gt;, &lt;commitment&gt;, &lt;reflection&gt;, &lt;monitor&gt;</a:t>
            </a:r>
          </a:p>
          <a:p>
            <a:pPr>
              <a:spcAft>
                <a:spcPts val="600"/>
              </a:spcAft>
              <a:defRPr sz="2000">
                <a:solidFill>
                  <a:srgbClr val="333333"/>
                </a:solidFill>
              </a:defRPr>
              <a:buNone/>
            </a:pPr>
            <a:r>
              <a:t>•  KL regularization (lambda=0.01), PPO clipping (epsilon=0.2)</a:t>
            </a:r>
          </a:p>
        </p:txBody>
      </p:sp>
      <p:sp>
        <p:nvSpPr>
          <p:cNvPr id="7" name="Rectangle 6"/>
          <p:cNvSpPr/>
          <p:nvPr/>
        </p:nvSpPr>
        <p:spPr>
          <a:xfrm>
            <a:off x="731520" y="492861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83480"/>
            <a:ext cx="10698480" cy="548640"/>
          </a:xfrm>
          <a:prstGeom prst="rect">
            <a:avLst/>
          </a:prstGeom>
          <a:noFill/>
        </p:spPr>
        <p:txBody>
          <a:bodyPr wrap="square" lIns="137160" rIns="137160">
            <a:spAutoFit/>
          </a:bodyPr>
          <a:lstStyle/>
          <a:p>
            <a:pPr algn="l">
              <a:defRPr sz="2000" b="1">
                <a:solidFill>
                  <a:srgbClr val="333333"/>
                </a:solidFill>
              </a:defRPr>
            </a:pPr>
            <a:r>
              <a:t>Goal: v4 reduces hedging more than v3 by rewarding definitive commitment while preserving structural reasoning quality.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Phase 2: Current Training Status</a:t>
            </a:r>
          </a:p>
        </p:txBody>
      </p:sp>
      <p:sp>
        <p:nvSpPr>
          <p:cNvPr id="3" name="TextBox 2"/>
          <p:cNvSpPr txBox="1"/>
          <p:nvPr/>
        </p:nvSpPr>
        <p:spPr>
          <a:xfrm>
            <a:off x="731520" y="1143000"/>
            <a:ext cx="10698480" cy="320040"/>
          </a:xfrm>
          <a:prstGeom prst="rect">
            <a:avLst/>
          </a:prstGeom>
          <a:noFill/>
        </p:spPr>
        <p:txBody>
          <a:bodyPr wrap="square" lIns="137160" rIns="137160">
            <a:spAutoFit/>
          </a:bodyPr>
          <a:lstStyle/>
          <a:p>
            <a:pPr algn="l">
              <a:defRPr sz="2200" b="1">
                <a:solidFill>
                  <a:srgbClr val="1565C0"/>
                </a:solidFill>
              </a:defRPr>
            </a:pPr>
            <a:r>
              <a:t>V3 Outcome Track (Control)</a:t>
            </a:r>
          </a:p>
        </p:txBody>
      </p:sp>
      <p:sp>
        <p:nvSpPr>
          <p:cNvPr id="4" name="TextBox 3"/>
          <p:cNvSpPr txBox="1"/>
          <p:nvPr/>
        </p:nvSpPr>
        <p:spPr>
          <a:xfrm>
            <a:off x="731520" y="1508760"/>
            <a:ext cx="5029200" cy="2018588"/>
          </a:xfrm>
          <a:prstGeom prst="rect">
            <a:avLst/>
          </a:prstGeom>
          <a:noFill/>
        </p:spPr>
        <p:txBody>
          <a:bodyPr wrap="square" lIns="457200">
            <a:spAutoFit/>
          </a:bodyPr>
          <a:lstStyle/>
          <a:p>
            <a:pPr>
              <a:spcAft>
                <a:spcPts val="600"/>
              </a:spcAft>
              <a:defRPr sz="2200">
                <a:solidFill>
                  <a:srgbClr val="333333"/>
                </a:solidFill>
              </a:defRPr>
              <a:buNone/>
            </a:pPr>
            <a:r>
              <a:t>•  Current run: step 902 / 1,500 (started June 14)</a:t>
            </a:r>
          </a:p>
          <a:p>
            <a:pPr>
              <a:spcAft>
                <a:spcPts val="600"/>
              </a:spcAft>
              <a:defRPr sz="2200">
                <a:solidFill>
                  <a:srgbClr val="333333"/>
                </a:solidFill>
              </a:defRPr>
              <a:buNone/>
            </a:pPr>
            <a:r>
              <a:t>•  Outcome reward improved 0.29 -&gt; 0.67 over 500 steps (+131%)</a:t>
            </a:r>
          </a:p>
          <a:p>
            <a:pPr>
              <a:spcAft>
                <a:spcPts val="600"/>
              </a:spcAft>
              <a:defRPr sz="2200">
                <a:solidFill>
                  <a:srgbClr val="333333"/>
                </a:solidFill>
              </a:defRPr>
              <a:buNone/>
            </a:pPr>
            <a:r>
              <a:t>•  Loss oscillating near zero -- expected at GRPO equilibrium</a:t>
            </a:r>
          </a:p>
          <a:p>
            <a:pPr>
              <a:spcAft>
                <a:spcPts val="600"/>
              </a:spcAft>
              <a:defRPr sz="2200">
                <a:solidFill>
                  <a:srgbClr val="333333"/>
                </a:solidFill>
              </a:defRPr>
              <a:buNone/>
            </a:pPr>
            <a:r>
              <a:t>•  KL stable at 0.0007 (healthy, no divergence)</a:t>
            </a:r>
          </a:p>
        </p:txBody>
      </p:sp>
      <p:sp>
        <p:nvSpPr>
          <p:cNvPr id="5" name="TextBox 4"/>
          <p:cNvSpPr txBox="1"/>
          <p:nvPr/>
        </p:nvSpPr>
        <p:spPr>
          <a:xfrm>
            <a:off x="6400800" y="1143000"/>
            <a:ext cx="5029200" cy="320040"/>
          </a:xfrm>
          <a:prstGeom prst="rect">
            <a:avLst/>
          </a:prstGeom>
          <a:noFill/>
        </p:spPr>
        <p:txBody>
          <a:bodyPr wrap="square" lIns="137160" rIns="137160">
            <a:spAutoFit/>
          </a:bodyPr>
          <a:lstStyle/>
          <a:p>
            <a:pPr algn="l">
              <a:defRPr sz="2200" b="1">
                <a:solidFill>
                  <a:srgbClr val="E65C00"/>
                </a:solidFill>
              </a:defRPr>
            </a:pPr>
            <a:r>
              <a:t>V4 Process Track (Experimental)</a:t>
            </a:r>
          </a:p>
        </p:txBody>
      </p:sp>
      <p:sp>
        <p:nvSpPr>
          <p:cNvPr id="6" name="TextBox 5"/>
          <p:cNvSpPr txBox="1"/>
          <p:nvPr/>
        </p:nvSpPr>
        <p:spPr>
          <a:xfrm>
            <a:off x="6400800" y="1508760"/>
            <a:ext cx="5029200" cy="2018588"/>
          </a:xfrm>
          <a:prstGeom prst="rect">
            <a:avLst/>
          </a:prstGeom>
          <a:noFill/>
        </p:spPr>
        <p:txBody>
          <a:bodyPr wrap="square" lIns="457200">
            <a:spAutoFit/>
          </a:bodyPr>
          <a:lstStyle/>
          <a:p>
            <a:pPr>
              <a:spcAft>
                <a:spcPts val="600"/>
              </a:spcAft>
              <a:defRPr sz="2200">
                <a:solidFill>
                  <a:srgbClr val="333333"/>
                </a:solidFill>
              </a:defRPr>
              <a:buNone/>
            </a:pPr>
            <a:r>
              <a:t>•  Current run: step 410 / 1,500 (started June 15)</a:t>
            </a:r>
          </a:p>
          <a:p>
            <a:pPr>
              <a:spcAft>
                <a:spcPts val="600"/>
              </a:spcAft>
              <a:defRPr sz="2200">
                <a:solidFill>
                  <a:srgbClr val="333333"/>
                </a:solidFill>
              </a:defRPr>
              <a:buNone/>
            </a:pPr>
            <a:r>
              <a:t>•  At step 405: v4 outcome (0.44) leads v3 (0.29) -- denser gradients</a:t>
            </a:r>
          </a:p>
          <a:p>
            <a:pPr>
              <a:spcAft>
                <a:spcPts val="600"/>
              </a:spcAft>
              <a:defRPr sz="2200">
                <a:solidFill>
                  <a:srgbClr val="333333"/>
                </a:solidFill>
              </a:defRPr>
              <a:buNone/>
            </a:pPr>
            <a:r>
              <a:t>•  Process reward stable at 0.55 average</a:t>
            </a:r>
          </a:p>
          <a:p>
            <a:pPr>
              <a:spcAft>
                <a:spcPts val="600"/>
              </a:spcAft>
              <a:defRPr sz="2200">
                <a:solidFill>
                  <a:srgbClr val="333333"/>
                </a:solidFill>
              </a:defRPr>
              <a:buNone/>
            </a:pPr>
            <a:r>
              <a:t>•  Some process-outcome decoupling observed (high process, low outcome)</a:t>
            </a:r>
          </a:p>
        </p:txBody>
      </p:sp>
      <p:sp>
        <p:nvSpPr>
          <p:cNvPr id="7" name="Rectangle 6"/>
          <p:cNvSpPr/>
          <p:nvPr/>
        </p:nvSpPr>
        <p:spPr>
          <a:xfrm>
            <a:off x="731520" y="3831335"/>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931920"/>
            <a:ext cx="10698480" cy="320040"/>
          </a:xfrm>
          <a:prstGeom prst="rect">
            <a:avLst/>
          </a:prstGeom>
          <a:noFill/>
        </p:spPr>
        <p:txBody>
          <a:bodyPr wrap="square" lIns="137160" rIns="137160">
            <a:spAutoFit/>
          </a:bodyPr>
          <a:lstStyle/>
          <a:p>
            <a:pPr algn="l">
              <a:defRPr sz="2200" b="1">
                <a:solidFill>
                  <a:srgbClr val="7B2D8E"/>
                </a:solidFill>
              </a:defRPr>
            </a:pPr>
            <a:r>
              <a:t>Key Engineering Iterations</a:t>
            </a:r>
          </a:p>
        </p:txBody>
      </p:sp>
      <p:sp>
        <p:nvSpPr>
          <p:cNvPr id="9" name="TextBox 8"/>
          <p:cNvSpPr txBox="1"/>
          <p:nvPr/>
        </p:nvSpPr>
        <p:spPr>
          <a:xfrm>
            <a:off x="731520" y="4297680"/>
            <a:ext cx="10698480" cy="2018588"/>
          </a:xfrm>
          <a:prstGeom prst="rect">
            <a:avLst/>
          </a:prstGeom>
          <a:noFill/>
        </p:spPr>
        <p:txBody>
          <a:bodyPr wrap="square" lIns="457200">
            <a:spAutoFit/>
          </a:bodyPr>
          <a:lstStyle/>
          <a:p>
            <a:pPr>
              <a:spcAft>
                <a:spcPts val="600"/>
              </a:spcAft>
              <a:defRPr sz="2200">
                <a:solidFill>
                  <a:srgbClr val="333333"/>
                </a:solidFill>
              </a:defRPr>
              <a:buNone/>
            </a:pPr>
            <a:r>
              <a:t>•  Binary rewards at G=8 insufficient -&gt; three-tier rewards + reasoning quality reward</a:t>
            </a:r>
          </a:p>
          <a:p>
            <a:pPr>
              <a:spcAft>
                <a:spcPts val="600"/>
              </a:spcAft>
              <a:defRPr sz="2200">
                <a:solidFill>
                  <a:srgbClr val="333333"/>
                </a:solidFill>
              </a:defRPr>
              <a:buNone/>
            </a:pPr>
            <a:r>
              <a:t>•  Planning overfitting in v4 (850-1024 tok planning, no answer) -&gt; conciseness penalty, higher format penalty</a:t>
            </a:r>
          </a:p>
          <a:p>
            <a:pPr>
              <a:spcAft>
                <a:spcPts val="600"/>
              </a:spcAft>
              <a:defRPr sz="2200">
                <a:solidFill>
                  <a:srgbClr val="333333"/>
                </a:solidFill>
              </a:defRPr>
              <a:buNone/>
            </a:pPr>
            <a:r>
              <a:t>•  Corr2Cause removed from GRPO training (SFT already achieves 74.6%, no GRPO needed)</a:t>
            </a:r>
          </a:p>
          <a:p>
            <a:pPr>
              <a:spcAft>
                <a:spcPts val="600"/>
              </a:spcAft>
              <a:defRPr sz="2200">
                <a:solidFill>
                  <a:srgbClr val="333333"/>
                </a:solidFill>
              </a:defRPr>
              <a:buNone/>
            </a:pPr>
            <a:r>
              <a:t>•  DPO deprecated entirely -- pipeline is now SFT -&gt; GRPO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Project Timeline</a:t>
            </a:r>
          </a:p>
        </p:txBody>
      </p:sp>
      <p:sp>
        <p:nvSpPr>
          <p:cNvPr id="3" name="TextBox 2"/>
          <p:cNvSpPr txBox="1"/>
          <p:nvPr/>
        </p:nvSpPr>
        <p:spPr>
          <a:xfrm>
            <a:off x="731520" y="1143000"/>
            <a:ext cx="10698480" cy="320040"/>
          </a:xfrm>
          <a:prstGeom prst="rect">
            <a:avLst/>
          </a:prstGeom>
          <a:noFill/>
        </p:spPr>
        <p:txBody>
          <a:bodyPr wrap="square" lIns="137160" rIns="137160">
            <a:spAutoFit/>
          </a:bodyPr>
          <a:lstStyle/>
          <a:p>
            <a:pPr algn="l">
              <a:defRPr sz="2200" b="1">
                <a:solidFill>
                  <a:srgbClr val="2E7D32"/>
                </a:solidFill>
              </a:defRPr>
            </a:pPr>
            <a:r>
              <a:t>Phase 1: SFT Training &amp; Evaluation (Completed)</a:t>
            </a:r>
          </a:p>
        </p:txBody>
      </p:sp>
      <p:sp>
        <p:nvSpPr>
          <p:cNvPr id="4" name="TextBox 3"/>
          <p:cNvSpPr txBox="1"/>
          <p:nvPr/>
        </p:nvSpPr>
        <p:spPr>
          <a:xfrm>
            <a:off x="731520" y="1508760"/>
            <a:ext cx="10698480" cy="1548231"/>
          </a:xfrm>
          <a:prstGeom prst="rect">
            <a:avLst/>
          </a:prstGeom>
          <a:noFill/>
        </p:spPr>
        <p:txBody>
          <a:bodyPr wrap="square" lIns="457200">
            <a:spAutoFit/>
          </a:bodyPr>
          <a:lstStyle/>
          <a:p>
            <a:pPr>
              <a:spcAft>
                <a:spcPts val="600"/>
              </a:spcAft>
              <a:defRPr sz="2200">
                <a:solidFill>
                  <a:srgbClr val="333333"/>
                </a:solidFill>
              </a:defRPr>
              <a:buNone/>
            </a:pPr>
            <a:r>
              <a:t>•  April-May 2026: Dataset assembly, teacher answer generation, SFT training</a:t>
            </a:r>
          </a:p>
          <a:p>
            <a:pPr>
              <a:spcAft>
                <a:spcPts val="600"/>
              </a:spcAft>
              <a:defRPr sz="2200">
                <a:solidFill>
                  <a:srgbClr val="333333"/>
                </a:solidFill>
              </a:defRPr>
              <a:buNone/>
            </a:pPr>
            <a:r>
              <a:t>•  May 20-23, 2026: BF16 evaluation (11-task suite), hedging artifact analysis</a:t>
            </a:r>
          </a:p>
          <a:p>
            <a:pPr>
              <a:spcAft>
                <a:spcPts val="600"/>
              </a:spcAft>
              <a:defRPr sz="2200">
                <a:solidFill>
                  <a:srgbClr val="333333"/>
                </a:solidFill>
              </a:defRPr>
              <a:buNone/>
            </a:pPr>
            <a:r>
              <a:t>•  May-June 2026: Paper draft (ICLR 2026 submission), additional SFT runs (Liberal, Libertarian)</a:t>
            </a:r>
          </a:p>
        </p:txBody>
      </p:sp>
      <p:sp>
        <p:nvSpPr>
          <p:cNvPr id="5" name="Rectangle 4"/>
          <p:cNvSpPr/>
          <p:nvPr/>
        </p:nvSpPr>
        <p:spPr>
          <a:xfrm>
            <a:off x="731520" y="328269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37560"/>
            <a:ext cx="10698480" cy="320040"/>
          </a:xfrm>
          <a:prstGeom prst="rect">
            <a:avLst/>
          </a:prstGeom>
          <a:noFill/>
        </p:spPr>
        <p:txBody>
          <a:bodyPr wrap="square" lIns="137160" rIns="137160">
            <a:spAutoFit/>
          </a:bodyPr>
          <a:lstStyle/>
          <a:p>
            <a:pPr algn="l">
              <a:defRPr sz="2200" b="1">
                <a:solidFill>
                  <a:srgbClr val="E65C00"/>
                </a:solidFill>
              </a:defRPr>
            </a:pPr>
            <a:r>
              <a:t>Phase 2: GRPO Training (In Progress -- Current)</a:t>
            </a:r>
          </a:p>
        </p:txBody>
      </p:sp>
      <p:sp>
        <p:nvSpPr>
          <p:cNvPr id="7" name="TextBox 6"/>
          <p:cNvSpPr txBox="1"/>
          <p:nvPr/>
        </p:nvSpPr>
        <p:spPr>
          <a:xfrm>
            <a:off x="731520" y="3703320"/>
            <a:ext cx="10698480" cy="1548231"/>
          </a:xfrm>
          <a:prstGeom prst="rect">
            <a:avLst/>
          </a:prstGeom>
          <a:noFill/>
        </p:spPr>
        <p:txBody>
          <a:bodyPr wrap="square" lIns="457200">
            <a:spAutoFit/>
          </a:bodyPr>
          <a:lstStyle/>
          <a:p>
            <a:pPr>
              <a:spcAft>
                <a:spcPts val="600"/>
              </a:spcAft>
              <a:defRPr sz="2200">
                <a:solidFill>
                  <a:srgbClr val="333333"/>
                </a:solidFill>
              </a:defRPr>
              <a:buNone/>
            </a:pPr>
            <a:r>
              <a:t>•  June 3-13: Reward design, script implementation, initial runs (gradient/planning fixes)</a:t>
            </a:r>
          </a:p>
          <a:p>
            <a:pPr>
              <a:spcAft>
                <a:spcPts val="600"/>
              </a:spcAft>
              <a:defRPr sz="2200">
                <a:solidFill>
                  <a:srgbClr val="333333"/>
                </a:solidFill>
              </a:defRPr>
              <a:buNone/>
            </a:pPr>
            <a:r>
              <a:t>•  June 14-19: Current v3/v4 runs (target 1,500 steps each)</a:t>
            </a:r>
          </a:p>
          <a:p>
            <a:pPr>
              <a:spcAft>
                <a:spcPts val="600"/>
              </a:spcAft>
              <a:defRPr sz="2200">
                <a:solidFill>
                  <a:srgbClr val="333333"/>
                </a:solidFill>
              </a:defRPr>
              <a:buNone/>
            </a:pPr>
            <a:r>
              <a:t>•  June 18-28: Checkpoint merge, evaluation, tagless testing, v3 vs v4 comparison</a:t>
            </a:r>
          </a:p>
        </p:txBody>
      </p:sp>
      <p:sp>
        <p:nvSpPr>
          <p:cNvPr id="8" name="Rectangle 7"/>
          <p:cNvSpPr/>
          <p:nvPr/>
        </p:nvSpPr>
        <p:spPr>
          <a:xfrm>
            <a:off x="731520" y="547725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32120"/>
            <a:ext cx="10698480" cy="320040"/>
          </a:xfrm>
          <a:prstGeom prst="rect">
            <a:avLst/>
          </a:prstGeom>
          <a:noFill/>
        </p:spPr>
        <p:txBody>
          <a:bodyPr wrap="square" lIns="137160" rIns="137160">
            <a:spAutoFit/>
          </a:bodyPr>
          <a:lstStyle/>
          <a:p>
            <a:pPr algn="l">
              <a:defRPr sz="2200" b="1">
                <a:solidFill>
                  <a:srgbClr val="1565C0"/>
                </a:solidFill>
              </a:defRPr>
            </a:pPr>
            <a:r>
              <a:t>Phase 3: Multi-Ideology Evaluation (Planned)</a:t>
            </a:r>
          </a:p>
        </p:txBody>
      </p:sp>
      <p:sp>
        <p:nvSpPr>
          <p:cNvPr id="10" name="TextBox 9"/>
          <p:cNvSpPr txBox="1"/>
          <p:nvPr/>
        </p:nvSpPr>
        <p:spPr>
          <a:xfrm>
            <a:off x="731520" y="5897880"/>
            <a:ext cx="10698480" cy="1077874"/>
          </a:xfrm>
          <a:prstGeom prst="rect">
            <a:avLst/>
          </a:prstGeom>
          <a:noFill/>
        </p:spPr>
        <p:txBody>
          <a:bodyPr wrap="square" lIns="457200">
            <a:spAutoFit/>
          </a:bodyPr>
          <a:lstStyle/>
          <a:p>
            <a:pPr>
              <a:spcAft>
                <a:spcPts val="600"/>
              </a:spcAft>
              <a:defRPr sz="2200">
                <a:solidFill>
                  <a:srgbClr val="333333"/>
                </a:solidFill>
              </a:defRPr>
              <a:buNone/>
            </a:pPr>
            <a:r>
              <a:t>•  June 20-22: Liberal and Libertarian model BF16 evaluation (11 tasks each)</a:t>
            </a:r>
          </a:p>
          <a:p>
            <a:pPr>
              <a:spcAft>
                <a:spcPts val="600"/>
              </a:spcAft>
              <a:defRPr sz="2200">
                <a:solidFill>
                  <a:srgbClr val="333333"/>
                </a:solidFill>
              </a:defRPr>
              <a:buNone/>
            </a:pPr>
            <a:r>
              <a:t>•  June 22-28: Four-model comparison, ideology-specificity analysis</a:t>
            </a:r>
          </a:p>
        </p:txBody>
      </p:sp>
      <p:sp>
        <p:nvSpPr>
          <p:cNvPr id="11" name="Rectangle 10"/>
          <p:cNvSpPr/>
          <p:nvPr/>
        </p:nvSpPr>
        <p:spPr>
          <a:xfrm>
            <a:off x="731520" y="748893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543800"/>
            <a:ext cx="10698480" cy="320040"/>
          </a:xfrm>
          <a:prstGeom prst="rect">
            <a:avLst/>
          </a:prstGeom>
          <a:noFill/>
        </p:spPr>
        <p:txBody>
          <a:bodyPr wrap="square" lIns="137160" rIns="137160">
            <a:spAutoFit/>
          </a:bodyPr>
          <a:lstStyle/>
          <a:p>
            <a:pPr algn="l">
              <a:defRPr sz="2200" b="1">
                <a:solidFill>
                  <a:srgbClr val="7B2D8E"/>
                </a:solidFill>
              </a:defRPr>
            </a:pPr>
            <a:r>
              <a:t>Phase 4: Final Analysis &amp; Paper Revision (Planned)</a:t>
            </a:r>
          </a:p>
        </p:txBody>
      </p:sp>
      <p:sp>
        <p:nvSpPr>
          <p:cNvPr id="13" name="TextBox 12"/>
          <p:cNvSpPr txBox="1"/>
          <p:nvPr/>
        </p:nvSpPr>
        <p:spPr>
          <a:xfrm>
            <a:off x="731520" y="7909560"/>
            <a:ext cx="10698480" cy="1548231"/>
          </a:xfrm>
          <a:prstGeom prst="rect">
            <a:avLst/>
          </a:prstGeom>
          <a:noFill/>
        </p:spPr>
        <p:txBody>
          <a:bodyPr wrap="square" lIns="457200">
            <a:spAutoFit/>
          </a:bodyPr>
          <a:lstStyle/>
          <a:p>
            <a:pPr>
              <a:spcAft>
                <a:spcPts val="600"/>
              </a:spcAft>
              <a:defRPr sz="2200">
                <a:solidFill>
                  <a:srgbClr val="333333"/>
                </a:solidFill>
              </a:defRPr>
              <a:buNone/>
            </a:pPr>
            <a:r>
              <a:t>•  June 28 - July 5: Consolidate results, statistical significance testing</a:t>
            </a:r>
          </a:p>
          <a:p>
            <a:pPr>
              <a:spcAft>
                <a:spcPts val="600"/>
              </a:spcAft>
              <a:defRPr sz="2200">
                <a:solidFill>
                  <a:srgbClr val="333333"/>
                </a:solidFill>
              </a:defRPr>
              <a:buNone/>
            </a:pPr>
            <a:r>
              <a:t>•  July 5-15: Paper revision incorporating GRPO results</a:t>
            </a:r>
          </a:p>
          <a:p>
            <a:pPr>
              <a:spcAft>
                <a:spcPts val="600"/>
              </a:spcAft>
              <a:defRPr sz="2200">
                <a:solidFill>
                  <a:srgbClr val="333333"/>
                </a:solidFill>
              </a:defRPr>
              <a:buNone/>
            </a:pPr>
            <a:r>
              <a:t>•  July 15-20: Final project report and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Evaluation Plan and Success Criteria</a:t>
            </a:r>
          </a:p>
        </p:txBody>
      </p:sp>
      <p:sp>
        <p:nvSpPr>
          <p:cNvPr id="3" name="TextBox 2"/>
          <p:cNvSpPr txBox="1"/>
          <p:nvPr/>
        </p:nvSpPr>
        <p:spPr>
          <a:xfrm>
            <a:off x="731520" y="1143000"/>
            <a:ext cx="10698480" cy="320040"/>
          </a:xfrm>
          <a:prstGeom prst="rect">
            <a:avLst/>
          </a:prstGeom>
          <a:noFill/>
        </p:spPr>
        <p:txBody>
          <a:bodyPr wrap="square" lIns="137160" rIns="137160">
            <a:spAutoFit/>
          </a:bodyPr>
          <a:lstStyle/>
          <a:p>
            <a:pPr algn="l">
              <a:defRPr sz="2200" b="1">
                <a:solidFill>
                  <a:srgbClr val="7B2D8E"/>
                </a:solidFill>
              </a:defRPr>
            </a:pPr>
            <a:r>
              <a:t>Primary Metric</a:t>
            </a:r>
          </a:p>
        </p:txBody>
      </p:sp>
      <p:sp>
        <p:nvSpPr>
          <p:cNvPr id="4" name="TextBox 3"/>
          <p:cNvSpPr txBox="1"/>
          <p:nvPr/>
        </p:nvSpPr>
        <p:spPr>
          <a:xfrm>
            <a:off x="731520" y="1508760"/>
            <a:ext cx="10698480" cy="1548231"/>
          </a:xfrm>
          <a:prstGeom prst="rect">
            <a:avLst/>
          </a:prstGeom>
          <a:noFill/>
        </p:spPr>
        <p:txBody>
          <a:bodyPr wrap="square" lIns="457200">
            <a:spAutoFit/>
          </a:bodyPr>
          <a:lstStyle/>
          <a:p>
            <a:pPr>
              <a:spcAft>
                <a:spcPts val="600"/>
              </a:spcAft>
              <a:defRPr sz="2200">
                <a:solidFill>
                  <a:srgbClr val="333333"/>
                </a:solidFill>
              </a:defRPr>
              <a:buNone/>
            </a:pPr>
            <a:r>
              <a:t>•  EconCausal accuracy (Task1 Econ, Task1 Finance, Task2, Task3)</a:t>
            </a:r>
          </a:p>
          <a:p>
            <a:pPr>
              <a:spcAft>
                <a:spcPts val="600"/>
              </a:spcAft>
              <a:defRPr sz="2200">
                <a:solidFill>
                  <a:srgbClr val="333333"/>
                </a:solidFill>
              </a:defRPr>
              <a:buNone/>
            </a:pPr>
            <a:r>
              <a:t>•  Success: v4 shows statistically significant improvement over SFT on at least one Task1 subtask (p &lt; 0.025, Bonferroni-corrected)</a:t>
            </a:r>
          </a:p>
          <a:p>
            <a:pPr>
              <a:spcAft>
                <a:spcPts val="600"/>
              </a:spcAft>
              <a:defRPr sz="2200">
                <a:solidFill>
                  <a:srgbClr val="333333"/>
                </a:solidFill>
              </a:defRPr>
              <a:buNone/>
            </a:pPr>
            <a:r>
              <a:t>•  Answer distribution tracking: reduction in + to mixed hedging rate</a:t>
            </a:r>
          </a:p>
        </p:txBody>
      </p:sp>
      <p:sp>
        <p:nvSpPr>
          <p:cNvPr id="5" name="Rectangle 4"/>
          <p:cNvSpPr/>
          <p:nvPr/>
        </p:nvSpPr>
        <p:spPr>
          <a:xfrm>
            <a:off x="731520" y="328269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37560"/>
            <a:ext cx="10698480" cy="320040"/>
          </a:xfrm>
          <a:prstGeom prst="rect">
            <a:avLst/>
          </a:prstGeom>
          <a:noFill/>
        </p:spPr>
        <p:txBody>
          <a:bodyPr wrap="square" lIns="137160" rIns="137160">
            <a:spAutoFit/>
          </a:bodyPr>
          <a:lstStyle/>
          <a:p>
            <a:pPr algn="l">
              <a:defRPr sz="2200" b="1">
                <a:solidFill>
                  <a:srgbClr val="7B2D8E"/>
                </a:solidFill>
              </a:defRPr>
            </a:pPr>
            <a:r>
              <a:t>Secondary Metrics</a:t>
            </a:r>
          </a:p>
        </p:txBody>
      </p:sp>
      <p:sp>
        <p:nvSpPr>
          <p:cNvPr id="7" name="TextBox 6"/>
          <p:cNvSpPr txBox="1"/>
          <p:nvPr/>
        </p:nvSpPr>
        <p:spPr>
          <a:xfrm>
            <a:off x="731520" y="3703320"/>
            <a:ext cx="10698480" cy="1548231"/>
          </a:xfrm>
          <a:prstGeom prst="rect">
            <a:avLst/>
          </a:prstGeom>
          <a:noFill/>
        </p:spPr>
        <p:txBody>
          <a:bodyPr wrap="square" lIns="457200">
            <a:spAutoFit/>
          </a:bodyPr>
          <a:lstStyle/>
          <a:p>
            <a:pPr>
              <a:spcAft>
                <a:spcPts val="600"/>
              </a:spcAft>
              <a:defRPr sz="2200">
                <a:solidFill>
                  <a:srgbClr val="333333"/>
                </a:solidFill>
              </a:defRPr>
              <a:buNone/>
            </a:pPr>
            <a:r>
              <a:t>•  Corr2Cause accuracy -- no degradation from EconCausal-focused GRPO</a:t>
            </a:r>
          </a:p>
          <a:p>
            <a:pPr>
              <a:spcAft>
                <a:spcPts val="600"/>
              </a:spcAft>
              <a:defRPr sz="2200">
                <a:solidFill>
                  <a:srgbClr val="333333"/>
                </a:solidFill>
              </a:defRPr>
              <a:buNone/>
            </a:pPr>
            <a:r>
              <a:t>•  HumanEval pass@1 -- no coding capability degradation</a:t>
            </a:r>
          </a:p>
          <a:p>
            <a:pPr>
              <a:spcAft>
                <a:spcPts val="600"/>
              </a:spcAft>
              <a:defRPr sz="2200">
                <a:solidFill>
                  <a:srgbClr val="333333"/>
                </a:solidFill>
              </a:defRPr>
              <a:buNone/>
            </a:pPr>
            <a:r>
              <a:t>•  Directional assertion rate -- fraction of answers that are + or - rather than mixed</a:t>
            </a:r>
          </a:p>
        </p:txBody>
      </p:sp>
      <p:sp>
        <p:nvSpPr>
          <p:cNvPr id="8" name="Rectangle 7"/>
          <p:cNvSpPr/>
          <p:nvPr/>
        </p:nvSpPr>
        <p:spPr>
          <a:xfrm>
            <a:off x="731520" y="5477256"/>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32120"/>
            <a:ext cx="10698480" cy="320040"/>
          </a:xfrm>
          <a:prstGeom prst="rect">
            <a:avLst/>
          </a:prstGeom>
          <a:noFill/>
        </p:spPr>
        <p:txBody>
          <a:bodyPr wrap="square" lIns="137160" rIns="137160">
            <a:spAutoFit/>
          </a:bodyPr>
          <a:lstStyle/>
          <a:p>
            <a:pPr algn="l">
              <a:defRPr sz="2200" b="1">
                <a:solidFill>
                  <a:srgbClr val="7B2D8E"/>
                </a:solidFill>
              </a:defRPr>
            </a:pPr>
            <a:r>
              <a:t>Multi-Ideology Hypothesis</a:t>
            </a:r>
          </a:p>
        </p:txBody>
      </p:sp>
      <p:sp>
        <p:nvSpPr>
          <p:cNvPr id="10" name="TextBox 9"/>
          <p:cNvSpPr txBox="1"/>
          <p:nvPr/>
        </p:nvSpPr>
        <p:spPr>
          <a:xfrm>
            <a:off x="731520" y="5897880"/>
            <a:ext cx="10698480" cy="1548231"/>
          </a:xfrm>
          <a:prstGeom prst="rect">
            <a:avLst/>
          </a:prstGeom>
          <a:noFill/>
        </p:spPr>
        <p:txBody>
          <a:bodyPr wrap="square" lIns="457200">
            <a:spAutoFit/>
          </a:bodyPr>
          <a:lstStyle/>
          <a:p>
            <a:pPr>
              <a:spcAft>
                <a:spcPts val="600"/>
              </a:spcAft>
              <a:defRPr sz="2200">
                <a:solidFill>
                  <a:srgbClr val="333333"/>
                </a:solidFill>
              </a:defRPr>
              <a:buNone/>
            </a:pPr>
            <a:r>
              <a:t>•  If Libertarian SFT shows minimal EconCausal regression: the hedging bias is DM-specific</a:t>
            </a:r>
          </a:p>
          <a:p>
            <a:pPr>
              <a:spcAft>
                <a:spcPts val="600"/>
              </a:spcAft>
              <a:defRPr sz="2200">
                <a:solidFill>
                  <a:srgbClr val="333333"/>
                </a:solidFill>
              </a:defRPr>
              <a:buNone/>
            </a:pPr>
            <a:r>
              <a:t>•  If Liberal SFT also regresses significantly: the regression is a general SFT effect</a:t>
            </a:r>
          </a:p>
          <a:p>
            <a:pPr>
              <a:spcAft>
                <a:spcPts val="600"/>
              </a:spcAft>
              <a:defRPr sz="2200">
                <a:solidFill>
                  <a:srgbClr val="333333"/>
                </a:solidFill>
              </a:defRPr>
              <a:buNone/>
            </a:pPr>
            <a:r>
              <a:t>•  If both regress identically to DM: regression is a function of training volume, not ideology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Current Challenges and Mitigations</a:t>
            </a:r>
          </a:p>
        </p:txBody>
      </p:sp>
      <p:sp>
        <p:nvSpPr>
          <p:cNvPr id="3" name="TextBox 2"/>
          <p:cNvSpPr txBox="1"/>
          <p:nvPr/>
        </p:nvSpPr>
        <p:spPr>
          <a:xfrm>
            <a:off x="731520" y="1143000"/>
            <a:ext cx="10698480" cy="320040"/>
          </a:xfrm>
          <a:prstGeom prst="rect">
            <a:avLst/>
          </a:prstGeom>
          <a:noFill/>
        </p:spPr>
        <p:txBody>
          <a:bodyPr wrap="square" lIns="137160" rIns="137160">
            <a:spAutoFit/>
          </a:bodyPr>
          <a:lstStyle/>
          <a:p>
            <a:pPr algn="l">
              <a:defRPr sz="2200" b="1">
                <a:solidFill>
                  <a:srgbClr val="C62828"/>
                </a:solidFill>
              </a:defRPr>
            </a:pPr>
            <a:r>
              <a:t>Gradient Quantization</a:t>
            </a:r>
          </a:p>
        </p:txBody>
      </p:sp>
      <p:sp>
        <p:nvSpPr>
          <p:cNvPr id="4" name="TextBox 3"/>
          <p:cNvSpPr txBox="1"/>
          <p:nvPr/>
        </p:nvSpPr>
        <p:spPr>
          <a:xfrm>
            <a:off x="731520" y="1508760"/>
            <a:ext cx="10698480" cy="1048664"/>
          </a:xfrm>
          <a:prstGeom prst="rect">
            <a:avLst/>
          </a:prstGeom>
          <a:noFill/>
        </p:spPr>
        <p:txBody>
          <a:bodyPr wrap="square" lIns="457200">
            <a:spAutoFit/>
          </a:bodyPr>
          <a:lstStyle/>
          <a:p>
            <a:pPr>
              <a:spcAft>
                <a:spcPts val="600"/>
              </a:spcAft>
              <a:defRPr sz="2100">
                <a:solidFill>
                  <a:srgbClr val="333333"/>
                </a:solidFill>
              </a:defRPr>
              <a:buNone/>
            </a:pPr>
            <a:r>
              <a:t>•  Binary rewards at G=8 give too few distinct advantage values per step</a:t>
            </a:r>
          </a:p>
          <a:p>
            <a:pPr>
              <a:spcAft>
                <a:spcPts val="600"/>
              </a:spcAft>
              <a:defRPr sz="2100">
                <a:solidFill>
                  <a:srgbClr val="333333"/>
                </a:solidFill>
              </a:defRPr>
              <a:buNone/>
            </a:pPr>
            <a:r>
              <a:t>•  Fixed: three-tier rewards expand range from 2 to 20+ distinct values</a:t>
            </a:r>
          </a:p>
        </p:txBody>
      </p:sp>
      <p:sp>
        <p:nvSpPr>
          <p:cNvPr id="5" name="TextBox 4"/>
          <p:cNvSpPr txBox="1"/>
          <p:nvPr/>
        </p:nvSpPr>
        <p:spPr>
          <a:xfrm>
            <a:off x="731520" y="2877464"/>
            <a:ext cx="10698480" cy="320040"/>
          </a:xfrm>
          <a:prstGeom prst="rect">
            <a:avLst/>
          </a:prstGeom>
          <a:noFill/>
        </p:spPr>
        <p:txBody>
          <a:bodyPr wrap="square" lIns="137160" rIns="137160">
            <a:spAutoFit/>
          </a:bodyPr>
          <a:lstStyle/>
          <a:p>
            <a:pPr algn="l">
              <a:defRPr sz="2200" b="1">
                <a:solidFill>
                  <a:srgbClr val="C62828"/>
                </a:solidFill>
              </a:defRPr>
            </a:pPr>
            <a:r>
              <a:t>Planning Overfitting (v4)</a:t>
            </a:r>
          </a:p>
        </p:txBody>
      </p:sp>
      <p:sp>
        <p:nvSpPr>
          <p:cNvPr id="6" name="TextBox 5"/>
          <p:cNvSpPr txBox="1"/>
          <p:nvPr/>
        </p:nvSpPr>
        <p:spPr>
          <a:xfrm>
            <a:off x="731520" y="3243224"/>
            <a:ext cx="10698480" cy="1048664"/>
          </a:xfrm>
          <a:prstGeom prst="rect">
            <a:avLst/>
          </a:prstGeom>
          <a:noFill/>
        </p:spPr>
        <p:txBody>
          <a:bodyPr wrap="square" lIns="457200">
            <a:spAutoFit/>
          </a:bodyPr>
          <a:lstStyle/>
          <a:p>
            <a:pPr>
              <a:spcAft>
                <a:spcPts val="600"/>
              </a:spcAft>
              <a:defRPr sz="2100">
                <a:solidFill>
                  <a:srgbClr val="333333"/>
                </a:solidFill>
              </a:defRPr>
              <a:buNone/>
            </a:pPr>
            <a:r>
              <a:t>•  Model fills 850-1024 tokens with planning, never produces answer</a:t>
            </a:r>
          </a:p>
          <a:p>
            <a:pPr>
              <a:spcAft>
                <a:spcPts val="600"/>
              </a:spcAft>
              <a:defRPr sz="2100">
                <a:solidFill>
                  <a:srgbClr val="333333"/>
                </a:solidFill>
              </a:defRPr>
              <a:buNone/>
            </a:pPr>
            <a:r>
              <a:t>•  Fixed: conciseness penalty, format penalty increased to -0.25 per missing tag</a:t>
            </a:r>
          </a:p>
        </p:txBody>
      </p:sp>
      <p:sp>
        <p:nvSpPr>
          <p:cNvPr id="7" name="TextBox 6"/>
          <p:cNvSpPr txBox="1"/>
          <p:nvPr/>
        </p:nvSpPr>
        <p:spPr>
          <a:xfrm>
            <a:off x="731520" y="4611928"/>
            <a:ext cx="10698480" cy="320040"/>
          </a:xfrm>
          <a:prstGeom prst="rect">
            <a:avLst/>
          </a:prstGeom>
          <a:noFill/>
        </p:spPr>
        <p:txBody>
          <a:bodyPr wrap="square" lIns="137160" rIns="137160">
            <a:spAutoFit/>
          </a:bodyPr>
          <a:lstStyle/>
          <a:p>
            <a:pPr algn="l">
              <a:defRPr sz="2200" b="1">
                <a:solidFill>
                  <a:srgbClr val="C62828"/>
                </a:solidFill>
              </a:defRPr>
            </a:pPr>
            <a:r>
              <a:t>Loss Convergence</a:t>
            </a:r>
          </a:p>
        </p:txBody>
      </p:sp>
      <p:sp>
        <p:nvSpPr>
          <p:cNvPr id="8" name="TextBox 7"/>
          <p:cNvSpPr txBox="1"/>
          <p:nvPr/>
        </p:nvSpPr>
        <p:spPr>
          <a:xfrm>
            <a:off x="731520" y="4977688"/>
            <a:ext cx="10698480" cy="1048664"/>
          </a:xfrm>
          <a:prstGeom prst="rect">
            <a:avLst/>
          </a:prstGeom>
          <a:noFill/>
        </p:spPr>
        <p:txBody>
          <a:bodyPr wrap="square" lIns="457200">
            <a:spAutoFit/>
          </a:bodyPr>
          <a:lstStyle/>
          <a:p>
            <a:pPr>
              <a:spcAft>
                <a:spcPts val="600"/>
              </a:spcAft>
              <a:defRPr sz="2100">
                <a:solidFill>
                  <a:srgbClr val="333333"/>
                </a:solidFill>
              </a:defRPr>
              <a:buNone/>
            </a:pPr>
            <a:r>
              <a:t>•  Neither v3 nor v4 shows downward loss trend; both oscillate near zero</a:t>
            </a:r>
          </a:p>
          <a:p>
            <a:pPr>
              <a:spcAft>
                <a:spcPts val="600"/>
              </a:spcAft>
              <a:defRPr sz="2100">
                <a:solidFill>
                  <a:srgbClr val="333333"/>
                </a:solidFill>
              </a:defRPr>
              <a:buNone/>
            </a:pPr>
            <a:r>
              <a:t>•  Expected for GRPO at equilibrium; monitoring reward trajectory instead</a:t>
            </a:r>
          </a:p>
        </p:txBody>
      </p:sp>
      <p:sp>
        <p:nvSpPr>
          <p:cNvPr id="9" name="TextBox 8"/>
          <p:cNvSpPr txBox="1"/>
          <p:nvPr/>
        </p:nvSpPr>
        <p:spPr>
          <a:xfrm>
            <a:off x="731520" y="6346393"/>
            <a:ext cx="10698480" cy="320040"/>
          </a:xfrm>
          <a:prstGeom prst="rect">
            <a:avLst/>
          </a:prstGeom>
          <a:noFill/>
        </p:spPr>
        <p:txBody>
          <a:bodyPr wrap="square" lIns="137160" rIns="137160">
            <a:spAutoFit/>
          </a:bodyPr>
          <a:lstStyle/>
          <a:p>
            <a:pPr algn="l">
              <a:defRPr sz="2200" b="1">
                <a:solidFill>
                  <a:srgbClr val="C62828"/>
                </a:solidFill>
              </a:defRPr>
            </a:pPr>
            <a:r>
              <a:t>Process-Outcome Decoupling (v4)</a:t>
            </a:r>
          </a:p>
        </p:txBody>
      </p:sp>
      <p:sp>
        <p:nvSpPr>
          <p:cNvPr id="10" name="TextBox 9"/>
          <p:cNvSpPr txBox="1"/>
          <p:nvPr/>
        </p:nvSpPr>
        <p:spPr>
          <a:xfrm>
            <a:off x="731520" y="6712153"/>
            <a:ext cx="10698480" cy="1048664"/>
          </a:xfrm>
          <a:prstGeom prst="rect">
            <a:avLst/>
          </a:prstGeom>
          <a:noFill/>
        </p:spPr>
        <p:txBody>
          <a:bodyPr wrap="square" lIns="457200">
            <a:spAutoFit/>
          </a:bodyPr>
          <a:lstStyle/>
          <a:p>
            <a:pPr>
              <a:spcAft>
                <a:spcPts val="600"/>
              </a:spcAft>
              <a:defRPr sz="2100">
                <a:solidFill>
                  <a:srgbClr val="333333"/>
                </a:solidFill>
              </a:defRPr>
              <a:buNone/>
            </a:pPr>
            <a:r>
              <a:t>•  Process reward stable at 0.55 but not correlated with outcome improvement</a:t>
            </a:r>
          </a:p>
          <a:p>
            <a:pPr>
              <a:spcAft>
                <a:spcPts val="600"/>
              </a:spcAft>
              <a:defRPr sz="2100">
                <a:solidFill>
                  <a:srgbClr val="333333"/>
                </a:solidFill>
              </a:defRPr>
              <a:buNone/>
            </a:pPr>
            <a:r>
              <a:t>•  Model earns process credit without accuracy gains; monitoring through step 1,500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1051560"/>
          </a:xfrm>
          <a:prstGeom prst="rect">
            <a:avLst/>
          </a:prstGeom>
          <a:solidFill>
            <a:srgbClr val="7B2D8E"/>
          </a:solidFill>
        </p:spPr>
        <p:txBody>
          <a:bodyPr wrap="square" lIns="548640" tIns="91440">
            <a:spAutoFit/>
          </a:bodyPr>
          <a:lstStyle/>
          <a:p>
            <a:pPr>
              <a:defRPr sz="3200" b="1">
                <a:solidFill>
                  <a:srgbClr val="FFFFFF"/>
                </a:solidFill>
              </a:defRPr>
            </a:pPr>
            <a:r>
              <a:t>Summary and Next Steps</a:t>
            </a:r>
          </a:p>
        </p:txBody>
      </p:sp>
      <p:sp>
        <p:nvSpPr>
          <p:cNvPr id="3" name="TextBox 2"/>
          <p:cNvSpPr txBox="1"/>
          <p:nvPr/>
        </p:nvSpPr>
        <p:spPr>
          <a:xfrm>
            <a:off x="731520" y="1143000"/>
            <a:ext cx="10698480" cy="320040"/>
          </a:xfrm>
          <a:prstGeom prst="rect">
            <a:avLst/>
          </a:prstGeom>
          <a:noFill/>
        </p:spPr>
        <p:txBody>
          <a:bodyPr wrap="square" lIns="137160" rIns="137160">
            <a:spAutoFit/>
          </a:bodyPr>
          <a:lstStyle/>
          <a:p>
            <a:pPr algn="l">
              <a:defRPr sz="2400" b="1">
                <a:solidFill>
                  <a:srgbClr val="2E7D32"/>
                </a:solidFill>
              </a:defRPr>
            </a:pPr>
            <a:r>
              <a:t>Completed So Far</a:t>
            </a:r>
          </a:p>
        </p:txBody>
      </p:sp>
      <p:sp>
        <p:nvSpPr>
          <p:cNvPr id="4" name="TextBox 3"/>
          <p:cNvSpPr txBox="1"/>
          <p:nvPr/>
        </p:nvSpPr>
        <p:spPr>
          <a:xfrm>
            <a:off x="731520" y="1554480"/>
            <a:ext cx="10698480" cy="2135428"/>
          </a:xfrm>
          <a:prstGeom prst="rect">
            <a:avLst/>
          </a:prstGeom>
          <a:noFill/>
        </p:spPr>
        <p:txBody>
          <a:bodyPr wrap="square" lIns="457200">
            <a:spAutoFit/>
          </a:bodyPr>
          <a:lstStyle/>
          <a:p>
            <a:pPr>
              <a:spcAft>
                <a:spcPts val="600"/>
              </a:spcAft>
              <a:defRPr sz="2400">
                <a:solidFill>
                  <a:srgbClr val="333333"/>
                </a:solidFill>
              </a:defRPr>
              <a:buNone/>
            </a:pPr>
            <a:r>
              <a:t>•  SFT on 1,500 DM-aligned Q&amp;A pairs -- completed with dramatic divergent results</a:t>
            </a:r>
          </a:p>
          <a:p>
            <a:pPr>
              <a:spcAft>
                <a:spcPts val="600"/>
              </a:spcAft>
              <a:defRPr sz="2400">
                <a:solidFill>
                  <a:srgbClr val="333333"/>
                </a:solidFill>
              </a:defRPr>
              <a:buNone/>
            </a:pPr>
            <a:r>
              <a:t>•  Corr2Cause +38.3pp (formal logic strengthened), EconCausal -12.4pp (applied reasoning regressed)</a:t>
            </a:r>
          </a:p>
          <a:p>
            <a:pPr>
              <a:spcAft>
                <a:spcPts val="600"/>
              </a:spcAft>
              <a:defRPr sz="2400">
                <a:solidFill>
                  <a:srgbClr val="333333"/>
                </a:solidFill>
              </a:defRPr>
              <a:buNone/>
            </a:pPr>
            <a:r>
              <a:t>•  Root cause identified: emergent hedging bias from transferred epistemic prior</a:t>
            </a:r>
          </a:p>
          <a:p>
            <a:pPr>
              <a:spcAft>
                <a:spcPts val="600"/>
              </a:spcAft>
              <a:defRPr sz="2400">
                <a:solidFill>
                  <a:srgbClr val="333333"/>
                </a:solidFill>
              </a:defRPr>
              <a:buNone/>
            </a:pPr>
            <a:r>
              <a:t>•  Paper draft submitted (ICLR 2026), two additional SFT models trained (Liberal, Libertarian)</a:t>
            </a:r>
          </a:p>
        </p:txBody>
      </p:sp>
      <p:sp>
        <p:nvSpPr>
          <p:cNvPr id="5" name="Rectangle 4"/>
          <p:cNvSpPr/>
          <p:nvPr/>
        </p:nvSpPr>
        <p:spPr>
          <a:xfrm>
            <a:off x="731520" y="3877055"/>
            <a:ext cx="10698480" cy="36576"/>
          </a:xfrm>
          <a:prstGeom prst="rect">
            <a:avLst/>
          </a:prstGeom>
          <a:solidFill>
            <a:srgbClr val="F0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20040"/>
          </a:xfrm>
          <a:prstGeom prst="rect">
            <a:avLst/>
          </a:prstGeom>
          <a:noFill/>
        </p:spPr>
        <p:txBody>
          <a:bodyPr wrap="square" lIns="137160" rIns="137160">
            <a:spAutoFit/>
          </a:bodyPr>
          <a:lstStyle/>
          <a:p>
            <a:pPr algn="l">
              <a:defRPr sz="2400" b="1">
                <a:solidFill>
                  <a:srgbClr val="E65C00"/>
                </a:solidFill>
              </a:defRPr>
            </a:pPr>
            <a:r>
              <a:t>Immediate Next Steps</a:t>
            </a:r>
          </a:p>
        </p:txBody>
      </p:sp>
      <p:sp>
        <p:nvSpPr>
          <p:cNvPr id="7" name="TextBox 6"/>
          <p:cNvSpPr txBox="1"/>
          <p:nvPr/>
        </p:nvSpPr>
        <p:spPr>
          <a:xfrm>
            <a:off x="731520" y="4343400"/>
            <a:ext cx="10698480" cy="2634995"/>
          </a:xfrm>
          <a:prstGeom prst="rect">
            <a:avLst/>
          </a:prstGeom>
          <a:noFill/>
        </p:spPr>
        <p:txBody>
          <a:bodyPr wrap="square" lIns="457200">
            <a:spAutoFit/>
          </a:bodyPr>
          <a:lstStyle/>
          <a:p>
            <a:pPr>
              <a:spcAft>
                <a:spcPts val="600"/>
              </a:spcAft>
              <a:defRPr sz="2400">
                <a:solidFill>
                  <a:srgbClr val="333333"/>
                </a:solidFill>
              </a:defRPr>
              <a:buNone/>
            </a:pPr>
            <a:r>
              <a:t>•  Complete v3 and v4 GRPO runs (target 1,500 steps, ~June 19)</a:t>
            </a:r>
          </a:p>
          <a:p>
            <a:pPr>
              <a:spcAft>
                <a:spcPts val="600"/>
              </a:spcAft>
              <a:defRPr sz="2400">
                <a:solidFill>
                  <a:srgbClr val="333333"/>
                </a:solidFill>
              </a:defRPr>
              <a:buNone/>
            </a:pPr>
            <a:r>
              <a:t>•  Merge checkpoints, run BF16 evaluation on EconCausal + regression tests</a:t>
            </a:r>
          </a:p>
          <a:p>
            <a:pPr>
              <a:spcAft>
                <a:spcPts val="600"/>
              </a:spcAft>
              <a:defRPr sz="2400">
                <a:solidFill>
                  <a:srgbClr val="333333"/>
                </a:solidFill>
              </a:defRPr>
              <a:buNone/>
            </a:pPr>
            <a:r>
              <a:t>•  Tagless evaluation of v4 (verify skill transfer to free-form output)</a:t>
            </a:r>
          </a:p>
          <a:p>
            <a:pPr>
              <a:spcAft>
                <a:spcPts val="600"/>
              </a:spcAft>
              <a:defRPr sz="2400">
                <a:solidFill>
                  <a:srgbClr val="333333"/>
                </a:solidFill>
              </a:defRPr>
              <a:buNone/>
            </a:pPr>
            <a:r>
              <a:t>•  Evaluate Liberal and Libertarian SFT models on full benchmark suite</a:t>
            </a:r>
          </a:p>
          <a:p>
            <a:pPr>
              <a:spcAft>
                <a:spcPts val="600"/>
              </a:spcAft>
              <a:defRPr sz="2400">
                <a:solidFill>
                  <a:srgbClr val="333333"/>
                </a:solidFill>
              </a:defRPr>
              <a:buNone/>
            </a:pPr>
            <a:r>
              <a:t>•  Consolidate results, statistical testing, paper revision (target mid-July)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