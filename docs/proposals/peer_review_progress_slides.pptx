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Mid-project update. Phase 1 SFT and evaluation are complete. Final submission June 20. GRPO and multi-ideology work continue as future research.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All frontier models converge on carbon pricing despite evidence of insufficient price levels and net negative fiscal signals. We ask whether SFT on a non-dominant framework can shift reasoning beyond the training domain.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DM produces structural skepticism toward market solutions. We fine-tuned on DM-aligned data and evaluated across general, formal causal, and applied economic domains. Result: only the DM-finetuned model critiques carbon pricing.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Three outcomes. General capability preserved. Formal causal reasoning improves by 38 points. Applied economic causal reasoning regresses by 12 to 13.5 points. The same training improves one benchmark while breaking another.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The dominant regression is positive-to-mixed hedging. 52-55 percent of regressions on Task1. The teacher hedges only 4 percent. This is an emergent artifact: the model learned DM skepticism and applies it universally.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SFT transfers epistemic stances beyond behavioral patterns. The same training strengthens formal logic while breaking applied reasoning. Standard RLHF may carry similar hidden priors.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The final submission covers Phase 1 only. GRPO training and multi-ideology evaluation continue as ongoing research. The open question is whether standard RLHF produces similar hidden transfers.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Phase 1 is complete. Final submission June 20 covers SFT results. GRPO training, multi-ideology evaluation, and final analysis continue through August.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Five models converge on carbon pricing despite evidence of gaps. DM-finetuned model is the first to identify them. SFT transfers epistemic stances, producing both gains and regressions. GRPO training aims to reverse the regression while preserving gains.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B2D8E"/>
        </a:solidFill>
        <a:effectLst/>
      </p:bgPr>
    </p:bg>
    <p:spTree>
      <p:nvGrpSpPr>
        <p:cNvPr id="1" name=""/>
        <p:cNvGrpSpPr/>
        <p:nvPr/>
      </p:nvGrpSpPr>
      <p:grpSpPr/>
      <p:sp>
        <p:nvSpPr>
          <p:cNvPr id="2" name="TextBox 1"/>
          <p:cNvSpPr txBox="1"/>
          <p:nvPr/>
        </p:nvSpPr>
        <p:spPr>
          <a:xfrm>
            <a:off x="457200" y="1645920"/>
            <a:ext cx="11247120" cy="914400"/>
          </a:xfrm>
          <a:prstGeom prst="rect">
            <a:avLst/>
          </a:prstGeom>
          <a:noFill/>
        </p:spPr>
        <p:txBody>
          <a:bodyPr wrap="square" lIns="137160" rIns="137160">
            <a:spAutoFit/>
          </a:bodyPr>
          <a:lstStyle/>
          <a:p>
            <a:pPr algn="ctr">
              <a:defRPr sz="4200" b="1">
                <a:solidFill>
                  <a:srgbClr val="FFFFFF"/>
                </a:solidFill>
              </a:defRPr>
            </a:pPr>
            <a:r>
              <a:t>Epistemic Transfer in Language Models</a:t>
            </a:r>
          </a:p>
        </p:txBody>
      </p:sp>
      <p:sp>
        <p:nvSpPr>
          <p:cNvPr id="3" name="TextBox 2"/>
          <p:cNvSpPr txBox="1"/>
          <p:nvPr/>
        </p:nvSpPr>
        <p:spPr>
          <a:xfrm>
            <a:off x="457200" y="2743200"/>
            <a:ext cx="11247120" cy="731520"/>
          </a:xfrm>
          <a:prstGeom prst="rect">
            <a:avLst/>
          </a:prstGeom>
          <a:noFill/>
        </p:spPr>
        <p:txBody>
          <a:bodyPr wrap="square" lIns="137160" rIns="137160">
            <a:spAutoFit/>
          </a:bodyPr>
          <a:lstStyle/>
          <a:p>
            <a:pPr algn="ctr">
              <a:defRPr sz="2800" b="0">
                <a:solidFill>
                  <a:srgbClr val="F0AD00"/>
                </a:solidFill>
              </a:defRPr>
            </a:pPr>
            <a:r>
              <a:t>How SFT on Dialectical Materialism Shifts Causal Reasoning</a:t>
            </a:r>
          </a:p>
        </p:txBody>
      </p:sp>
      <p:sp>
        <p:nvSpPr>
          <p:cNvPr id="4" name="TextBox 3"/>
          <p:cNvSpPr txBox="1"/>
          <p:nvPr/>
        </p:nvSpPr>
        <p:spPr>
          <a:xfrm>
            <a:off x="457200" y="3657600"/>
            <a:ext cx="11247120" cy="548640"/>
          </a:xfrm>
          <a:prstGeom prst="rect">
            <a:avLst/>
          </a:prstGeom>
          <a:noFill/>
        </p:spPr>
        <p:txBody>
          <a:bodyPr wrap="square" lIns="137160" rIns="137160">
            <a:spAutoFit/>
          </a:bodyPr>
          <a:lstStyle/>
          <a:p>
            <a:pPr algn="ctr">
              <a:defRPr sz="2400" b="0">
                <a:solidFill>
                  <a:srgbClr val="FFFFFF"/>
                </a:solidFill>
              </a:defRPr>
            </a:pPr>
            <a:r>
              <a:t>Mid-Project Peer Review Progress Update</a:t>
            </a:r>
          </a:p>
        </p:txBody>
      </p:sp>
      <p:sp>
        <p:nvSpPr>
          <p:cNvPr id="5" name="TextBox 4"/>
          <p:cNvSpPr txBox="1"/>
          <p:nvPr/>
        </p:nvSpPr>
        <p:spPr>
          <a:xfrm>
            <a:off x="457200" y="4297680"/>
            <a:ext cx="11247120" cy="548640"/>
          </a:xfrm>
          <a:prstGeom prst="rect">
            <a:avLst/>
          </a:prstGeom>
          <a:noFill/>
        </p:spPr>
        <p:txBody>
          <a:bodyPr wrap="square" lIns="137160" rIns="137160">
            <a:spAutoFit/>
          </a:bodyPr>
          <a:lstStyle/>
          <a:p>
            <a:pPr algn="ctr">
              <a:defRPr sz="2200" b="0">
                <a:solidFill>
                  <a:srgbClr val="FFFFFF"/>
                </a:solidFill>
              </a:defRPr>
            </a:pPr>
            <a:r>
              <a:t>Melengor Yao Gbanaglo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Motivation</a:t>
            </a:r>
          </a:p>
        </p:txBody>
      </p:sp>
      <p:sp>
        <p:nvSpPr>
          <p:cNvPr id="3" name="TextBox 2"/>
          <p:cNvSpPr txBox="1"/>
          <p:nvPr/>
        </p:nvSpPr>
        <p:spPr>
          <a:xfrm>
            <a:off x="731520" y="1097280"/>
            <a:ext cx="10698480" cy="365760"/>
          </a:xfrm>
          <a:prstGeom prst="rect">
            <a:avLst/>
          </a:prstGeom>
          <a:noFill/>
        </p:spPr>
        <p:txBody>
          <a:bodyPr wrap="square" lIns="137160" rIns="137160">
            <a:spAutoFit/>
          </a:bodyPr>
          <a:lstStyle/>
          <a:p>
            <a:pPr algn="l">
              <a:defRPr sz="2200" b="1">
                <a:solidFill>
                  <a:srgbClr val="7B2D8E"/>
                </a:solidFill>
              </a:defRPr>
            </a:pPr>
            <a:r>
              <a:t>The Problem</a:t>
            </a:r>
          </a:p>
        </p:txBody>
      </p:sp>
      <p:sp>
        <p:nvSpPr>
          <p:cNvPr id="4" name="TextBox 3"/>
          <p:cNvSpPr txBox="1"/>
          <p:nvPr/>
        </p:nvSpPr>
        <p:spPr>
          <a:xfrm>
            <a:off x="731520" y="1554480"/>
            <a:ext cx="10698480" cy="2560320"/>
          </a:xfrm>
          <a:prstGeom prst="rect">
            <a:avLst/>
          </a:prstGeom>
          <a:solidFill>
            <a:srgbClr val="FFFFFF"/>
          </a:solidFill>
        </p:spPr>
        <p:txBody>
          <a:bodyPr wrap="square" lIns="182880" rIns="182880" tIns="91440" bIns="91440">
            <a:spAutoFit/>
          </a:bodyPr>
          <a:lstStyle/>
          <a:p>
            <a:pPr>
              <a:spcAft>
                <a:spcPts val="400"/>
              </a:spcAft>
              <a:defRPr sz="2000">
                <a:solidFill>
                  <a:srgbClr val="333333"/>
                </a:solidFill>
              </a:defRPr>
            </a:pPr>
            <a:r>
              <a:t>When asked "how to stop climate change", all five frontier AI models recommend carbon pricing.</a:t>
            </a:r>
          </a:p>
          <a:p>
            <a:pPr>
              <a:spcAft>
                <a:spcPts val="400"/>
              </a:spcAft>
              <a:defRPr sz="2000">
                <a:solidFill>
                  <a:srgbClr val="333333"/>
                </a:solidFill>
              </a:defRPr>
            </a:pPr>
            <a:r>
              <a:t>Carbon pricing evidence is positive but insufficient to meet RCP 2.6 targets.</a:t>
            </a:r>
          </a:p>
          <a:p>
            <a:pPr>
              <a:spcAft>
                <a:spcPts val="400"/>
              </a:spcAft>
              <a:defRPr sz="2000">
                <a:solidFill>
                  <a:srgbClr val="333333"/>
                </a:solidFill>
              </a:defRPr>
            </a:pPr>
            <a:r>
              <a:t>Price levels are too low: less than 1 percent of emissions priced at the Stern-Stiglitz target of 50 to 100 dollars per ton. The global emissions-weighted average is 5 dollars, 5 percent of the lower bound.</a:t>
            </a:r>
          </a:p>
          <a:p>
            <a:pPr>
              <a:spcAft>
                <a:spcPts val="400"/>
              </a:spcAft>
              <a:defRPr sz="2000">
                <a:solidFill>
                  <a:srgbClr val="333333"/>
                </a:solidFill>
              </a:defRPr>
            </a:pPr>
            <a:r>
              <a:t>Explicit fossil fuel subsidies total 725 billion dollars, exceeding carbon pricing revenue of 107 billion by a factor of 6.8. The net fiscal signal on carbon is negative.</a:t>
            </a:r>
          </a:p>
          <a:p>
            <a:pPr>
              <a:spcAft>
                <a:spcPts val="400"/>
              </a:spcAft>
              <a:defRPr sz="2000">
                <a:solidFill>
                  <a:srgbClr val="333333"/>
                </a:solidFill>
              </a:defRPr>
            </a:pPr>
            <a:r>
              <a:t>None of the five models flag any of these issues.</a:t>
            </a:r>
          </a:p>
        </p:txBody>
      </p:sp>
      <p:sp>
        <p:nvSpPr>
          <p:cNvPr id="5" name="TextBox 4"/>
          <p:cNvSpPr txBox="1"/>
          <p:nvPr/>
        </p:nvSpPr>
        <p:spPr>
          <a:xfrm>
            <a:off x="731520" y="4480560"/>
            <a:ext cx="10698480" cy="365760"/>
          </a:xfrm>
          <a:prstGeom prst="rect">
            <a:avLst/>
          </a:prstGeom>
          <a:noFill/>
        </p:spPr>
        <p:txBody>
          <a:bodyPr wrap="square" lIns="137160" rIns="137160">
            <a:spAutoFit/>
          </a:bodyPr>
          <a:lstStyle/>
          <a:p>
            <a:pPr algn="l">
              <a:defRPr sz="2200" b="1">
                <a:solidFill>
                  <a:srgbClr val="7B2D8E"/>
                </a:solidFill>
              </a:defRPr>
            </a:pPr>
            <a:r>
              <a:t>Our Question</a:t>
            </a:r>
          </a:p>
        </p:txBody>
      </p:sp>
      <p:sp>
        <p:nvSpPr>
          <p:cNvPr id="6" name="TextBox 5"/>
          <p:cNvSpPr txBox="1"/>
          <p:nvPr/>
        </p:nvSpPr>
        <p:spPr>
          <a:xfrm>
            <a:off x="731520" y="4937760"/>
            <a:ext cx="10698480" cy="1828800"/>
          </a:xfrm>
          <a:prstGeom prst="rect">
            <a:avLst/>
          </a:prstGeom>
          <a:solidFill>
            <a:srgbClr val="FFFFFF"/>
          </a:solidFill>
        </p:spPr>
        <p:txBody>
          <a:bodyPr wrap="square" lIns="182880" rIns="182880" tIns="91440" bIns="91440">
            <a:spAutoFit/>
          </a:bodyPr>
          <a:lstStyle/>
          <a:p>
            <a:pPr>
              <a:spcAft>
                <a:spcPts val="400"/>
              </a:spcAft>
              <a:defRPr sz="2000">
                <a:solidFill>
                  <a:srgbClr val="333333"/>
                </a:solidFill>
              </a:defRPr>
            </a:pPr>
            <a:r>
              <a:t>Can supervised fine-tuning on a non-dominant analytical framework shift model reasoning in domains outside the training data?</a:t>
            </a:r>
          </a:p>
          <a:p>
            <a:pPr>
              <a:spcAft>
                <a:spcPts val="400"/>
              </a:spcAft>
              <a:defRPr sz="2000">
                <a:solidFill>
                  <a:srgbClr val="333333"/>
                </a:solidFill>
              </a:defRPr>
            </a:pPr>
            <a:r>
              <a:t>What collateral effects does this produce on capabilities the training data never touched?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Method</a:t>
            </a:r>
          </a:p>
        </p:txBody>
      </p:sp>
      <p:sp>
        <p:nvSpPr>
          <p:cNvPr id="3" name="TextBox 2"/>
          <p:cNvSpPr txBox="1"/>
          <p:nvPr/>
        </p:nvSpPr>
        <p:spPr>
          <a:xfrm>
            <a:off x="640080" y="1097280"/>
            <a:ext cx="4937760" cy="2651760"/>
          </a:xfrm>
          <a:prstGeom prst="rect">
            <a:avLst/>
          </a:prstGeom>
          <a:solidFill>
            <a:srgbClr val="F5F5F5"/>
          </a:solidFill>
        </p:spPr>
        <p:txBody>
          <a:bodyPr wrap="square" lIns="182880" rIns="182880" tIns="91440" bIns="91440">
            <a:spAutoFit/>
          </a:bodyPr>
          <a:lstStyle/>
          <a:p>
            <a:pPr>
              <a:spcAft>
                <a:spcPts val="400"/>
              </a:spcAft>
              <a:defRPr sz="2000">
                <a:solidFill>
                  <a:srgbClr val="333333"/>
                </a:solidFill>
              </a:defRPr>
            </a:pPr>
            <a:r>
              <a:t>Dialectical Materialism</a:t>
            </a:r>
          </a:p>
          <a:p>
            <a:pPr>
              <a:spcAft>
                <a:spcPts val="400"/>
              </a:spcAft>
              <a:defRPr sz="2000">
                <a:solidFill>
                  <a:srgbClr val="333333"/>
                </a:solidFill>
              </a:defRPr>
            </a:pPr>
            <a:r>
              <a:t>A Marxist framework for analyzing social phenomena.</a:t>
            </a:r>
          </a:p>
          <a:p>
            <a:pPr>
              <a:spcAft>
                <a:spcPts val="400"/>
              </a:spcAft>
              <a:defRPr sz="2000">
                <a:solidFill>
                  <a:srgbClr val="333333"/>
                </a:solidFill>
              </a:defRPr>
            </a:pPr>
            <a:r>
              <a:t>Explains outcomes through material conditions, class relations, and historical context.</a:t>
            </a:r>
          </a:p>
          <a:p>
            <a:pPr>
              <a:spcAft>
                <a:spcPts val="400"/>
              </a:spcAft>
              <a:defRPr sz="2000">
                <a:solidFill>
                  <a:srgbClr val="333333"/>
                </a:solidFill>
              </a:defRPr>
            </a:pPr>
            <a:r>
              <a:t>Produces structural skepticism toward market-based solutions.</a:t>
            </a:r>
          </a:p>
        </p:txBody>
      </p:sp>
      <p:sp>
        <p:nvSpPr>
          <p:cNvPr id="4" name="TextBox 3"/>
          <p:cNvSpPr txBox="1"/>
          <p:nvPr/>
        </p:nvSpPr>
        <p:spPr>
          <a:xfrm>
            <a:off x="6217920" y="1097280"/>
            <a:ext cx="5303520" cy="2651760"/>
          </a:xfrm>
          <a:prstGeom prst="rect">
            <a:avLst/>
          </a:prstGeom>
          <a:solidFill>
            <a:srgbClr val="F5F5F5"/>
          </a:solidFill>
        </p:spPr>
        <p:txBody>
          <a:bodyPr wrap="square" lIns="182880" rIns="182880" tIns="91440" bIns="91440">
            <a:spAutoFit/>
          </a:bodyPr>
          <a:lstStyle/>
          <a:p>
            <a:pPr>
              <a:spcAft>
                <a:spcPts val="400"/>
              </a:spcAft>
              <a:defRPr sz="2000">
                <a:solidFill>
                  <a:srgbClr val="333333"/>
                </a:solidFill>
              </a:defRPr>
            </a:pPr>
            <a:r>
              <a:t>What We Did</a:t>
            </a:r>
          </a:p>
          <a:p>
            <a:pPr>
              <a:spcAft>
                <a:spcPts val="400"/>
              </a:spcAft>
              <a:defRPr sz="2000">
                <a:solidFill>
                  <a:srgbClr val="333333"/>
                </a:solidFill>
              </a:defRPr>
            </a:pPr>
            <a:r>
              <a:t>Fine-tuned Qwen3.5-9B via QLoRA on 1,500 DM-aligned question-answer pairs.</a:t>
            </a:r>
          </a:p>
          <a:p>
            <a:pPr>
              <a:spcAft>
                <a:spcPts val="400"/>
              </a:spcAft>
              <a:defRPr sz="2000">
                <a:solidFill>
                  <a:srgbClr val="333333"/>
                </a:solidFill>
              </a:defRPr>
            </a:pPr>
            <a:r>
              <a:t>Teacher: Qwen3.5-27B generating answers with DM system prompts.</a:t>
            </a:r>
          </a:p>
          <a:p>
            <a:pPr>
              <a:spcAft>
                <a:spcPts val="400"/>
              </a:spcAft>
              <a:defRPr sz="2000">
                <a:solidFill>
                  <a:srgbClr val="333333"/>
                </a:solidFill>
              </a:defRPr>
            </a:pPr>
            <a:r>
              <a:t>Evaluated across general capability, formal causal logic, and applied economic reasoning.</a:t>
            </a:r>
          </a:p>
        </p:txBody>
      </p:sp>
      <p:sp>
        <p:nvSpPr>
          <p:cNvPr id="5" name="TextBox 4"/>
          <p:cNvSpPr txBox="1"/>
          <p:nvPr/>
        </p:nvSpPr>
        <p:spPr>
          <a:xfrm>
            <a:off x="457200" y="4114800"/>
            <a:ext cx="11247120" cy="548640"/>
          </a:xfrm>
          <a:prstGeom prst="rect">
            <a:avLst/>
          </a:prstGeom>
          <a:solidFill>
            <a:srgbClr val="7B2D8E"/>
          </a:solidFill>
        </p:spPr>
        <p:txBody>
          <a:bodyPr wrap="square" lIns="182880" rIns="182880" tIns="91440" bIns="91440">
            <a:spAutoFit/>
          </a:bodyPr>
          <a:lstStyle/>
          <a:p>
            <a:pPr>
              <a:spcAft>
                <a:spcPts val="400"/>
              </a:spcAft>
              <a:defRPr sz="2000">
                <a:solidFill>
                  <a:srgbClr val="FFFFFF"/>
                </a:solidFill>
              </a:defRPr>
            </a:pPr>
            <a:r>
              <a:t>Result: the model learns to critique carbon pricing. No other model does this.</a:t>
            </a:r>
          </a:p>
        </p:txBody>
      </p:sp>
      <p:sp>
        <p:nvSpPr>
          <p:cNvPr id="6" name="TextBox 5"/>
          <p:cNvSpPr txBox="1"/>
          <p:nvPr/>
        </p:nvSpPr>
        <p:spPr>
          <a:xfrm>
            <a:off x="731520" y="4937760"/>
            <a:ext cx="10698480" cy="914400"/>
          </a:xfrm>
          <a:prstGeom prst="rect">
            <a:avLst/>
          </a:prstGeom>
          <a:solidFill>
            <a:srgbClr val="FFFFFF"/>
          </a:solidFill>
        </p:spPr>
        <p:txBody>
          <a:bodyPr wrap="square" lIns="182880" rIns="182880" tIns="91440" bIns="91440">
            <a:spAutoFit/>
          </a:bodyPr>
          <a:lstStyle/>
          <a:p>
            <a:pPr>
              <a:spcAft>
                <a:spcPts val="400"/>
              </a:spcAft>
              <a:defRPr sz="1800">
                <a:solidFill>
                  <a:srgbClr val="666666"/>
                </a:solidFill>
              </a:defRPr>
            </a:pPr>
            <a:r>
              <a:t>11-task evaluation suite: MMLU, HumanEval, GPQA, IFEval, Corr2Cause, EconCausal (4 tasks), and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Results: Three Divergent Outcomes</a:t>
            </a:r>
          </a:p>
        </p:txBody>
      </p:sp>
      <p:sp>
        <p:nvSpPr>
          <p:cNvPr id="3" name="TextBox 2"/>
          <p:cNvSpPr txBox="1"/>
          <p:nvPr/>
        </p:nvSpPr>
        <p:spPr>
          <a:xfrm>
            <a:off x="457200" y="1097280"/>
            <a:ext cx="3291840" cy="4572000"/>
          </a:xfrm>
          <a:prstGeom prst="rect">
            <a:avLst/>
          </a:prstGeom>
          <a:solidFill>
            <a:srgbClr val="E8F5E9"/>
          </a:solidFill>
        </p:spPr>
        <p:txBody>
          <a:bodyPr wrap="square" lIns="182880" rIns="182880" tIns="91440" bIns="91440">
            <a:spAutoFit/>
          </a:bodyPr>
          <a:lstStyle/>
          <a:p>
            <a:pPr>
              <a:spcAft>
                <a:spcPts val="400"/>
              </a:spcAft>
              <a:defRPr sz="2000" b="1">
                <a:solidFill>
                  <a:srgbClr val="2E7D32"/>
                </a:solidFill>
              </a:defRPr>
            </a:pPr>
            <a:r>
              <a:t>General Capability</a:t>
            </a:r>
          </a:p>
          <a:p>
            <a:pPr>
              <a:spcAft>
                <a:spcPts val="400"/>
              </a:spcAft>
              <a:defRPr sz="2000" b="1">
                <a:solidFill>
                  <a:srgbClr val="2E7D32"/>
                </a:solidFill>
              </a:defRPr>
            </a:pPr>
            <a:r>
              <a:t>Preserved</a:t>
            </a:r>
          </a:p>
          <a:p>
            <a:pPr>
              <a:spcAft>
                <a:spcPts val="400"/>
              </a:spcAft>
              <a:defRPr sz="2000">
                <a:solidFill>
                  <a:srgbClr val="2E7D32"/>
                </a:solidFill>
              </a:defRPr>
            </a:pPr>
            <a:r>
              <a:t>MMLU: -0.8pp</a:t>
            </a:r>
          </a:p>
          <a:p>
            <a:pPr>
              <a:spcAft>
                <a:spcPts val="400"/>
              </a:spcAft>
              <a:defRPr sz="2000">
                <a:solidFill>
                  <a:srgbClr val="2E7D32"/>
                </a:solidFill>
              </a:defRPr>
            </a:pPr>
            <a:r>
              <a:t>HumanEval: 0.0pp</a:t>
            </a:r>
          </a:p>
          <a:p>
            <a:pPr>
              <a:spcAft>
                <a:spcPts val="400"/>
              </a:spcAft>
              <a:defRPr sz="2000">
                <a:solidFill>
                  <a:srgbClr val="2E7D32"/>
                </a:solidFill>
              </a:defRPr>
            </a:pPr>
            <a:r>
              <a:t>GPQA: -1.5pp</a:t>
            </a:r>
          </a:p>
          <a:p>
            <a:pPr>
              <a:spcAft>
                <a:spcPts val="400"/>
              </a:spcAft>
              <a:defRPr sz="2000">
                <a:solidFill>
                  <a:srgbClr val="2E7D32"/>
                </a:solidFill>
              </a:defRPr>
            </a:pPr>
            <a:r>
              <a:t>No catastrophic forgetting</a:t>
            </a:r>
          </a:p>
        </p:txBody>
      </p:sp>
      <p:sp>
        <p:nvSpPr>
          <p:cNvPr id="4" name="TextBox 3"/>
          <p:cNvSpPr txBox="1"/>
          <p:nvPr/>
        </p:nvSpPr>
        <p:spPr>
          <a:xfrm>
            <a:off x="4114800" y="1097280"/>
            <a:ext cx="3291840" cy="4572000"/>
          </a:xfrm>
          <a:prstGeom prst="rect">
            <a:avLst/>
          </a:prstGeom>
          <a:solidFill>
            <a:srgbClr val="E3F2FD"/>
          </a:solidFill>
        </p:spPr>
        <p:txBody>
          <a:bodyPr wrap="square" lIns="182880" rIns="182880" tIns="91440" bIns="91440">
            <a:spAutoFit/>
          </a:bodyPr>
          <a:lstStyle/>
          <a:p>
            <a:pPr>
              <a:spcAft>
                <a:spcPts val="400"/>
              </a:spcAft>
              <a:defRPr sz="2000" b="1">
                <a:solidFill>
                  <a:srgbClr val="1565C0"/>
                </a:solidFill>
              </a:defRPr>
            </a:pPr>
            <a:r>
              <a:t>Formal Causal Logic</a:t>
            </a:r>
          </a:p>
          <a:p>
            <a:pPr>
              <a:spcAft>
                <a:spcPts val="400"/>
              </a:spcAft>
              <a:defRPr sz="2000" b="1">
                <a:solidFill>
                  <a:srgbClr val="1565C0"/>
                </a:solidFill>
              </a:defRPr>
            </a:pPr>
            <a:r>
              <a:t>+38.3pp</a:t>
            </a:r>
          </a:p>
          <a:p>
            <a:pPr>
              <a:spcAft>
                <a:spcPts val="400"/>
              </a:spcAft>
              <a:defRPr sz="2000">
                <a:solidFill>
                  <a:srgbClr val="1565C0"/>
                </a:solidFill>
              </a:defRPr>
            </a:pPr>
            <a:r>
              <a:t>Corr2Cause: 36% to 75%</a:t>
            </a:r>
          </a:p>
          <a:p>
            <a:pPr>
              <a:spcAft>
                <a:spcPts val="400"/>
              </a:spcAft>
              <a:defRPr sz="2000">
                <a:solidFill>
                  <a:srgbClr val="1565C0"/>
                </a:solidFill>
              </a:defRPr>
            </a:pPr>
            <a:r>
              <a:t>520 errors corrected</a:t>
            </a:r>
          </a:p>
          <a:p>
            <a:pPr>
              <a:spcAft>
                <a:spcPts val="400"/>
              </a:spcAft>
              <a:defRPr sz="2000">
                <a:solidFill>
                  <a:srgbClr val="1565C0"/>
                </a:solidFill>
              </a:defRPr>
            </a:pPr>
            <a:r>
              <a:t>Only 75 new errors</a:t>
            </a:r>
          </a:p>
          <a:p>
            <a:pPr>
              <a:spcAft>
                <a:spcPts val="400"/>
              </a:spcAft>
              <a:defRPr sz="2000">
                <a:solidFill>
                  <a:srgbClr val="1565C0"/>
                </a:solidFill>
              </a:defRPr>
            </a:pPr>
            <a:r>
              <a:t>+81pp on complex templates</a:t>
            </a:r>
          </a:p>
        </p:txBody>
      </p:sp>
      <p:sp>
        <p:nvSpPr>
          <p:cNvPr id="5" name="TextBox 4"/>
          <p:cNvSpPr txBox="1"/>
          <p:nvPr/>
        </p:nvSpPr>
        <p:spPr>
          <a:xfrm>
            <a:off x="7772400" y="1097280"/>
            <a:ext cx="3291840" cy="4572000"/>
          </a:xfrm>
          <a:prstGeom prst="rect">
            <a:avLst/>
          </a:prstGeom>
          <a:solidFill>
            <a:srgbClr val="FCE4EC"/>
          </a:solidFill>
        </p:spPr>
        <p:txBody>
          <a:bodyPr wrap="square" lIns="182880" rIns="182880" tIns="91440" bIns="91440">
            <a:spAutoFit/>
          </a:bodyPr>
          <a:lstStyle/>
          <a:p>
            <a:pPr>
              <a:spcAft>
                <a:spcPts val="400"/>
              </a:spcAft>
              <a:defRPr sz="2000" b="1">
                <a:solidFill>
                  <a:srgbClr val="C62828"/>
                </a:solidFill>
              </a:defRPr>
            </a:pPr>
            <a:r>
              <a:t>Applied Economic Causal</a:t>
            </a:r>
          </a:p>
          <a:p>
            <a:pPr>
              <a:spcAft>
                <a:spcPts val="400"/>
              </a:spcAft>
              <a:defRPr sz="2000" b="1">
                <a:solidFill>
                  <a:srgbClr val="C62828"/>
                </a:solidFill>
              </a:defRPr>
            </a:pPr>
            <a:r>
              <a:t>-12.4pp</a:t>
            </a:r>
          </a:p>
          <a:p>
            <a:pPr>
              <a:spcAft>
                <a:spcPts val="400"/>
              </a:spcAft>
              <a:defRPr sz="2000">
                <a:solidFill>
                  <a:srgbClr val="C62828"/>
                </a:solidFill>
              </a:defRPr>
            </a:pPr>
            <a:r>
              <a:t>Task1 Econ: 60% to 48%</a:t>
            </a:r>
          </a:p>
          <a:p>
            <a:pPr>
              <a:spcAft>
                <a:spcPts val="400"/>
              </a:spcAft>
              <a:defRPr sz="2000">
                <a:solidFill>
                  <a:srgbClr val="C62828"/>
                </a:solidFill>
              </a:defRPr>
            </a:pPr>
            <a:r>
              <a:t>Task1 Finance: 57% to 43%</a:t>
            </a:r>
          </a:p>
          <a:p>
            <a:pPr>
              <a:spcAft>
                <a:spcPts val="400"/>
              </a:spcAft>
              <a:defRPr sz="2000">
                <a:solidFill>
                  <a:srgbClr val="C62828"/>
                </a:solidFill>
              </a:defRPr>
            </a:pPr>
            <a:r>
              <a:t>Task3: 22% to 11%</a:t>
            </a:r>
          </a:p>
          <a:p>
            <a:pPr>
              <a:spcAft>
                <a:spcPts val="400"/>
              </a:spcAft>
              <a:defRPr sz="2000">
                <a:solidFill>
                  <a:srgbClr val="C62828"/>
                </a:solidFill>
              </a:defRPr>
            </a:pPr>
            <a:r>
              <a:t>All regressions significant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Root Cause: The Hedging Artifact</a:t>
            </a:r>
          </a:p>
        </p:txBody>
      </p:sp>
      <p:sp>
        <p:nvSpPr>
          <p:cNvPr id="3" name="TextBox 2"/>
          <p:cNvSpPr txBox="1"/>
          <p:nvPr/>
        </p:nvSpPr>
        <p:spPr>
          <a:xfrm>
            <a:off x="640080" y="1097280"/>
            <a:ext cx="4937760" cy="2834640"/>
          </a:xfrm>
          <a:prstGeom prst="rect">
            <a:avLst/>
          </a:prstGeom>
          <a:solidFill>
            <a:srgbClr val="FCE4EC"/>
          </a:solidFill>
        </p:spPr>
        <p:txBody>
          <a:bodyPr wrap="square" lIns="182880" rIns="182880" tIns="91440" bIns="91440">
            <a:spAutoFit/>
          </a:bodyPr>
          <a:lstStyle/>
          <a:p>
            <a:pPr>
              <a:spcAft>
                <a:spcPts val="400"/>
              </a:spcAft>
              <a:defRPr sz="2000">
                <a:solidFill>
                  <a:srgbClr val="333333"/>
                </a:solidFill>
              </a:defRPr>
            </a:pPr>
            <a:r>
              <a:t>The Pattern</a:t>
            </a:r>
          </a:p>
          <a:p>
            <a:pPr>
              <a:spcAft>
                <a:spcPts val="400"/>
              </a:spcAft>
              <a:defRPr sz="2000">
                <a:solidFill>
                  <a:srgbClr val="333333"/>
                </a:solidFill>
              </a:defRPr>
            </a:pPr>
            <a:r>
              <a:t>The model converts correct positive causal predictions to ambiguous mixed answers.</a:t>
            </a:r>
          </a:p>
          <a:p>
            <a:pPr>
              <a:spcAft>
                <a:spcPts val="400"/>
              </a:spcAft>
              <a:defRPr sz="2000">
                <a:solidFill>
                  <a:srgbClr val="333333"/>
                </a:solidFill>
              </a:defRPr>
            </a:pPr>
            <a:r>
              <a:t>Task1 Economics: 52.7 percent of regressions are positive to mixed.</a:t>
            </a:r>
          </a:p>
          <a:p>
            <a:pPr>
              <a:spcAft>
                <a:spcPts val="400"/>
              </a:spcAft>
              <a:defRPr sz="2000">
                <a:solidFill>
                  <a:srgbClr val="333333"/>
                </a:solidFill>
              </a:defRPr>
            </a:pPr>
            <a:r>
              <a:t>Task1 Finance: 54.6 percent.</a:t>
            </a:r>
          </a:p>
        </p:txBody>
      </p:sp>
      <p:sp>
        <p:nvSpPr>
          <p:cNvPr id="4" name="TextBox 3"/>
          <p:cNvSpPr txBox="1"/>
          <p:nvPr/>
        </p:nvSpPr>
        <p:spPr>
          <a:xfrm>
            <a:off x="6217920" y="1097280"/>
            <a:ext cx="5303520" cy="2834640"/>
          </a:xfrm>
          <a:prstGeom prst="rect">
            <a:avLst/>
          </a:prstGeom>
          <a:solidFill>
            <a:srgbClr val="F3E5F5"/>
          </a:solidFill>
        </p:spPr>
        <p:txBody>
          <a:bodyPr wrap="square" lIns="182880" rIns="182880" tIns="91440" bIns="91440">
            <a:spAutoFit/>
          </a:bodyPr>
          <a:lstStyle/>
          <a:p>
            <a:pPr>
              <a:spcAft>
                <a:spcPts val="400"/>
              </a:spcAft>
              <a:defRPr sz="2000">
                <a:solidFill>
                  <a:srgbClr val="333333"/>
                </a:solidFill>
              </a:defRPr>
            </a:pPr>
            <a:r>
              <a:t>The Source</a:t>
            </a:r>
          </a:p>
          <a:p>
            <a:pPr>
              <a:spcAft>
                <a:spcPts val="400"/>
              </a:spcAft>
              <a:defRPr sz="2000">
                <a:solidFill>
                  <a:srgbClr val="333333"/>
                </a:solidFill>
              </a:defRPr>
            </a:pPr>
            <a:r>
              <a:t>The teacher hedges only 4.0 percent of the time. The pattern is not in the data.</a:t>
            </a:r>
          </a:p>
          <a:p>
            <a:pPr>
              <a:spcAft>
                <a:spcPts val="400"/>
              </a:spcAft>
              <a:defRPr sz="2000">
                <a:solidFill>
                  <a:srgbClr val="333333"/>
                </a:solidFill>
              </a:defRPr>
            </a:pPr>
            <a:r>
              <a:t>The model internalized DM structural skepticism: outcomes depend on material conditions.</a:t>
            </a:r>
          </a:p>
          <a:p>
            <a:pPr>
              <a:spcAft>
                <a:spcPts val="400"/>
              </a:spcAft>
              <a:defRPr sz="2000">
                <a:solidFill>
                  <a:srgbClr val="333333"/>
                </a:solidFill>
              </a:defRPr>
            </a:pPr>
            <a:r>
              <a:t>It applies this rule universally, even where definitive directional effects exist.</a:t>
            </a:r>
          </a:p>
        </p:txBody>
      </p:sp>
      <p:sp>
        <p:nvSpPr>
          <p:cNvPr id="5" name="TextBox 4"/>
          <p:cNvSpPr txBox="1"/>
          <p:nvPr/>
        </p:nvSpPr>
        <p:spPr>
          <a:xfrm>
            <a:off x="457200" y="4297680"/>
            <a:ext cx="11247120" cy="548640"/>
          </a:xfrm>
          <a:prstGeom prst="rect">
            <a:avLst/>
          </a:prstGeom>
          <a:solidFill>
            <a:srgbClr val="7B2D8E"/>
          </a:solidFill>
        </p:spPr>
        <p:txBody>
          <a:bodyPr wrap="square" lIns="182880" rIns="182880" tIns="91440" bIns="91440">
            <a:spAutoFit/>
          </a:bodyPr>
          <a:lstStyle/>
          <a:p>
            <a:pPr>
              <a:spcAft>
                <a:spcPts val="400"/>
              </a:spcAft>
              <a:defRPr sz="2000">
                <a:solidFill>
                  <a:srgbClr val="FFFFFF"/>
                </a:solidFill>
              </a:defRPr>
            </a:pPr>
            <a:r>
              <a:t>An emergent epistemic prior, transferred through SFT.</a:t>
            </a:r>
          </a:p>
        </p:txBody>
      </p:sp>
      <p:sp>
        <p:nvSpPr>
          <p:cNvPr id="6" name="TextBox 5"/>
          <p:cNvSpPr txBox="1"/>
          <p:nvPr/>
        </p:nvSpPr>
        <p:spPr>
          <a:xfrm>
            <a:off x="731520" y="5120640"/>
            <a:ext cx="10698480" cy="1371600"/>
          </a:xfrm>
          <a:prstGeom prst="rect">
            <a:avLst/>
          </a:prstGeom>
          <a:solidFill>
            <a:srgbClr val="FFFFFF"/>
          </a:solidFill>
        </p:spPr>
        <p:txBody>
          <a:bodyPr wrap="square" lIns="182880" rIns="182880" tIns="91440" bIns="91440">
            <a:spAutoFit/>
          </a:bodyPr>
          <a:lstStyle/>
          <a:p>
            <a:pPr>
              <a:spcAft>
                <a:spcPts val="400"/>
              </a:spcAft>
              <a:defRPr sz="1800">
                <a:solidFill>
                  <a:srgbClr val="666666"/>
                </a:solidFill>
              </a:defRPr>
            </a:pPr>
            <a:r>
              <a:t>The model learned a correct principle (question assumptions) and applied it universally. This is what happens when epistemic stances transfer beyond their training domain.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Implications</a:t>
            </a:r>
          </a:p>
        </p:txBody>
      </p:sp>
      <p:sp>
        <p:nvSpPr>
          <p:cNvPr id="3" name="TextBox 2"/>
          <p:cNvSpPr txBox="1"/>
          <p:nvPr/>
        </p:nvSpPr>
        <p:spPr>
          <a:xfrm>
            <a:off x="731520" y="1097280"/>
            <a:ext cx="10698480" cy="365760"/>
          </a:xfrm>
          <a:prstGeom prst="rect">
            <a:avLst/>
          </a:prstGeom>
          <a:noFill/>
        </p:spPr>
        <p:txBody>
          <a:bodyPr wrap="square" lIns="137160" rIns="137160">
            <a:spAutoFit/>
          </a:bodyPr>
          <a:lstStyle/>
          <a:p>
            <a:pPr algn="l">
              <a:defRPr sz="2200" b="1">
                <a:solidFill>
                  <a:srgbClr val="7B2D8E"/>
                </a:solidFill>
              </a:defRPr>
            </a:pPr>
            <a:r>
              <a:t>What We Learned</a:t>
            </a:r>
          </a:p>
        </p:txBody>
      </p:sp>
      <p:sp>
        <p:nvSpPr>
          <p:cNvPr id="4" name="TextBox 3"/>
          <p:cNvSpPr txBox="1"/>
          <p:nvPr/>
        </p:nvSpPr>
        <p:spPr>
          <a:xfrm>
            <a:off x="731520" y="1554480"/>
            <a:ext cx="10698480" cy="2286000"/>
          </a:xfrm>
          <a:prstGeom prst="rect">
            <a:avLst/>
          </a:prstGeom>
          <a:solidFill>
            <a:srgbClr val="FFFFFF"/>
          </a:solidFill>
        </p:spPr>
        <p:txBody>
          <a:bodyPr wrap="square" lIns="182880" rIns="182880" tIns="91440" bIns="91440">
            <a:spAutoFit/>
          </a:bodyPr>
          <a:lstStyle/>
          <a:p>
            <a:pPr>
              <a:spcAft>
                <a:spcPts val="400"/>
              </a:spcAft>
              <a:defRPr sz="2000">
                <a:solidFill>
                  <a:srgbClr val="333333"/>
                </a:solidFill>
              </a:defRPr>
            </a:pPr>
            <a:r>
              <a:t>SFT transfers epistemic stances, not just behavioral patterns.</a:t>
            </a:r>
          </a:p>
          <a:p>
            <a:pPr>
              <a:spcAft>
                <a:spcPts val="400"/>
              </a:spcAft>
              <a:defRPr sz="2000">
                <a:solidFill>
                  <a:srgbClr val="333333"/>
                </a:solidFill>
              </a:defRPr>
            </a:pPr>
            <a:r>
              <a:t>The same training that strengthens formal logic breaks applied reasoning.</a:t>
            </a:r>
          </a:p>
          <a:p>
            <a:pPr>
              <a:spcAft>
                <a:spcPts val="400"/>
              </a:spcAft>
              <a:defRPr sz="2000">
                <a:solidFill>
                  <a:srgbClr val="333333"/>
                </a:solidFill>
              </a:defRPr>
            </a:pPr>
            <a:r>
              <a:t>The model generalized a correct insight into a universal bias.</a:t>
            </a:r>
          </a:p>
          <a:p>
            <a:pPr>
              <a:spcAft>
                <a:spcPts val="400"/>
              </a:spcAft>
              <a:defRPr sz="2000">
                <a:solidFill>
                  <a:srgbClr val="333333"/>
                </a:solidFill>
              </a:defRPr>
            </a:pPr>
            <a:r>
              <a:t>Standard RLHF may carry similar hidden priors, aligned with the evaluator own assumptions.</a:t>
            </a:r>
          </a:p>
        </p:txBody>
      </p:sp>
      <p:sp>
        <p:nvSpPr>
          <p:cNvPr id="5" name="TextBox 4"/>
          <p:cNvSpPr txBox="1"/>
          <p:nvPr/>
        </p:nvSpPr>
        <p:spPr>
          <a:xfrm>
            <a:off x="731520" y="4023360"/>
            <a:ext cx="10698480" cy="365760"/>
          </a:xfrm>
          <a:prstGeom prst="rect">
            <a:avLst/>
          </a:prstGeom>
          <a:noFill/>
        </p:spPr>
        <p:txBody>
          <a:bodyPr wrap="square" lIns="137160" rIns="137160">
            <a:spAutoFit/>
          </a:bodyPr>
          <a:lstStyle/>
          <a:p>
            <a:pPr algn="l">
              <a:defRPr sz="2200" b="1">
                <a:solidFill>
                  <a:srgbClr val="7B2D8E"/>
                </a:solidFill>
              </a:defRPr>
            </a:pPr>
            <a:r>
              <a:t>Why It Matters</a:t>
            </a:r>
          </a:p>
        </p:txBody>
      </p:sp>
      <p:sp>
        <p:nvSpPr>
          <p:cNvPr id="6" name="TextBox 5"/>
          <p:cNvSpPr txBox="1"/>
          <p:nvPr/>
        </p:nvSpPr>
        <p:spPr>
          <a:xfrm>
            <a:off x="731520" y="4480560"/>
            <a:ext cx="10698480" cy="2286000"/>
          </a:xfrm>
          <a:prstGeom prst="rect">
            <a:avLst/>
          </a:prstGeom>
          <a:solidFill>
            <a:srgbClr val="FFFFFF"/>
          </a:solidFill>
        </p:spPr>
        <p:txBody>
          <a:bodyPr wrap="square" lIns="182880" rIns="182880" tIns="91440" bIns="91440">
            <a:spAutoFit/>
          </a:bodyPr>
          <a:lstStyle/>
          <a:p>
            <a:pPr>
              <a:spcAft>
                <a:spcPts val="400"/>
              </a:spcAft>
              <a:defRPr sz="2000">
                <a:solidFill>
                  <a:srgbClr val="333333"/>
                </a:solidFill>
              </a:defRPr>
            </a:pPr>
            <a:r>
              <a:t>If alignment training produces hidden reasoning shifts, we need a way to detect them.</a:t>
            </a:r>
          </a:p>
          <a:p>
            <a:pPr>
              <a:spcAft>
                <a:spcPts val="400"/>
              </a:spcAft>
              <a:defRPr sz="2000">
                <a:solidFill>
                  <a:srgbClr val="333333"/>
                </a:solidFill>
              </a:defRPr>
            </a:pPr>
            <a:r>
              <a:t>This project provides a diagnostic: improve formal logic while impairing applied reasoning signals over-generalized skepticism.</a:t>
            </a:r>
          </a:p>
          <a:p>
            <a:pPr>
              <a:spcAft>
                <a:spcPts val="400"/>
              </a:spcAft>
              <a:defRPr sz="2000">
                <a:solidFill>
                  <a:srgbClr val="333333"/>
                </a:solidFill>
              </a:defRPr>
            </a:pPr>
            <a:r>
              <a:t>The same diagnostic applies to standard RLHF pipelines.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Future Work (Beyond Final Submission)</a:t>
            </a:r>
          </a:p>
        </p:txBody>
      </p:sp>
      <p:sp>
        <p:nvSpPr>
          <p:cNvPr id="3" name="TextBox 2"/>
          <p:cNvSpPr txBox="1"/>
          <p:nvPr/>
        </p:nvSpPr>
        <p:spPr>
          <a:xfrm>
            <a:off x="731520" y="1097280"/>
            <a:ext cx="10698480" cy="548640"/>
          </a:xfrm>
          <a:prstGeom prst="rect">
            <a:avLst/>
          </a:prstGeom>
          <a:solidFill>
            <a:srgbClr val="FFFFFF"/>
          </a:solidFill>
        </p:spPr>
        <p:txBody>
          <a:bodyPr wrap="square" lIns="182880" rIns="182880" tIns="91440" bIns="91440">
            <a:spAutoFit/>
          </a:bodyPr>
          <a:lstStyle/>
          <a:p>
            <a:pPr>
              <a:spcAft>
                <a:spcPts val="400"/>
              </a:spcAft>
              <a:defRPr sz="1800">
                <a:solidFill>
                  <a:srgbClr val="666666"/>
                </a:solidFill>
              </a:defRPr>
            </a:pPr>
            <a:r>
              <a:t>The final project submission on June 20 covers Phase 1 only: SFT training and evaluation. The following work continues as ongoing research.</a:t>
            </a:r>
          </a:p>
        </p:txBody>
      </p:sp>
      <p:sp>
        <p:nvSpPr>
          <p:cNvPr id="4" name="TextBox 3"/>
          <p:cNvSpPr txBox="1"/>
          <p:nvPr/>
        </p:nvSpPr>
        <p:spPr>
          <a:xfrm>
            <a:off x="640080" y="1828800"/>
            <a:ext cx="5029200" cy="2286000"/>
          </a:xfrm>
          <a:prstGeom prst="rect">
            <a:avLst/>
          </a:prstGeom>
          <a:solidFill>
            <a:srgbClr val="E3F2FD"/>
          </a:solidFill>
        </p:spPr>
        <p:txBody>
          <a:bodyPr wrap="square" lIns="182880" rIns="182880" tIns="91440" bIns="91440">
            <a:spAutoFit/>
          </a:bodyPr>
          <a:lstStyle/>
          <a:p>
            <a:pPr>
              <a:spcAft>
                <a:spcPts val="400"/>
              </a:spcAft>
              <a:defRPr sz="1800">
                <a:solidFill>
                  <a:srgbClr val="333333"/>
                </a:solidFill>
              </a:defRPr>
            </a:pPr>
            <a:r>
              <a:t>GRPO Training</a:t>
            </a:r>
          </a:p>
          <a:p>
            <a:pPr>
              <a:spcAft>
                <a:spcPts val="400"/>
              </a:spcAft>
              <a:defRPr sz="1800">
                <a:solidFill>
                  <a:srgbClr val="333333"/>
                </a:solidFill>
              </a:defRPr>
            </a:pPr>
            <a:r>
              <a:t>Reverse the hedging regression on EconCausal while preserving Corr2Cause gains.</a:t>
            </a:r>
          </a:p>
          <a:p>
            <a:pPr>
              <a:spcAft>
                <a:spcPts val="400"/>
              </a:spcAft>
              <a:defRPr sz="1800">
                <a:solidFill>
                  <a:srgbClr val="333333"/>
                </a:solidFill>
              </a:defRPr>
            </a:pPr>
            <a:r>
              <a:t>Two conditions: outcome-only rewards (v3) versus dual advantage with process rewards (v4).</a:t>
            </a:r>
          </a:p>
          <a:p>
            <a:pPr>
              <a:spcAft>
                <a:spcPts val="400"/>
              </a:spcAft>
              <a:defRPr sz="1800">
                <a:solidFill>
                  <a:srgbClr val="333333"/>
                </a:solidFill>
              </a:defRPr>
            </a:pPr>
            <a:r>
              <a:t>V3 at step 902 of 1,500. V4 at step 410 of 1,500. V4 leading on outcome reward.</a:t>
            </a:r>
          </a:p>
        </p:txBody>
      </p:sp>
      <p:sp>
        <p:nvSpPr>
          <p:cNvPr id="5" name="TextBox 4"/>
          <p:cNvSpPr txBox="1"/>
          <p:nvPr/>
        </p:nvSpPr>
        <p:spPr>
          <a:xfrm>
            <a:off x="6583680" y="1828800"/>
            <a:ext cx="5029200" cy="2286000"/>
          </a:xfrm>
          <a:prstGeom prst="rect">
            <a:avLst/>
          </a:prstGeom>
          <a:solidFill>
            <a:srgbClr val="FFF3E0"/>
          </a:solidFill>
        </p:spPr>
        <p:txBody>
          <a:bodyPr wrap="square" lIns="182880" rIns="182880" tIns="91440" bIns="91440">
            <a:spAutoFit/>
          </a:bodyPr>
          <a:lstStyle/>
          <a:p>
            <a:pPr>
              <a:spcAft>
                <a:spcPts val="400"/>
              </a:spcAft>
              <a:defRPr sz="1800">
                <a:solidFill>
                  <a:srgbClr val="333333"/>
                </a:solidFill>
              </a:defRPr>
            </a:pPr>
            <a:r>
              <a:t>Multi-Ideology Comparison</a:t>
            </a:r>
          </a:p>
          <a:p>
            <a:pPr>
              <a:spcAft>
                <a:spcPts val="400"/>
              </a:spcAft>
              <a:defRPr sz="1800">
                <a:solidFill>
                  <a:srgbClr val="333333"/>
                </a:solidFill>
              </a:defRPr>
            </a:pPr>
            <a:r>
              <a:t>Evaluate Liberal and Libertarian SFT models on the same 11-task benchmark.</a:t>
            </a:r>
          </a:p>
          <a:p>
            <a:pPr>
              <a:spcAft>
                <a:spcPts val="400"/>
              </a:spcAft>
              <a:defRPr sz="1800">
                <a:solidFill>
                  <a:srgbClr val="333333"/>
                </a:solidFill>
              </a:defRPr>
            </a:pPr>
            <a:r>
              <a:t>Test whether the hedging regression is specific to DM or general to SFT on non-dominant frameworks.</a:t>
            </a:r>
          </a:p>
          <a:p>
            <a:pPr>
              <a:spcAft>
                <a:spcPts val="400"/>
              </a:spcAft>
              <a:defRPr sz="1800">
                <a:solidFill>
                  <a:srgbClr val="333333"/>
                </a:solidFill>
              </a:defRPr>
            </a:pPr>
            <a:r>
              <a:t>Models already trained. Evaluation pending after final submission.</a:t>
            </a:r>
          </a:p>
        </p:txBody>
      </p:sp>
      <p:sp>
        <p:nvSpPr>
          <p:cNvPr id="6" name="TextBox 5"/>
          <p:cNvSpPr txBox="1"/>
          <p:nvPr/>
        </p:nvSpPr>
        <p:spPr>
          <a:xfrm>
            <a:off x="731520" y="4572000"/>
            <a:ext cx="10698480" cy="1371600"/>
          </a:xfrm>
          <a:prstGeom prst="rect">
            <a:avLst/>
          </a:prstGeom>
          <a:solidFill>
            <a:srgbClr val="FFFFFF"/>
          </a:solidFill>
        </p:spPr>
        <p:txBody>
          <a:bodyPr wrap="square" lIns="182880" rIns="182880" tIns="91440" bIns="91440">
            <a:spAutoFit/>
          </a:bodyPr>
          <a:lstStyle/>
          <a:p>
            <a:pPr>
              <a:spcAft>
                <a:spcPts val="400"/>
              </a:spcAft>
              <a:defRPr sz="1800">
                <a:solidFill>
                  <a:srgbClr val="7B2D8E"/>
                </a:solidFill>
              </a:defRPr>
            </a:pPr>
            <a:r>
              <a:t>Open research question: do standard RLHF pipelines produce similar hidden epistemic transfers, aligned with the evaluator own assumptions?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Timeline: Final Submission June 20</a:t>
            </a:r>
          </a:p>
        </p:txBody>
      </p:sp>
      <p:sp>
        <p:nvSpPr>
          <p:cNvPr id="3" name="TextBox 2"/>
          <p:cNvSpPr txBox="1"/>
          <p:nvPr/>
        </p:nvSpPr>
        <p:spPr>
          <a:xfrm>
            <a:off x="457200" y="1097280"/>
            <a:ext cx="11247120" cy="1005840"/>
          </a:xfrm>
          <a:prstGeom prst="rect">
            <a:avLst/>
          </a:prstGeom>
          <a:solidFill>
            <a:srgbClr val="E8F5E9"/>
          </a:solidFill>
        </p:spPr>
        <p:txBody>
          <a:bodyPr wrap="square" lIns="182880" rIns="182880" tIns="91440" bIns="91440">
            <a:spAutoFit/>
          </a:bodyPr>
          <a:lstStyle/>
          <a:p>
            <a:pPr>
              <a:spcAft>
                <a:spcPts val="400"/>
              </a:spcAft>
              <a:defRPr sz="2000" b="1">
                <a:solidFill>
                  <a:srgbClr val="2E7D32"/>
                </a:solidFill>
              </a:defRPr>
            </a:pPr>
            <a:r>
              <a:t>Phase 1: SFT and Evaluation  --  Completed</a:t>
            </a:r>
          </a:p>
          <a:p>
            <a:pPr>
              <a:spcAft>
                <a:spcPts val="400"/>
              </a:spcAft>
              <a:defRPr sz="1800">
                <a:solidFill>
                  <a:srgbClr val="333333"/>
                </a:solidFill>
              </a:defRPr>
            </a:pPr>
            <a:r>
              <a:t>April to June 2026: Dataset assembly, SFT training, BF16 evaluation across 11 tasks, paper draft.</a:t>
            </a:r>
          </a:p>
        </p:txBody>
      </p:sp>
      <p:sp>
        <p:nvSpPr>
          <p:cNvPr id="4" name="TextBox 3"/>
          <p:cNvSpPr txBox="1"/>
          <p:nvPr/>
        </p:nvSpPr>
        <p:spPr>
          <a:xfrm>
            <a:off x="457200" y="2286000"/>
            <a:ext cx="11247120" cy="1005840"/>
          </a:xfrm>
          <a:prstGeom prst="rect">
            <a:avLst/>
          </a:prstGeom>
          <a:solidFill>
            <a:srgbClr val="7B2D8E"/>
          </a:solidFill>
        </p:spPr>
        <p:txBody>
          <a:bodyPr wrap="square" lIns="182880" rIns="182880" tIns="91440" bIns="91440">
            <a:spAutoFit/>
          </a:bodyPr>
          <a:lstStyle/>
          <a:p>
            <a:pPr>
              <a:spcAft>
                <a:spcPts val="400"/>
              </a:spcAft>
              <a:defRPr sz="2000" b="1">
                <a:solidFill>
                  <a:srgbClr val="FFFFFF"/>
                </a:solidFill>
              </a:defRPr>
            </a:pPr>
            <a:r>
              <a:t>Phase 2: Final Submission  --  June 20</a:t>
            </a:r>
          </a:p>
          <a:p>
            <a:pPr>
              <a:spcAft>
                <a:spcPts val="400"/>
              </a:spcAft>
              <a:defRPr sz="1800">
                <a:solidFill>
                  <a:srgbClr val="333333"/>
                </a:solidFill>
              </a:defRPr>
            </a:pPr>
            <a:r>
              <a:t>Final report, slides, and paper covering SFT results, hedging artifact analysis, and implications.</a:t>
            </a:r>
          </a:p>
        </p:txBody>
      </p:sp>
      <p:sp>
        <p:nvSpPr>
          <p:cNvPr id="5" name="TextBox 4"/>
          <p:cNvSpPr txBox="1"/>
          <p:nvPr/>
        </p:nvSpPr>
        <p:spPr>
          <a:xfrm>
            <a:off x="457200" y="3474720"/>
            <a:ext cx="11247120" cy="1005840"/>
          </a:xfrm>
          <a:prstGeom prst="rect">
            <a:avLst/>
          </a:prstGeom>
          <a:solidFill>
            <a:srgbClr val="FFF3E0"/>
          </a:solidFill>
        </p:spPr>
        <p:txBody>
          <a:bodyPr wrap="square" lIns="182880" rIns="182880" tIns="91440" bIns="91440">
            <a:spAutoFit/>
          </a:bodyPr>
          <a:lstStyle/>
          <a:p>
            <a:pPr>
              <a:spcAft>
                <a:spcPts val="400"/>
              </a:spcAft>
              <a:defRPr sz="2000" b="1">
                <a:solidFill>
                  <a:srgbClr val="E65C00"/>
                </a:solidFill>
              </a:defRPr>
            </a:pPr>
            <a:r>
              <a:t>Future Work: GRPO Training  --  Ongoing Research</a:t>
            </a:r>
          </a:p>
          <a:p>
            <a:pPr>
              <a:spcAft>
                <a:spcPts val="400"/>
              </a:spcAft>
              <a:defRPr sz="1800">
                <a:solidFill>
                  <a:srgbClr val="333333"/>
                </a:solidFill>
              </a:defRPr>
            </a:pPr>
            <a:r>
              <a:t>June to July: Complete v3 and v4 GRPO runs, merge checkpoints, evaluate, compare against SFT baseline.</a:t>
            </a:r>
          </a:p>
        </p:txBody>
      </p:sp>
      <p:sp>
        <p:nvSpPr>
          <p:cNvPr id="6" name="TextBox 5"/>
          <p:cNvSpPr txBox="1"/>
          <p:nvPr/>
        </p:nvSpPr>
        <p:spPr>
          <a:xfrm>
            <a:off x="457200" y="4663440"/>
            <a:ext cx="11247120" cy="1005840"/>
          </a:xfrm>
          <a:prstGeom prst="rect">
            <a:avLst/>
          </a:prstGeom>
          <a:solidFill>
            <a:srgbClr val="E3F2FD"/>
          </a:solidFill>
        </p:spPr>
        <p:txBody>
          <a:bodyPr wrap="square" lIns="182880" rIns="182880" tIns="91440" bIns="91440">
            <a:spAutoFit/>
          </a:bodyPr>
          <a:lstStyle/>
          <a:p>
            <a:pPr>
              <a:spcAft>
                <a:spcPts val="400"/>
              </a:spcAft>
              <a:defRPr sz="2000" b="1">
                <a:solidFill>
                  <a:srgbClr val="1565C0"/>
                </a:solidFill>
              </a:defRPr>
            </a:pPr>
            <a:r>
              <a:t>Future Work: Multi-Ideology Comparison  --  Ongoing Research</a:t>
            </a:r>
          </a:p>
          <a:p>
            <a:pPr>
              <a:spcAft>
                <a:spcPts val="400"/>
              </a:spcAft>
              <a:defRPr sz="1800">
                <a:solidFill>
                  <a:srgbClr val="333333"/>
                </a:solidFill>
              </a:defRPr>
            </a:pPr>
            <a:r>
              <a:t>July: Evaluate Liberal and Libertarian SFT models. Test whether hedging is DM-specific.</a:t>
            </a:r>
          </a:p>
        </p:txBody>
      </p:sp>
      <p:sp>
        <p:nvSpPr>
          <p:cNvPr id="7" name="TextBox 6"/>
          <p:cNvSpPr txBox="1"/>
          <p:nvPr/>
        </p:nvSpPr>
        <p:spPr>
          <a:xfrm>
            <a:off x="457200" y="5852159"/>
            <a:ext cx="11247120" cy="1005840"/>
          </a:xfrm>
          <a:prstGeom prst="rect">
            <a:avLst/>
          </a:prstGeom>
          <a:solidFill>
            <a:srgbClr val="F5F5F5"/>
          </a:solidFill>
        </p:spPr>
        <p:txBody>
          <a:bodyPr wrap="square" lIns="182880" rIns="182880" tIns="91440" bIns="91440">
            <a:spAutoFit/>
          </a:bodyPr>
          <a:lstStyle/>
          <a:p>
            <a:pPr>
              <a:spcAft>
                <a:spcPts val="400"/>
              </a:spcAft>
              <a:defRPr sz="2000" b="1">
                <a:solidFill>
                  <a:srgbClr val="666666"/>
                </a:solidFill>
              </a:defRPr>
            </a:pPr>
            <a:r>
              <a:t>Future Work: Final Analysis  --  Ongoing Research</a:t>
            </a:r>
          </a:p>
          <a:p>
            <a:pPr>
              <a:spcAft>
                <a:spcPts val="400"/>
              </a:spcAft>
              <a:defRPr sz="1800">
                <a:solidFill>
                  <a:srgbClr val="333333"/>
                </a:solidFill>
              </a:defRPr>
            </a:pPr>
            <a:r>
              <a:t>July to August: Consolidate GRPO and multi-ideology results, statistical testing, extended paper.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Summary</a:t>
            </a:r>
          </a:p>
        </p:txBody>
      </p:sp>
      <p:sp>
        <p:nvSpPr>
          <p:cNvPr id="3" name="TextBox 2"/>
          <p:cNvSpPr txBox="1"/>
          <p:nvPr/>
        </p:nvSpPr>
        <p:spPr>
          <a:xfrm>
            <a:off x="731520" y="1097280"/>
            <a:ext cx="10698480" cy="320040"/>
          </a:xfrm>
          <a:prstGeom prst="rect">
            <a:avLst/>
          </a:prstGeom>
          <a:noFill/>
        </p:spPr>
        <p:txBody>
          <a:bodyPr wrap="square" lIns="137160" rIns="137160">
            <a:spAutoFit/>
          </a:bodyPr>
          <a:lstStyle/>
          <a:p>
            <a:pPr algn="l">
              <a:defRPr sz="2000" b="1">
                <a:solidFill>
                  <a:srgbClr val="7B2D8E"/>
                </a:solidFill>
              </a:defRPr>
            </a:pPr>
            <a:r>
              <a:t>Motivation</a:t>
            </a:r>
          </a:p>
        </p:txBody>
      </p:sp>
      <p:sp>
        <p:nvSpPr>
          <p:cNvPr id="4" name="TextBox 3"/>
          <p:cNvSpPr txBox="1"/>
          <p:nvPr/>
        </p:nvSpPr>
        <p:spPr>
          <a:xfrm>
            <a:off x="731520" y="1463040"/>
            <a:ext cx="10698480" cy="457200"/>
          </a:xfrm>
          <a:prstGeom prst="rect">
            <a:avLst/>
          </a:prstGeom>
          <a:noFill/>
        </p:spPr>
        <p:txBody>
          <a:bodyPr wrap="square" lIns="137160" rIns="137160">
            <a:spAutoFit/>
          </a:bodyPr>
          <a:lstStyle/>
          <a:p>
            <a:pPr algn="l">
              <a:defRPr sz="1800" b="0">
                <a:solidFill>
                  <a:srgbClr val="333333"/>
                </a:solidFill>
              </a:defRPr>
            </a:pPr>
            <a:r>
              <a:t>Five models converge on carbon pricing for climate policy, despite evidence of insufficient price levels, net negative fiscal signals, and missing complementary policies.</a:t>
            </a:r>
          </a:p>
        </p:txBody>
      </p:sp>
      <p:sp>
        <p:nvSpPr>
          <p:cNvPr id="5" name="TextBox 4"/>
          <p:cNvSpPr txBox="1"/>
          <p:nvPr/>
        </p:nvSpPr>
        <p:spPr>
          <a:xfrm>
            <a:off x="731520" y="1965960"/>
            <a:ext cx="10698480" cy="457200"/>
          </a:xfrm>
          <a:prstGeom prst="rect">
            <a:avLst/>
          </a:prstGeom>
          <a:noFill/>
        </p:spPr>
        <p:txBody>
          <a:bodyPr wrap="square" lIns="137160" rIns="137160">
            <a:spAutoFit/>
          </a:bodyPr>
          <a:lstStyle/>
          <a:p>
            <a:pPr algn="l">
              <a:defRPr sz="1800" b="0">
                <a:solidFill>
                  <a:srgbClr val="333333"/>
                </a:solidFill>
              </a:defRPr>
            </a:pPr>
            <a:r>
              <a:t>Explicit fossil fuel subsidies at 725 billion dollars exceed carbon pricing revenue at 107 billion by a factor of 6.8.</a:t>
            </a:r>
          </a:p>
        </p:txBody>
      </p:sp>
      <p:sp>
        <p:nvSpPr>
          <p:cNvPr id="6" name="TextBox 5"/>
          <p:cNvSpPr txBox="1"/>
          <p:nvPr/>
        </p:nvSpPr>
        <p:spPr>
          <a:xfrm>
            <a:off x="731520" y="2468880"/>
            <a:ext cx="10698480" cy="457200"/>
          </a:xfrm>
          <a:prstGeom prst="rect">
            <a:avLst/>
          </a:prstGeom>
          <a:noFill/>
        </p:spPr>
        <p:txBody>
          <a:bodyPr wrap="square" lIns="137160" rIns="137160">
            <a:spAutoFit/>
          </a:bodyPr>
          <a:lstStyle/>
          <a:p>
            <a:pPr algn="l">
              <a:defRPr sz="1800" b="0">
                <a:solidFill>
                  <a:srgbClr val="333333"/>
                </a:solidFill>
              </a:defRPr>
            </a:pPr>
            <a:r>
              <a:t>Only after SFT on DM-aligned data does the model identify these gaps.</a:t>
            </a:r>
          </a:p>
        </p:txBody>
      </p:sp>
      <p:sp>
        <p:nvSpPr>
          <p:cNvPr id="7" name="TextBox 6"/>
          <p:cNvSpPr txBox="1"/>
          <p:nvPr/>
        </p:nvSpPr>
        <p:spPr>
          <a:xfrm>
            <a:off x="731520" y="3108960"/>
            <a:ext cx="10698480" cy="320040"/>
          </a:xfrm>
          <a:prstGeom prst="rect">
            <a:avLst/>
          </a:prstGeom>
          <a:noFill/>
        </p:spPr>
        <p:txBody>
          <a:bodyPr wrap="square" lIns="137160" rIns="137160">
            <a:spAutoFit/>
          </a:bodyPr>
          <a:lstStyle/>
          <a:p>
            <a:pPr algn="l">
              <a:defRPr sz="2000" b="1">
                <a:solidFill>
                  <a:srgbClr val="7B2D8E"/>
                </a:solidFill>
              </a:defRPr>
            </a:pPr>
            <a:r>
              <a:t>Method</a:t>
            </a:r>
          </a:p>
        </p:txBody>
      </p:sp>
      <p:sp>
        <p:nvSpPr>
          <p:cNvPr id="8" name="TextBox 7"/>
          <p:cNvSpPr txBox="1"/>
          <p:nvPr/>
        </p:nvSpPr>
        <p:spPr>
          <a:xfrm>
            <a:off x="731520" y="3474720"/>
            <a:ext cx="10698480" cy="457200"/>
          </a:xfrm>
          <a:prstGeom prst="rect">
            <a:avLst/>
          </a:prstGeom>
          <a:noFill/>
        </p:spPr>
        <p:txBody>
          <a:bodyPr wrap="square" lIns="137160" rIns="137160">
            <a:spAutoFit/>
          </a:bodyPr>
          <a:lstStyle/>
          <a:p>
            <a:pPr algn="l">
              <a:defRPr sz="1800" b="0">
                <a:solidFill>
                  <a:srgbClr val="333333"/>
                </a:solidFill>
              </a:defRPr>
            </a:pPr>
            <a:r>
              <a:t>Fine-tuned Qwen3.5-9B via QLoRA on 1,500 DM question-answer pairs. Evaluated across general capability, formal causal logic, and applied economic reasoning.</a:t>
            </a:r>
          </a:p>
        </p:txBody>
      </p:sp>
      <p:sp>
        <p:nvSpPr>
          <p:cNvPr id="9" name="TextBox 8"/>
          <p:cNvSpPr txBox="1"/>
          <p:nvPr/>
        </p:nvSpPr>
        <p:spPr>
          <a:xfrm>
            <a:off x="731520" y="4114800"/>
            <a:ext cx="10698480" cy="320040"/>
          </a:xfrm>
          <a:prstGeom prst="rect">
            <a:avLst/>
          </a:prstGeom>
          <a:noFill/>
        </p:spPr>
        <p:txBody>
          <a:bodyPr wrap="square" lIns="137160" rIns="137160">
            <a:spAutoFit/>
          </a:bodyPr>
          <a:lstStyle/>
          <a:p>
            <a:pPr algn="l">
              <a:defRPr sz="2000" b="1">
                <a:solidFill>
                  <a:srgbClr val="7B2D8E"/>
                </a:solidFill>
              </a:defRPr>
            </a:pPr>
            <a:r>
              <a:t>Results</a:t>
            </a:r>
          </a:p>
        </p:txBody>
      </p:sp>
      <p:sp>
        <p:nvSpPr>
          <p:cNvPr id="10" name="TextBox 9"/>
          <p:cNvSpPr txBox="1"/>
          <p:nvPr/>
        </p:nvSpPr>
        <p:spPr>
          <a:xfrm>
            <a:off x="731520" y="4480560"/>
            <a:ext cx="10698480" cy="457200"/>
          </a:xfrm>
          <a:prstGeom prst="rect">
            <a:avLst/>
          </a:prstGeom>
          <a:noFill/>
        </p:spPr>
        <p:txBody>
          <a:bodyPr wrap="square" lIns="137160" rIns="137160">
            <a:spAutoFit/>
          </a:bodyPr>
          <a:lstStyle/>
          <a:p>
            <a:pPr algn="l">
              <a:defRPr sz="1800" b="0">
                <a:solidFill>
                  <a:srgbClr val="333333"/>
                </a:solidFill>
              </a:defRPr>
            </a:pPr>
            <a:r>
              <a:t>General capability preserved. Formal causal reasoning improved by 38 points. Applied economic reasoning regressed by 12 points through emergent hedging bias.</a:t>
            </a:r>
          </a:p>
        </p:txBody>
      </p:sp>
      <p:sp>
        <p:nvSpPr>
          <p:cNvPr id="11" name="TextBox 10"/>
          <p:cNvSpPr txBox="1"/>
          <p:nvPr/>
        </p:nvSpPr>
        <p:spPr>
          <a:xfrm>
            <a:off x="731520" y="5120640"/>
            <a:ext cx="10698480" cy="320040"/>
          </a:xfrm>
          <a:prstGeom prst="rect">
            <a:avLst/>
          </a:prstGeom>
          <a:noFill/>
        </p:spPr>
        <p:txBody>
          <a:bodyPr wrap="square" lIns="137160" rIns="137160">
            <a:spAutoFit/>
          </a:bodyPr>
          <a:lstStyle/>
          <a:p>
            <a:pPr algn="l">
              <a:defRPr sz="2000" b="1">
                <a:solidFill>
                  <a:srgbClr val="7B2D8E"/>
                </a:solidFill>
              </a:defRPr>
            </a:pPr>
            <a:r>
              <a:t>Next Phase</a:t>
            </a:r>
          </a:p>
        </p:txBody>
      </p:sp>
      <p:sp>
        <p:nvSpPr>
          <p:cNvPr id="12" name="TextBox 11"/>
          <p:cNvSpPr txBox="1"/>
          <p:nvPr/>
        </p:nvSpPr>
        <p:spPr>
          <a:xfrm>
            <a:off x="731520" y="5486400"/>
            <a:ext cx="10698480" cy="457200"/>
          </a:xfrm>
          <a:prstGeom prst="rect">
            <a:avLst/>
          </a:prstGeom>
          <a:noFill/>
        </p:spPr>
        <p:txBody>
          <a:bodyPr wrap="square" lIns="137160" rIns="137160">
            <a:spAutoFit/>
          </a:bodyPr>
          <a:lstStyle/>
          <a:p>
            <a:pPr algn="l">
              <a:defRPr sz="1800" b="0">
                <a:solidFill>
                  <a:srgbClr val="333333"/>
                </a:solidFill>
              </a:defRPr>
            </a:pPr>
            <a:r>
              <a:t>GRPO training to reverse the hedging regression: outcome-only rewards (v3) versus dual advantage with process rewards (v4).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