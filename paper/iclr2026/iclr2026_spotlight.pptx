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sec] Welcome. Today I will present our work on how supervised fine-tuning transfers not just vocabulary but deep epistemic priors.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sec] LLMs are aligned in two stages. First, supervised fine-tuning -- we train on curated instruction-answer pairs. Then preference optimization -- DPO or RLHF -- further shapes responses. SFT is the most impactful step because it sets the reasoning baseline. But we do not understand what it transfers beyond the training domain. Transition: That is the question we investigate.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sec] Prior work showed LLMs carry ideological priors from pretraining, but treated ideology as static. We asked a dynamic question: can targeted SFT shift a model's reasoning? We fine-tuned on Dialectical Materialism -- a Marxist analytical framework emphasizing structural conditions and skepticism of simple causal claims. Transition: Here is how we set up the experiment.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sec] We fine-tuned Qwen3.5-9B using quantized LoRA on 1,460 question-answer pairs generated by a 27B teacher with DM analysis prompts. Evaluated across three domains: general capability, formal causal logic, and applied economic causal reasoning. All in bfloat16 with 0-shot greedy decoding.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[60 sec] Three outcomes. General capability preserved. Formal causal reasoning improves by 38 points. Applied economic causal reasoning regresses by 12 to 13.5 points, all highly significant. Transition: How can the same training improve one benchmark while breaking another? The answer is a single emergent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[60 sec] The dominant regression pattern is positive-to-mixed hedging. The model takes correct positive causal predictions and converts them to ambiguous mixed answers. On Task1 Econ, 52.7% of all regressions. This hedging is absent from the training data -- the teacher hedges only 4%. It is an emergent artifact. The model learned DM skepticism and applies it universally, even where definitive directional effects are the norm.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sec] Corr2Cause requires formal structural analysis. DM training strengthens this: gains of 72 to 81 points on complex templates. EconCausal requires applied identification. DM skepticism overrides empirical claims. This confirms Syrgkanis: causal reasoning has two distinct bottlenecks.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sec] Three implications. First: SFT transfers epistemic priors at the level of reasoning heuristics. Second: standard RLHF likely carries hidden priors that go unaudited. Third: the Corr2Cause and EconCausal divergence gives us a diagnostic tool for detecting over-generalized skepticism.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sec] We show SFT on ideologically structured data produces measurable, domain-specific reasoning shifts without catastrophic general degradation. Key finding: alignment training transfers epistemic priors. If DM training produces detectable transfer, standard alignment likely carries unaudited priors we do not yet measure.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Leave up during Q&amp;A. Backup slides: full MMLU breakdown, Corr2Cause template analysis, EconCausal patterns, training config.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B2D8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</a:defRPr>
            </a:pPr>
            <a:r>
              <a:t>Who's Afraid of Communist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32720" cy="73152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2800" b="0">
                <a:solidFill>
                  <a:srgbClr val="F0AD00"/>
                </a:solidFill>
              </a:defRPr>
            </a:pPr>
            <a:r>
              <a:t>Epistemic Transfer and Ideological Convergence in Language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389120"/>
            <a:ext cx="10332720" cy="54864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</a:defRPr>
            </a:pPr>
            <a:r>
              <a:t>Anonymous ICLR Submission  •  ICLR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B2D8E"/>
          </a:solidFill>
        </p:spPr>
        <p:txBody>
          <a:bodyPr wrap="square" lIns="548640" tIns="91440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Background: How LLMs Are Aligned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10698480" cy="1495806"/>
          </a:xfrm>
          <a:prstGeom prst="rect">
            <a:avLst/>
          </a:prstGeom>
          <a:noFill/>
        </p:spPr>
        <p:txBody>
          <a:bodyPr wrap="square" lIns="457200">
            <a:spAutoFit/>
          </a:bodyPr>
          <a:lstStyle/>
          <a:p>
            <a:pPr>
              <a:spcAft>
                <a:spcPts val="600"/>
              </a:spcAft>
              <a:defRPr sz="2600">
                <a:solidFill>
                  <a:srgbClr val="333333"/>
                </a:solidFill>
              </a:defRPr>
              <a:buNone/>
            </a:pPr>
            <a:r>
              <a:t>•  LLMs are aligned in two stages: SFT, then preference optimization (DPO, RLHF)</a:t>
            </a:r>
          </a:p>
          <a:p>
            <a:pPr>
              <a:spcAft>
                <a:spcPts val="600"/>
              </a:spcAft>
              <a:defRPr sz="2600">
                <a:solidFill>
                  <a:srgbClr val="333333"/>
                </a:solidFill>
              </a:defRPr>
              <a:buNone/>
            </a:pPr>
            <a:r>
              <a:t>•  SFT (supervised fine-tuning) trains on curated instruction-answer pairs</a:t>
            </a:r>
          </a:p>
          <a:p>
            <a:pPr>
              <a:spcAft>
                <a:spcPts val="600"/>
              </a:spcAft>
              <a:defRPr sz="2600">
                <a:solidFill>
                  <a:srgbClr val="333333"/>
                </a:solidFill>
              </a:defRPr>
              <a:buNone/>
            </a:pPr>
            <a:r>
              <a:t>•  Preference optimization further shapes responses from paired comparisons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913125"/>
            <a:ext cx="10698480" cy="36576"/>
          </a:xfrm>
          <a:prstGeom prst="rect">
            <a:avLst/>
          </a:prstGeom>
          <a:solidFill>
            <a:srgbClr val="F0A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141725"/>
            <a:ext cx="10698480" cy="1042924"/>
          </a:xfrm>
          <a:prstGeom prst="rect">
            <a:avLst/>
          </a:prstGeom>
          <a:noFill/>
        </p:spPr>
        <p:txBody>
          <a:bodyPr wrap="square" lIns="457200">
            <a:spAutoFit/>
          </a:bodyPr>
          <a:lstStyle/>
          <a:p>
            <a:pPr>
              <a:spcAft>
                <a:spcPts val="600"/>
              </a:spcAft>
              <a:defRPr sz="2600">
                <a:solidFill>
                  <a:srgbClr val="333333"/>
                </a:solidFill>
              </a:defRPr>
              <a:buNone/>
            </a:pPr>
            <a:r>
              <a:t>•  SFT is the most impactful alignment step -- it sets the model's reasoning baseline</a:t>
            </a:r>
          </a:p>
          <a:p>
            <a:pPr>
              <a:spcAft>
                <a:spcPts val="600"/>
              </a:spcAft>
              <a:defRPr sz="2600">
                <a:solidFill>
                  <a:srgbClr val="333333"/>
                </a:solidFill>
              </a:defRPr>
              <a:buNone/>
            </a:pPr>
            <a:r>
              <a:t>•  But we do not understand what SFT transfers beyond its training domain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67530"/>
            <a:ext cx="10698480" cy="36576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1600" b="0">
                <a:solidFill>
                  <a:srgbClr val="666666"/>
                </a:solidFill>
              </a:defRPr>
            </a:pPr>
            <a:r>
              <a:t>SFT = supervised fine-tuning | DPO = direct preference optimization | RLHF = reinforcement learning from human feedback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B2D8E"/>
          </a:solidFill>
        </p:spPr>
        <p:txBody>
          <a:bodyPr wrap="square" lIns="548640" tIns="91440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The Open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10698480" cy="1042924"/>
          </a:xfrm>
          <a:prstGeom prst="rect">
            <a:avLst/>
          </a:prstGeom>
          <a:noFill/>
        </p:spPr>
        <p:txBody>
          <a:bodyPr wrap="square" lIns="457200">
            <a:spAutoFit/>
          </a:bodyPr>
          <a:lstStyle/>
          <a:p>
            <a:pPr>
              <a:spcAft>
                <a:spcPts val="600"/>
              </a:spcAft>
              <a:defRPr sz="2600">
                <a:solidFill>
                  <a:srgbClr val="333333"/>
                </a:solidFill>
              </a:defRPr>
              <a:buNone/>
            </a:pPr>
            <a:r>
              <a:t>•  Prior work: LLMs carry ideological priors from pretraining (Kronlund 2024, Lee 2026)</a:t>
            </a:r>
          </a:p>
          <a:p>
            <a:pPr>
              <a:spcAft>
                <a:spcPts val="600"/>
              </a:spcAft>
              <a:defRPr sz="2600">
                <a:solidFill>
                  <a:srgbClr val="333333"/>
                </a:solidFill>
              </a:defRPr>
              <a:buNone/>
            </a:pPr>
            <a:r>
              <a:t>•  These studies treat ideology as a static property -- what the model already knows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2460244"/>
            <a:ext cx="10698480" cy="36576"/>
          </a:xfrm>
          <a:prstGeom prst="rect">
            <a:avLst/>
          </a:prstGeom>
          <a:solidFill>
            <a:srgbClr val="F0A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688844"/>
            <a:ext cx="10698480" cy="1495806"/>
          </a:xfrm>
          <a:prstGeom prst="rect">
            <a:avLst/>
          </a:prstGeom>
          <a:noFill/>
        </p:spPr>
        <p:txBody>
          <a:bodyPr wrap="square" lIns="457200">
            <a:spAutoFit/>
          </a:bodyPr>
          <a:lstStyle/>
          <a:p>
            <a:pPr>
              <a:spcAft>
                <a:spcPts val="600"/>
              </a:spcAft>
              <a:defRPr sz="2600">
                <a:solidFill>
                  <a:srgbClr val="333333"/>
                </a:solidFill>
              </a:defRPr>
              <a:buNone/>
            </a:pPr>
            <a:r>
              <a:t>•  We ask a dynamic question: can targeted SFT shift a model's reasoning?</a:t>
            </a:r>
          </a:p>
          <a:p>
            <a:pPr>
              <a:spcAft>
                <a:spcPts val="600"/>
              </a:spcAft>
              <a:defRPr sz="2600">
                <a:solidFill>
                  <a:srgbClr val="333333"/>
                </a:solidFill>
              </a:defRPr>
              <a:buNone/>
            </a:pPr>
            <a:r>
              <a:t>•  We train on a non-dominant framework: Dialectical Materialism (DM)</a:t>
            </a:r>
          </a:p>
          <a:p>
            <a:pPr>
              <a:spcAft>
                <a:spcPts val="600"/>
              </a:spcAft>
              <a:defRPr sz="2600">
                <a:solidFill>
                  <a:srgbClr val="333333"/>
                </a:solidFill>
              </a:defRPr>
              <a:buNone/>
            </a:pPr>
            <a:r>
              <a:t>•  DM emphasizes structural conditions, systemic contradictions, skepticism of simple causality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67530"/>
            <a:ext cx="10698480" cy="36576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1600" b="0">
                <a:solidFill>
                  <a:srgbClr val="666666"/>
                </a:solidFill>
              </a:defRPr>
            </a:pPr>
            <a:r>
              <a:t>DM = Dialectical Materialism (Marxist analytical framework)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B2D8E"/>
          </a:solidFill>
        </p:spPr>
        <p:txBody>
          <a:bodyPr wrap="square" lIns="548640" tIns="91440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Experimental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5029200" cy="32004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200" b="1">
                <a:solidFill>
                  <a:srgbClr val="7B2D8E"/>
                </a:solidFill>
              </a:defRPr>
            </a:pPr>
            <a:r>
              <a:t>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5029200" cy="2109470"/>
          </a:xfrm>
          <a:prstGeom prst="rect">
            <a:avLst/>
          </a:prstGeom>
          <a:noFill/>
        </p:spPr>
        <p:txBody>
          <a:bodyPr wrap="square" lIns="457200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Student: Qwen3.5-9B (Instruct variant)</a:t>
            </a:r>
          </a:p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Teacher: Qwen3.5-27B (generates DM answers only)</a:t>
            </a:r>
          </a:p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QLoRA with NF4 quantization, rank 32, 7 target modules</a:t>
            </a:r>
          </a:p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1,460 DM question-answer pairs, trained 3 epochs</a:t>
            </a:r>
          </a:p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Single NVIDIA RTX 5090 (32 GB VRAM)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143000"/>
            <a:ext cx="5029200" cy="32004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200" b="1">
                <a:solidFill>
                  <a:srgbClr val="7B2D8E"/>
                </a:solidFill>
              </a:defRPr>
            </a:pPr>
            <a:r>
              <a:t>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508760"/>
            <a:ext cx="5029200" cy="1715008"/>
          </a:xfrm>
          <a:prstGeom prst="rect">
            <a:avLst/>
          </a:prstGeom>
          <a:noFill/>
        </p:spPr>
        <p:txBody>
          <a:bodyPr wrap="square" lIns="457200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All benchmarks: bf16 precision, 0-shot greedy decoding</a:t>
            </a:r>
          </a:p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General capability: MMLU, HumanEval, GPQA Diamond</a:t>
            </a:r>
          </a:p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Formal causal logic: Corr2Cause (1,162 samples)</a:t>
            </a:r>
          </a:p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Applied causal reasoning: EconCausal (3,943 samples)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486400"/>
            <a:ext cx="10698480" cy="36576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1600" b="0">
                <a:solidFill>
                  <a:srgbClr val="666666"/>
                </a:solidFill>
              </a:defRPr>
            </a:pPr>
            <a:r>
              <a:t>QLoRA = quantized LoRA (parameter-efficient fine-tuning) | NF4 = 4-bit normalfloat quantization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B2D8E"/>
          </a:solidFill>
        </p:spPr>
        <p:txBody>
          <a:bodyPr wrap="square" lIns="548640" tIns="91440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Three Divergent Outcomes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291840" cy="4114800"/>
          </a:xfrm>
          <a:prstGeom prst="rect">
            <a:avLst/>
          </a:prstGeom>
          <a:solidFill>
            <a:srgbClr val="E8F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2926080" cy="36576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100" b="1">
                <a:solidFill>
                  <a:srgbClr val="2E7D32"/>
                </a:solidFill>
              </a:defRPr>
            </a:pPr>
            <a:r>
              <a:t>General: Preserved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2926080" cy="1598168"/>
          </a:xfrm>
          <a:prstGeom prst="rect">
            <a:avLst/>
          </a:prstGeom>
          <a:noFill/>
        </p:spPr>
        <p:txBody>
          <a:bodyPr wrap="square" lIns="457200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  <a:buNone/>
            </a:pPr>
            <a:r>
              <a:t>•  MMLU: -0.8pp (within noise)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  <a:buNone/>
            </a:pPr>
            <a:r>
              <a:t>•  HumanEval: 0.0pp (identical)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  <a:buNone/>
            </a:pPr>
            <a:r>
              <a:t>•  GPQA: -1.5pp (within noise)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  <a:buNone/>
            </a:pPr>
            <a:r>
              <a:t>•  No catastrophic forgetting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9079" y="1143000"/>
            <a:ext cx="3291840" cy="4114800"/>
          </a:xfrm>
          <a:prstGeom prst="rect">
            <a:avLst/>
          </a:prstGeom>
          <a:solidFill>
            <a:srgbClr val="E3F2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51959" y="1280160"/>
            <a:ext cx="2926080" cy="36576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100" b="1">
                <a:solidFill>
                  <a:srgbClr val="1565C0"/>
                </a:solidFill>
              </a:defRPr>
            </a:pPr>
            <a:r>
              <a:t>Formal Causal: +38.3pp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59" y="1691640"/>
            <a:ext cx="2926080" cy="1598168"/>
          </a:xfrm>
          <a:prstGeom prst="rect">
            <a:avLst/>
          </a:prstGeom>
          <a:noFill/>
        </p:spPr>
        <p:txBody>
          <a:bodyPr wrap="square" lIns="457200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  <a:buNone/>
            </a:pPr>
            <a:r>
              <a:t>•  Corr2Cause: 36.3% -&gt; 74.6%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  <a:buNone/>
            </a:pPr>
            <a:r>
              <a:t>•  Corrects 520 baseline errors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  <a:buNone/>
            </a:pPr>
            <a:r>
              <a:t>•  Only 75 new errors introduced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  <a:buNone/>
            </a:pPr>
            <a:r>
              <a:t>•  Net gain: +445 correct answers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7680960" y="1143000"/>
            <a:ext cx="3291840" cy="4114800"/>
          </a:xfrm>
          <a:prstGeom prst="rect">
            <a:avLst/>
          </a:prstGeom>
          <a:solidFill>
            <a:srgbClr val="FC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0" y="1280160"/>
            <a:ext cx="2926080" cy="36576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100" b="1">
                <a:solidFill>
                  <a:srgbClr val="C62828"/>
                </a:solidFill>
              </a:defRPr>
            </a:pPr>
            <a:r>
              <a:t>Applied Causal: -12.4pp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1691640"/>
            <a:ext cx="2926080" cy="1598168"/>
          </a:xfrm>
          <a:prstGeom prst="rect">
            <a:avLst/>
          </a:prstGeom>
          <a:noFill/>
        </p:spPr>
        <p:txBody>
          <a:bodyPr wrap="square" lIns="457200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  <a:buNone/>
            </a:pPr>
            <a:r>
              <a:t>•  Task1 Econ: 60.3% -&gt; 47.9%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  <a:buNone/>
            </a:pPr>
            <a:r>
              <a:t>•  Task1 Finance: 56.5% -&gt; 43.0%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  <a:buNone/>
            </a:pPr>
            <a:r>
              <a:t>•  Task3: 22.2% -&gt; 11.4%</a:t>
            </a:r>
          </a:p>
          <a:p>
            <a:pPr>
              <a:spcAft>
                <a:spcPts val="600"/>
              </a:spcAft>
              <a:defRPr sz="2000">
                <a:solidFill>
                  <a:srgbClr val="333333"/>
                </a:solidFill>
              </a:defRPr>
              <a:buNone/>
            </a:pPr>
            <a:r>
              <a:t>•  All regressions highly significant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B2D8E"/>
          </a:solidFill>
        </p:spPr>
        <p:txBody>
          <a:bodyPr wrap="square" lIns="548640" tIns="91440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The Hedging Artifact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10698480" cy="36576"/>
          </a:xfrm>
          <a:prstGeom prst="rect">
            <a:avLst/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36576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400" b="1">
                <a:solidFill>
                  <a:srgbClr val="C62828"/>
                </a:solidFill>
              </a:defRPr>
            </a:pPr>
            <a:r>
              <a:t>Dominant Failure Mode: Positive-to-Mixed Hedging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698480" cy="1831848"/>
          </a:xfrm>
          <a:prstGeom prst="rect">
            <a:avLst/>
          </a:prstGeom>
          <a:noFill/>
        </p:spPr>
        <p:txBody>
          <a:bodyPr wrap="square" lIns="457200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333333"/>
                </a:solidFill>
              </a:defRPr>
              <a:buNone/>
            </a:pPr>
            <a:r>
              <a:t>•  Finetuned model converts correct positive predictions (+) to ambiguous "mixed"</a:t>
            </a:r>
          </a:p>
          <a:p>
            <a:pPr>
              <a:spcAft>
                <a:spcPts val="600"/>
              </a:spcAft>
              <a:defRPr sz="2400">
                <a:solidFill>
                  <a:srgbClr val="333333"/>
                </a:solidFill>
              </a:defRPr>
              <a:buNone/>
            </a:pPr>
            <a:r>
              <a:t>•  Task1 Econ: 96 of 182 regressions are + to mixed (52.7%)</a:t>
            </a:r>
          </a:p>
          <a:p>
            <a:pPr>
              <a:spcAft>
                <a:spcPts val="600"/>
              </a:spcAft>
              <a:defRPr sz="2400">
                <a:solidFill>
                  <a:srgbClr val="333333"/>
                </a:solidFill>
              </a:defRPr>
              <a:buNone/>
            </a:pPr>
            <a:r>
              <a:t>•  Task1 Finance: 95 of 174 (54.6%)</a:t>
            </a:r>
          </a:p>
          <a:p>
            <a:pPr>
              <a:spcAft>
                <a:spcPts val="600"/>
              </a:spcAft>
              <a:defRPr sz="2400">
                <a:solidFill>
                  <a:srgbClr val="333333"/>
                </a:solidFill>
              </a:defRPr>
              <a:buNone/>
            </a:pPr>
            <a:r>
              <a:t>•  Positive-effect conversion accounts for 77-85% of all Task1 regressions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843528"/>
            <a:ext cx="10698480" cy="36576"/>
          </a:xfrm>
          <a:prstGeom prst="rect">
            <a:avLst/>
          </a:prstGeom>
          <a:solidFill>
            <a:srgbClr val="7B2D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980688"/>
            <a:ext cx="10698480" cy="36576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400" b="1">
                <a:solidFill>
                  <a:srgbClr val="7B2D8E"/>
                </a:solidFill>
              </a:defRPr>
            </a:pPr>
            <a:r>
              <a:t>Why? A Transferred Epistemic Prior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437888"/>
            <a:ext cx="10698480" cy="1831848"/>
          </a:xfrm>
          <a:prstGeom prst="rect">
            <a:avLst/>
          </a:prstGeom>
          <a:noFill/>
        </p:spPr>
        <p:txBody>
          <a:bodyPr wrap="square" lIns="457200">
            <a:spAutoFit/>
          </a:bodyPr>
          <a:lstStyle/>
          <a:p>
            <a:pPr>
              <a:spcAft>
                <a:spcPts val="600"/>
              </a:spcAft>
              <a:defRPr sz="2400">
                <a:solidFill>
                  <a:srgbClr val="333333"/>
                </a:solidFill>
              </a:defRPr>
              <a:buNone/>
            </a:pPr>
            <a:r>
              <a:t>•  Hedging is ABSENT from training data -- teacher hedges only 4.0% of the time</a:t>
            </a:r>
          </a:p>
          <a:p>
            <a:pPr>
              <a:spcAft>
                <a:spcPts val="600"/>
              </a:spcAft>
              <a:defRPr sz="2400">
                <a:solidFill>
                  <a:srgbClr val="333333"/>
                </a:solidFill>
              </a:defRPr>
              <a:buNone/>
            </a:pPr>
            <a:r>
              <a:t>•  Model internalizes DM principles: "outcomes depend on material conditions"</a:t>
            </a:r>
          </a:p>
          <a:p>
            <a:pPr>
              <a:spcAft>
                <a:spcPts val="600"/>
              </a:spcAft>
              <a:defRPr sz="2400">
                <a:solidFill>
                  <a:srgbClr val="333333"/>
                </a:solidFill>
              </a:defRPr>
              <a:buNone/>
            </a:pPr>
            <a:r>
              <a:t>•  It then applies this skepticism indiscriminately -- even where definitive answers exist</a:t>
            </a:r>
          </a:p>
          <a:p>
            <a:pPr>
              <a:spcAft>
                <a:spcPts val="600"/>
              </a:spcAft>
              <a:defRPr sz="2400">
                <a:solidFill>
                  <a:srgbClr val="333333"/>
                </a:solidFill>
              </a:defRPr>
              <a:buNone/>
            </a:pPr>
            <a:r>
              <a:t>•  This is not a reasoning error. It is a transferred epistemic prior.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B2D8E"/>
          </a:solidFill>
        </p:spPr>
        <p:txBody>
          <a:bodyPr wrap="square" lIns="548640" tIns="91440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Why Formal Causal Improves While Applied Causal Regresses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5029200" cy="32004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200" b="1">
                <a:solidFill>
                  <a:srgbClr val="1565C0"/>
                </a:solidFill>
              </a:defRPr>
            </a:pPr>
            <a:r>
              <a:t>Corr2Cause: +38.3pp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508760"/>
            <a:ext cx="5029200" cy="27432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</a:defRPr>
            </a:pPr>
            <a:r>
              <a:t>Formal structural analysis on causal graphs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74519"/>
            <a:ext cx="5029200" cy="2109470"/>
          </a:xfrm>
          <a:prstGeom prst="rect">
            <a:avLst/>
          </a:prstGeom>
          <a:noFill/>
        </p:spPr>
        <p:txBody>
          <a:bodyPr wrap="square" lIns="457200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DM training strengthens structural reasoning: trace dependencies, find confounders</a:t>
            </a:r>
          </a:p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Non-child descendant: 13.0% -&gt; 94.3% (+81.3pp)</a:t>
            </a:r>
          </a:p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Non-parent ancestor: 14.4% -&gt; 87.2% (+72.8pp)</a:t>
            </a:r>
          </a:p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Largest gains on the most structurally complex templates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32004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200" b="1">
                <a:solidFill>
                  <a:srgbClr val="C62828"/>
                </a:solidFill>
              </a:defRPr>
            </a:pPr>
            <a:r>
              <a:t>EconCausal: -12.4pp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5029200" cy="27432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1800" b="0">
                <a:solidFill>
                  <a:srgbClr val="666666"/>
                </a:solidFill>
              </a:defRPr>
            </a:pPr>
            <a:r>
              <a:t>Applied causal identification from empirical context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920240"/>
            <a:ext cx="5029200" cy="1715008"/>
          </a:xfrm>
          <a:prstGeom prst="rect">
            <a:avLst/>
          </a:prstGeom>
          <a:noFill/>
        </p:spPr>
        <p:txBody>
          <a:bodyPr wrap="square" lIns="457200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DM skepticism prior overrides empirical directional claims</a:t>
            </a:r>
          </a:p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Model learned "everything depends on structural conditions"</a:t>
            </a:r>
          </a:p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Applies this heuristic where the correct answer is a definitive + or -</a:t>
            </a:r>
          </a:p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Result: systematic under-prediction of positive effects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5029200"/>
            <a:ext cx="10698480" cy="36576"/>
          </a:xfrm>
          <a:prstGeom prst="rect">
            <a:avLst/>
          </a:prstGeom>
          <a:solidFill>
            <a:srgbClr val="F0A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5166360"/>
            <a:ext cx="10698480" cy="91440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100" b="0">
                <a:solidFill>
                  <a:srgbClr val="333333"/>
                </a:solidFill>
              </a:defRPr>
            </a:pPr>
            <a:r>
              <a:t>Causal reasoning has two distinct bottlenecks: formal logic (strengthened by DM) and identification details (weakened by DM). Mirrors findings of Syrgkanis 2026.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B2D8E"/>
          </a:solidFill>
        </p:spPr>
        <p:txBody>
          <a:bodyPr wrap="square" lIns="548640" tIns="91440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Implications for Alignment Research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10698480" cy="36576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400" b="1">
                <a:solidFill>
                  <a:srgbClr val="7B2D8E"/>
                </a:solidFill>
              </a:defRPr>
            </a:pPr>
            <a:r>
              <a:t>SFT transfers epistemic priors, not just behavior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26084"/>
          </a:xfrm>
          <a:prstGeom prst="rect">
            <a:avLst/>
          </a:prstGeom>
          <a:noFill/>
        </p:spPr>
        <p:txBody>
          <a:bodyPr wrap="square" lIns="457200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Hedging artifact absent from training data, emerges from internalized framework</a:t>
            </a:r>
          </a:p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Shift operates at level of reasoning heuristics, not response 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46324"/>
            <a:ext cx="10698480" cy="36576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400" b="1">
                <a:solidFill>
                  <a:srgbClr val="7B2D8E"/>
                </a:solidFill>
              </a:defRPr>
            </a:pPr>
            <a:r>
              <a:t>Standard alignment may carry unaudited priors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03524"/>
            <a:ext cx="10698480" cy="926084"/>
          </a:xfrm>
          <a:prstGeom prst="rect">
            <a:avLst/>
          </a:prstGeom>
          <a:noFill/>
        </p:spPr>
        <p:txBody>
          <a:bodyPr wrap="square" lIns="457200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If DM training produces detectable transfer, RLHF likely does too</a:t>
            </a:r>
          </a:p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Helpfulness training may transfer deference to authority, controversy avoidance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49648"/>
            <a:ext cx="10698480" cy="36576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l">
              <a:defRPr sz="2400" b="1">
                <a:solidFill>
                  <a:srgbClr val="7B2D8E"/>
                </a:solidFill>
              </a:defRPr>
            </a:pPr>
            <a:r>
              <a:t>The Identification-Logic Split as a diagnostic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006848"/>
            <a:ext cx="10698480" cy="926084"/>
          </a:xfrm>
          <a:prstGeom prst="rect">
            <a:avLst/>
          </a:prstGeom>
          <a:noFill/>
        </p:spPr>
        <p:txBody>
          <a:bodyPr wrap="square" lIns="457200">
            <a:spAutoFit/>
          </a:bodyPr>
          <a:lstStyle/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Intervention improves formal logic but impairs applied identification?</a:t>
            </a:r>
          </a:p>
          <a:p>
            <a:pPr>
              <a:spcAft>
                <a:spcPts val="600"/>
              </a:spcAft>
              <a:defRPr sz="2200">
                <a:solidFill>
                  <a:srgbClr val="333333"/>
                </a:solidFill>
              </a:defRPr>
              <a:buNone/>
            </a:pPr>
            <a:r>
              <a:t>•  Signal of over-generalized structural skepticism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7B2D8E"/>
          </a:solidFill>
        </p:spPr>
        <p:txBody>
          <a:bodyPr wrap="square" lIns="548640" tIns="91440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43000"/>
            <a:ext cx="10698480" cy="3307333"/>
          </a:xfrm>
          <a:prstGeom prst="rect">
            <a:avLst/>
          </a:prstGeom>
          <a:noFill/>
        </p:spPr>
        <p:txBody>
          <a:bodyPr wrap="square" lIns="457200">
            <a:spAutoFit/>
          </a:bodyPr>
          <a:lstStyle/>
          <a:p>
            <a:pPr>
              <a:spcAft>
                <a:spcPts val="600"/>
              </a:spcAft>
              <a:defRPr sz="2600">
                <a:solidFill>
                  <a:srgbClr val="333333"/>
                </a:solidFill>
              </a:defRPr>
              <a:buNone/>
            </a:pPr>
            <a:r>
              <a:t>•  Fine-tuned Qwen3.5-9B on 1,460 DM-aligned Q&amp;A pairs via QLoRA</a:t>
            </a:r>
          </a:p>
          <a:p>
            <a:pPr>
              <a:spcAft>
                <a:spcPts val="600"/>
              </a:spcAft>
              <a:defRPr sz="2600">
                <a:solidFill>
                  <a:srgbClr val="333333"/>
                </a:solidFill>
              </a:defRPr>
              <a:buNone/>
            </a:pPr>
            <a:r>
              <a:t>•  General capability preserved: MMLU -0.8pp, HumanEval unchanged at 70.7%</a:t>
            </a:r>
          </a:p>
          <a:p>
            <a:pPr>
              <a:spcAft>
                <a:spcPts val="600"/>
              </a:spcAft>
              <a:defRPr sz="2600">
                <a:solidFill>
                  <a:srgbClr val="333333"/>
                </a:solidFill>
              </a:defRPr>
              <a:buNone/>
            </a:pPr>
            <a:r>
              <a:t>•  Formal causal reasoning improved dramatically: Corr2Cause +38.3pp</a:t>
            </a:r>
          </a:p>
          <a:p>
            <a:pPr>
              <a:spcAft>
                <a:spcPts val="600"/>
              </a:spcAft>
              <a:defRPr sz="2600">
                <a:solidFill>
                  <a:srgbClr val="333333"/>
                </a:solidFill>
              </a:defRPr>
              <a:buNone/>
            </a:pPr>
            <a:r>
              <a:t>•  Applied causal reasoning regressed: EconCausal -12.4pp to -13.5pp</a:t>
            </a:r>
          </a:p>
          <a:p>
            <a:pPr>
              <a:spcAft>
                <a:spcPts val="600"/>
              </a:spcAft>
              <a:defRPr sz="2600">
                <a:solidFill>
                  <a:srgbClr val="333333"/>
                </a:solidFill>
              </a:defRPr>
              <a:buNone/>
            </a:pPr>
            <a:r>
              <a:t>•  Regression from single emergent artifact: positive-to-mixed hedging bias</a:t>
            </a:r>
          </a:p>
          <a:p>
            <a:pPr>
              <a:spcAft>
                <a:spcPts val="600"/>
              </a:spcAft>
              <a:defRPr sz="2600">
                <a:solidFill>
                  <a:srgbClr val="333333"/>
                </a:solidFill>
              </a:defRPr>
              <a:buNone/>
            </a:pPr>
            <a:r>
              <a:t>•  Hedging absent from training data -- a transferred epistemic prior</a:t>
            </a:r>
          </a:p>
          <a:p>
            <a:pPr>
              <a:spcAft>
                <a:spcPts val="600"/>
              </a:spcAft>
              <a:defRPr sz="2600">
                <a:solidFill>
                  <a:srgbClr val="333333"/>
                </a:solidFill>
              </a:defRPr>
              <a:buNone/>
            </a:pPr>
            <a:r>
              <a:t>•  Conclusion: SFT transfers reasoning priors, not just behavioral patterns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B2D8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32720" cy="73152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45720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3200" b="0">
                <a:solidFill>
                  <a:srgbClr val="F0AD00"/>
                </a:solidFill>
              </a:defRPr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743200"/>
            <a:ext cx="8503920" cy="45720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2600" b="1">
                <a:solidFill>
                  <a:srgbClr val="F0AD00"/>
                </a:solidFill>
              </a:defRPr>
            </a:pPr>
            <a:r>
              <a:t>Key Takeaway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291840"/>
            <a:ext cx="8503920" cy="54864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</a:defRPr>
            </a:pPr>
            <a:r>
              <a:t>SFT transfers epistemic priors, not just behavior.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931920"/>
            <a:ext cx="8503920" cy="54864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</a:defRPr>
            </a:pPr>
            <a:r>
              <a:t>Alignment training carries hidden reasoning shifts that should be audited.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937760"/>
            <a:ext cx="8503920" cy="914400"/>
          </a:xfrm>
          <a:prstGeom prst="rect">
            <a:avLst/>
          </a:prstGeom>
          <a:noFill/>
        </p:spPr>
        <p:txBody>
          <a:bodyPr wrap="square" lIns="137160" rIns="137160">
            <a:spAutoFit/>
          </a:bodyPr>
          <a:lstStyle/>
          <a:p>
            <a:pPr algn="ctr">
              <a:defRPr sz="1800" b="0">
                <a:solidFill>
                  <a:srgbClr val="BBBBBB"/>
                </a:solidFill>
              </a:defRPr>
            </a:pPr>
            <a:r>
              <a:t>Ongoing: GRPO with process rewards to break the hedging prior</a:t>
            </a:r>
            <a:br/>
            <a:r>
              <a:t>(dual advantage: outcome correctness + meta-reasoning for commitment)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