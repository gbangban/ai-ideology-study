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Welcome. Today I'll present our work on how SFT transfers not just vocabulary but deep epistemic priors in language models.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SFT is how we align models, but we don't understand what it transfers beyond the training domain. Prior work showed LLMs carry ideological priors from pretraining, but treated it as static. We asked: if we fine-tune on a specific analytical framework, does it shift reasoning in unseen domains? Transition: To answer this, we fine-tuned Qwen3.5-9B on Dialectical Materialist analysis.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We fine-tuned Qwen3.5-9B via QLoRA on 1,460 question-answer pairs generated by a 27B teacher using DM analysis prompts. We evaluated across three domains: general capability, formal causal logic, and applied economic causal reasoning. All in bf16 with 0-shot greedy decoding. Transition: Here is what we found, and it is surprising.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 Three outcomes. General capability preserved. Formal causal reasoning improves by 38 points. Applied economic causal reasoning regresses by 12 to 13.5 points, all highly significant. Transition: How can the same training improve one benchmark while breaking another? The answer is a single emergent artifact.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 The dominant regression pattern is positive-to-mixed hedging. The model takes correct positive causal predictions and converts them to ambiguous mixed answers. On Task1 Econ, 52.7% of all regressions. This hedging is ABSENT from the training data. The teacher hedges only 4% of the time. It is an emergent artifact. The model learned DM skepticism and applies it universally. Transition: This explains why Corr2Cause improves while EconCausal regresses.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Corr2Cause requires formal structural analysis. DM training strengthens this. Gains of 72 to 81 points on complex templates. EconCausal requires applied identification. DM skepticism overrides empirical claims. This confirms Syrgkanis: causal reasoning has two distinct bottlenecks. Transition: What does this mean for alignment research?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Three implications. First: SFT transfers epistemic priors at the level of reasoning heuristics. Second: standard RLHF likely carries hidden priors that go unaudited. Third: the Corr2Cause/EconCausal divergence gives us a diagnostic tool. Transition: Let me summarize.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We show SFT on ideologically structured data produces measurable, domain-specific reasoning shifts without catastrophic general degradation. Key finding: alignment training transfers epistemic priors. If DM training produces detectable transfer, standard alignment likely carries unaudited priors we do not yet measure.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Our ongoing work explores GRPO with process rewards to break the hedging prior. Dual advantage: outcome correctness plus meta-reasoning rewards for definitive commitment. The outcome-only track stalled. The process reward track explicitly rewards commitment when warranted. Transition: Thank you. I would be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up during Q&amp;A. Backup slides: full MMLU subtask breakdown, Corr2Cause template-level analysis, EconCausal regression patterns, training hyperparameters, dataset quality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B2D8E"/>
        </a:solidFill>
        <a:effectLst/>
      </p:bgPr>
    </p:bg>
    <p:spTree>
      <p:nvGrpSpPr>
        <p:cNvPr id="1" name=""/>
        <p:cNvGrpSpPr/>
        <p:nvPr/>
      </p:nvGrpSpPr>
      <p:grpSpPr/>
      <p:sp>
        <p:nvSpPr>
          <p:cNvPr id="2" name="TextBox 1"/>
          <p:cNvSpPr txBox="1"/>
          <p:nvPr/>
        </p:nvSpPr>
        <p:spPr>
          <a:xfrm>
            <a:off x="914400" y="1371600"/>
            <a:ext cx="10362895" cy="2286000"/>
          </a:xfrm>
          <a:prstGeom prst="rect">
            <a:avLst/>
          </a:prstGeom>
          <a:noFill/>
        </p:spPr>
        <p:txBody>
          <a:bodyPr wrap="square">
            <a:spAutoFit/>
          </a:bodyPr>
          <a:lstStyle/>
          <a:p>
            <a:pPr algn="ctr">
              <a:defRPr sz="4400" b="1">
                <a:solidFill>
                  <a:srgbClr val="FFFFFF"/>
                </a:solidFill>
              </a:defRPr>
            </a:pPr>
            <a:r>
              <a:t>Who's Afraid of Communist AI</a:t>
            </a:r>
          </a:p>
          <a:p>
            <a:pPr algn="ctr">
              <a:spcBef>
                <a:spcPts val="1600"/>
              </a:spcBef>
              <a:defRPr sz="3000">
                <a:solidFill>
                  <a:srgbClr val="F0AD00"/>
                </a:solidFill>
              </a:defRPr>
            </a:pPr>
            <a:r>
              <a:t>Epistemic Transfer and Ideological Convergence in Language Models</a:t>
            </a:r>
          </a:p>
        </p:txBody>
      </p:sp>
      <p:sp>
        <p:nvSpPr>
          <p:cNvPr id="3" name="TextBox 2"/>
          <p:cNvSpPr txBox="1"/>
          <p:nvPr/>
        </p:nvSpPr>
        <p:spPr>
          <a:xfrm>
            <a:off x="914400" y="4572000"/>
            <a:ext cx="10362895" cy="914400"/>
          </a:xfrm>
          <a:prstGeom prst="rect">
            <a:avLst/>
          </a:prstGeom>
          <a:noFill/>
        </p:spPr>
        <p:txBody>
          <a:bodyPr wrap="none">
            <a:spAutoFit/>
          </a:bodyPr>
          <a:lstStyle/>
          <a:p>
            <a:pPr algn="ctr">
              <a:defRPr sz="2400">
                <a:solidFill>
                  <a:srgbClr val="FFFFFF"/>
                </a:solidFill>
              </a:defRPr>
            </a:pPr>
            <a:r>
              <a:t>Anonymous ICLR Submission  |  ICLR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274320"/>
            <a:ext cx="12191695" cy="822960"/>
          </a:xfrm>
          <a:prstGeom prst="rect">
            <a:avLst/>
          </a:prstGeom>
          <a:solidFill>
            <a:srgbClr val="7B2D8E"/>
          </a:solidFill>
        </p:spPr>
        <p:txBody>
          <a:bodyPr wrap="square" lIns="548640" tIns="137160">
            <a:spAutoFit/>
          </a:bodyPr>
          <a:lstStyle/>
          <a:p>
            <a:pPr algn="l">
              <a:spcAft>
                <a:spcPts val="0"/>
              </a:spcAft>
              <a:defRPr sz="3600" b="1">
                <a:solidFill>
                  <a:srgbClr val="FFFFFF"/>
                </a:solidFill>
              </a:defRPr>
            </a:pPr>
            <a:r>
              <a:t>Problem: What Does SFT Really Transfer?</a:t>
            </a:r>
          </a:p>
        </p:txBody>
      </p:sp>
      <p:sp>
        <p:nvSpPr>
          <p:cNvPr id="3" name="TextBox 2"/>
          <p:cNvSpPr txBox="1"/>
          <p:nvPr/>
        </p:nvSpPr>
        <p:spPr>
          <a:xfrm>
            <a:off x="548640" y="1371600"/>
            <a:ext cx="10972800" cy="4572000"/>
          </a:xfrm>
          <a:prstGeom prst="rect">
            <a:avLst/>
          </a:prstGeom>
          <a:noFill/>
        </p:spPr>
        <p:txBody>
          <a:bodyPr wrap="square">
            <a:spAutoFit/>
          </a:bodyPr>
          <a:lstStyle/>
          <a:p>
            <a:pPr>
              <a:spcAft>
                <a:spcPts val="800"/>
              </a:spcAft>
              <a:defRPr sz="2800">
                <a:solidFill>
                  <a:srgbClr val="333333"/>
                </a:solidFill>
              </a:defRPr>
              <a:buChar char="•"/>
            </a:pPr>
            <a:r>
              <a:t>SFT is the foundational step in LLM alignment</a:t>
            </a:r>
          </a:p>
          <a:p>
            <a:pPr>
              <a:spcAft>
                <a:spcPts val="800"/>
              </a:spcAft>
              <a:defRPr sz="2800">
                <a:solidFill>
                  <a:srgbClr val="333333"/>
                </a:solidFill>
              </a:defRPr>
              <a:buChar char="•"/>
            </a:pPr>
            <a:r>
              <a:t>Alignment literature focuses on safety, helpfulness, preference consistency</a:t>
            </a:r>
          </a:p>
          <a:p>
            <a:pPr>
              <a:spcAft>
                <a:spcPts val="800"/>
              </a:spcAft>
              <a:defRPr sz="2800">
                <a:solidFill>
                  <a:srgbClr val="333333"/>
                </a:solidFill>
              </a:defRPr>
              <a:buChar char="•"/>
            </a:pPr>
            <a:r>
              <a:t>Open question: Does SFT transfer reasoning patterns beyond the training domain?</a:t>
            </a:r>
          </a:p>
          <a:p>
            <a:pPr>
              <a:spcAft>
                <a:spcPts val="800"/>
              </a:spcAft>
              <a:defRPr sz="2800">
                <a:solidFill>
                  <a:srgbClr val="333333"/>
                </a:solidFill>
              </a:defRPr>
              <a:buChar char="•"/>
            </a:pPr>
            <a:r>
              <a:t>Prior work documents ideological priors as a STATIC property (Kronlund 2024, Lee 2026)</a:t>
            </a:r>
          </a:p>
        </p:txBody>
      </p:sp>
      <p:sp>
        <p:nvSpPr>
          <p:cNvPr id="4" name="Rectangle 3"/>
          <p:cNvSpPr/>
          <p:nvPr/>
        </p:nvSpPr>
        <p:spPr>
          <a:xfrm>
            <a:off x="548640" y="4114800"/>
            <a:ext cx="10515600" cy="1737360"/>
          </a:xfrm>
          <a:prstGeom prst="rect">
            <a:avLst/>
          </a:prstGeom>
          <a:solidFill>
            <a:srgbClr val="F8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206240"/>
            <a:ext cx="10149840" cy="457200"/>
          </a:xfrm>
          <a:prstGeom prst="rect">
            <a:avLst/>
          </a:prstGeom>
          <a:noFill/>
        </p:spPr>
        <p:txBody>
          <a:bodyPr wrap="none">
            <a:spAutoFit/>
          </a:bodyPr>
          <a:lstStyle/>
          <a:p>
            <a:pPr>
              <a:defRPr sz="2600" b="1">
                <a:solidFill>
                  <a:srgbClr val="F0AD00"/>
                </a:solidFill>
              </a:defRPr>
            </a:pPr>
            <a:r>
              <a:t>Our Dynamic Question</a:t>
            </a:r>
          </a:p>
        </p:txBody>
      </p:sp>
      <p:sp>
        <p:nvSpPr>
          <p:cNvPr id="6" name="TextBox 5"/>
          <p:cNvSpPr txBox="1"/>
          <p:nvPr/>
        </p:nvSpPr>
        <p:spPr>
          <a:xfrm>
            <a:off x="822960" y="4663440"/>
            <a:ext cx="10058400" cy="914400"/>
          </a:xfrm>
          <a:prstGeom prst="rect">
            <a:avLst/>
          </a:prstGeom>
          <a:noFill/>
        </p:spPr>
        <p:txBody>
          <a:bodyPr wrap="square">
            <a:spAutoFit/>
          </a:bodyPr>
          <a:lstStyle/>
          <a:p>
            <a:pPr>
              <a:spcAft>
                <a:spcPts val="400"/>
              </a:spcAft>
              <a:defRPr sz="2400">
                <a:solidFill>
                  <a:srgbClr val="333333"/>
                </a:solidFill>
              </a:defRPr>
            </a:pPr>
            <a:r>
              <a:t>Can targeted SFT on a non-dominant analytical framework measurably shift reasoning?</a:t>
            </a:r>
          </a:p>
          <a:p>
            <a:pPr>
              <a:spcAft>
                <a:spcPts val="400"/>
              </a:spcAft>
              <a:defRPr sz="2400">
                <a:solidFill>
                  <a:srgbClr val="333333"/>
                </a:solidFill>
              </a:defRPr>
            </a:pPr>
            <a:r>
              <a:t>What COLLATERAL EFFECTS does this produce?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274320"/>
            <a:ext cx="12191695" cy="822960"/>
          </a:xfrm>
          <a:prstGeom prst="rect">
            <a:avLst/>
          </a:prstGeom>
          <a:solidFill>
            <a:srgbClr val="7B2D8E"/>
          </a:solidFill>
        </p:spPr>
        <p:txBody>
          <a:bodyPr wrap="square" lIns="548640" tIns="137160">
            <a:spAutoFit/>
          </a:bodyPr>
          <a:lstStyle/>
          <a:p>
            <a:pPr algn="l">
              <a:spcAft>
                <a:spcPts val="0"/>
              </a:spcAft>
              <a:defRPr sz="3600" b="1">
                <a:solidFill>
                  <a:srgbClr val="FFFFFF"/>
                </a:solidFill>
              </a:defRPr>
            </a:pPr>
            <a:r>
              <a:t>Methodology: DM-Aligned SFT</a:t>
            </a:r>
          </a:p>
        </p:txBody>
      </p:sp>
      <p:sp>
        <p:nvSpPr>
          <p:cNvPr id="3" name="TextBox 2"/>
          <p:cNvSpPr txBox="1"/>
          <p:nvPr/>
        </p:nvSpPr>
        <p:spPr>
          <a:xfrm>
            <a:off x="548640" y="1005840"/>
            <a:ext cx="5303520" cy="457200"/>
          </a:xfrm>
          <a:prstGeom prst="rect">
            <a:avLst/>
          </a:prstGeom>
          <a:noFill/>
        </p:spPr>
        <p:txBody>
          <a:bodyPr wrap="none">
            <a:spAutoFit/>
          </a:bodyPr>
          <a:lstStyle/>
          <a:p>
            <a:pPr>
              <a:defRPr sz="2600" b="1">
                <a:solidFill>
                  <a:srgbClr val="7B2D8E"/>
                </a:solidFill>
              </a:defRPr>
            </a:pPr>
            <a:r>
              <a:t>Training Setup</a:t>
            </a:r>
          </a:p>
        </p:txBody>
      </p:sp>
      <p:sp>
        <p:nvSpPr>
          <p:cNvPr id="4" name="TextBox 3"/>
          <p:cNvSpPr txBox="1"/>
          <p:nvPr/>
        </p:nvSpPr>
        <p:spPr>
          <a:xfrm>
            <a:off x="548640" y="1371600"/>
            <a:ext cx="5303520" cy="4572000"/>
          </a:xfrm>
          <a:prstGeom prst="rect">
            <a:avLst/>
          </a:prstGeom>
          <a:noFill/>
        </p:spPr>
        <p:txBody>
          <a:bodyPr wrap="square">
            <a:spAutoFit/>
          </a:bodyPr>
          <a:lstStyle/>
          <a:p>
            <a:pPr>
              <a:spcAft>
                <a:spcPts val="800"/>
              </a:spcAft>
              <a:defRPr sz="2400">
                <a:solidFill>
                  <a:srgbClr val="333333"/>
                </a:solidFill>
              </a:defRPr>
              <a:buChar char="•"/>
            </a:pPr>
            <a:r>
              <a:t>Student: Qwen3.5-9B (Instruct)</a:t>
            </a:r>
          </a:p>
          <a:p>
            <a:pPr>
              <a:spcAft>
                <a:spcPts val="800"/>
              </a:spcAft>
              <a:defRPr sz="2400">
                <a:solidFill>
                  <a:srgbClr val="333333"/>
                </a:solidFill>
              </a:defRPr>
              <a:buChar char="•"/>
            </a:pPr>
            <a:r>
              <a:t>Teacher: Qwen3.5-27B (data generation only)</a:t>
            </a:r>
          </a:p>
          <a:p>
            <a:pPr>
              <a:spcAft>
                <a:spcPts val="800"/>
              </a:spcAft>
              <a:defRPr sz="2400">
                <a:solidFill>
                  <a:srgbClr val="333333"/>
                </a:solidFill>
              </a:defRPr>
              <a:buChar char="•"/>
            </a:pPr>
            <a:r>
              <a:t>QLoRA NF4, r=32, 7 target modules</a:t>
            </a:r>
          </a:p>
          <a:p>
            <a:pPr>
              <a:spcAft>
                <a:spcPts val="800"/>
              </a:spcAft>
              <a:defRPr sz="2400">
                <a:solidFill>
                  <a:srgbClr val="333333"/>
                </a:solidFill>
              </a:defRPr>
              <a:buChar char="•"/>
            </a:pPr>
            <a:r>
              <a:t>1,460 DM Q&amp;A pairs, 3 epochs</a:t>
            </a:r>
          </a:p>
          <a:p>
            <a:pPr>
              <a:spcAft>
                <a:spcPts val="800"/>
              </a:spcAft>
              <a:defRPr sz="2400">
                <a:solidFill>
                  <a:srgbClr val="333333"/>
                </a:solidFill>
              </a:defRPr>
              <a:buChar char="•"/>
            </a:pPr>
            <a:r>
              <a:t>Single RTX 5090 (32GB VRAM)</a:t>
            </a:r>
          </a:p>
        </p:txBody>
      </p:sp>
      <p:sp>
        <p:nvSpPr>
          <p:cNvPr id="5" name="TextBox 4"/>
          <p:cNvSpPr txBox="1"/>
          <p:nvPr/>
        </p:nvSpPr>
        <p:spPr>
          <a:xfrm>
            <a:off x="6492240" y="1005840"/>
            <a:ext cx="5303520" cy="457200"/>
          </a:xfrm>
          <a:prstGeom prst="rect">
            <a:avLst/>
          </a:prstGeom>
          <a:noFill/>
        </p:spPr>
        <p:txBody>
          <a:bodyPr wrap="none">
            <a:spAutoFit/>
          </a:bodyPr>
          <a:lstStyle/>
          <a:p>
            <a:pPr>
              <a:defRPr sz="2600" b="1">
                <a:solidFill>
                  <a:srgbClr val="7B2D8E"/>
                </a:solidFill>
              </a:defRPr>
            </a:pPr>
            <a:r>
              <a:t>Evaluation</a:t>
            </a:r>
          </a:p>
        </p:txBody>
      </p:sp>
      <p:sp>
        <p:nvSpPr>
          <p:cNvPr id="6" name="TextBox 5"/>
          <p:cNvSpPr txBox="1"/>
          <p:nvPr/>
        </p:nvSpPr>
        <p:spPr>
          <a:xfrm>
            <a:off x="6492240" y="1371600"/>
            <a:ext cx="5303520" cy="4572000"/>
          </a:xfrm>
          <a:prstGeom prst="rect">
            <a:avLst/>
          </a:prstGeom>
          <a:noFill/>
        </p:spPr>
        <p:txBody>
          <a:bodyPr wrap="square">
            <a:spAutoFit/>
          </a:bodyPr>
          <a:lstStyle/>
          <a:p>
            <a:pPr>
              <a:spcAft>
                <a:spcPts val="800"/>
              </a:spcAft>
              <a:defRPr sz="2400">
                <a:solidFill>
                  <a:srgbClr val="333333"/>
                </a:solidFill>
              </a:defRPr>
              <a:buChar char="•"/>
            </a:pPr>
            <a:r>
              <a:t>General: MMLU, HumanEval, GPQA</a:t>
            </a:r>
          </a:p>
          <a:p>
            <a:pPr>
              <a:spcAft>
                <a:spcPts val="800"/>
              </a:spcAft>
              <a:defRPr sz="2400">
                <a:solidFill>
                  <a:srgbClr val="333333"/>
                </a:solidFill>
              </a:defRPr>
              <a:buChar char="•"/>
            </a:pPr>
            <a:r>
              <a:t>Formal causal: Corr2Cause (1,162 samples)</a:t>
            </a:r>
          </a:p>
          <a:p>
            <a:pPr>
              <a:spcAft>
                <a:spcPts val="800"/>
              </a:spcAft>
              <a:defRPr sz="2400">
                <a:solidFill>
                  <a:srgbClr val="333333"/>
                </a:solidFill>
              </a:defRPr>
              <a:buChar char="•"/>
            </a:pPr>
            <a:r>
              <a:t>Applied causal: EconCausal (3,943 samples)</a:t>
            </a:r>
          </a:p>
          <a:p>
            <a:pPr>
              <a:spcAft>
                <a:spcPts val="800"/>
              </a:spcAft>
              <a:defRPr sz="2400">
                <a:solidFill>
                  <a:srgbClr val="333333"/>
                </a:solidFill>
              </a:defRPr>
              <a:buChar char="•"/>
            </a:pPr>
            <a:r>
              <a:t>All bf16, 0-shot greedy decoding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274320"/>
            <a:ext cx="12191695" cy="822960"/>
          </a:xfrm>
          <a:prstGeom prst="rect">
            <a:avLst/>
          </a:prstGeom>
          <a:solidFill>
            <a:srgbClr val="7B2D8E"/>
          </a:solidFill>
        </p:spPr>
        <p:txBody>
          <a:bodyPr wrap="square" lIns="548640" tIns="137160">
            <a:spAutoFit/>
          </a:bodyPr>
          <a:lstStyle/>
          <a:p>
            <a:pPr algn="l">
              <a:spcAft>
                <a:spcPts val="0"/>
              </a:spcAft>
              <a:defRPr sz="3600" b="1">
                <a:solidFill>
                  <a:srgbClr val="FFFFFF"/>
                </a:solidFill>
              </a:defRPr>
            </a:pPr>
            <a:r>
              <a:t>Three Divergent Outcomes</a:t>
            </a:r>
          </a:p>
        </p:txBody>
      </p:sp>
      <p:sp>
        <p:nvSpPr>
          <p:cNvPr id="3" name="Rectangle 2"/>
          <p:cNvSpPr/>
          <p:nvPr/>
        </p:nvSpPr>
        <p:spPr>
          <a:xfrm>
            <a:off x="457200" y="1371600"/>
            <a:ext cx="3474720" cy="274320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3108960" cy="457200"/>
          </a:xfrm>
          <a:prstGeom prst="rect">
            <a:avLst/>
          </a:prstGeom>
          <a:noFill/>
        </p:spPr>
        <p:txBody>
          <a:bodyPr wrap="none">
            <a:spAutoFit/>
          </a:bodyPr>
          <a:lstStyle/>
          <a:p>
            <a:pPr>
              <a:defRPr sz="2600" b="1">
                <a:solidFill>
                  <a:srgbClr val="2E7D32"/>
                </a:solidFill>
              </a:defRPr>
            </a:pPr>
            <a:r>
              <a:t>General Capability: Preserved</a:t>
            </a:r>
          </a:p>
        </p:txBody>
      </p:sp>
      <p:sp>
        <p:nvSpPr>
          <p:cNvPr id="5" name="TextBox 4"/>
          <p:cNvSpPr txBox="1"/>
          <p:nvPr/>
        </p:nvSpPr>
        <p:spPr>
          <a:xfrm>
            <a:off x="731520" y="1920240"/>
            <a:ext cx="3017520" cy="1828800"/>
          </a:xfrm>
          <a:prstGeom prst="rect">
            <a:avLst/>
          </a:prstGeom>
          <a:noFill/>
        </p:spPr>
        <p:txBody>
          <a:bodyPr wrap="square">
            <a:spAutoFit/>
          </a:bodyPr>
          <a:lstStyle/>
          <a:p>
            <a:pPr>
              <a:spcAft>
                <a:spcPts val="400"/>
              </a:spcAft>
              <a:defRPr sz="2400">
                <a:solidFill>
                  <a:srgbClr val="333333"/>
                </a:solidFill>
              </a:defRPr>
            </a:pPr>
            <a:r>
              <a:t>MMLU: -0.8pp</a:t>
            </a:r>
          </a:p>
          <a:p>
            <a:pPr>
              <a:spcAft>
                <a:spcPts val="400"/>
              </a:spcAft>
              <a:defRPr sz="2400">
                <a:solidFill>
                  <a:srgbClr val="333333"/>
                </a:solidFill>
              </a:defRPr>
            </a:pPr>
            <a:r>
              <a:t>HumanEval: 0.0pp</a:t>
            </a:r>
          </a:p>
          <a:p>
            <a:pPr>
              <a:spcAft>
                <a:spcPts val="400"/>
              </a:spcAft>
              <a:defRPr sz="2400">
                <a:solidFill>
                  <a:srgbClr val="333333"/>
                </a:solidFill>
              </a:defRPr>
            </a:pPr>
            <a:r>
              <a:t>GPQA: -1.5pp</a:t>
            </a:r>
          </a:p>
          <a:p>
            <a:pPr>
              <a:spcAft>
                <a:spcPts val="400"/>
              </a:spcAft>
              <a:defRPr sz="2400">
                <a:solidFill>
                  <a:srgbClr val="333333"/>
                </a:solidFill>
              </a:defRPr>
            </a:pPr>
            <a:r>
              <a:t>All within binomial variance</a:t>
            </a:r>
          </a:p>
        </p:txBody>
      </p:sp>
      <p:sp>
        <p:nvSpPr>
          <p:cNvPr id="6" name="Rectangle 5"/>
          <p:cNvSpPr/>
          <p:nvPr/>
        </p:nvSpPr>
        <p:spPr>
          <a:xfrm>
            <a:off x="4206240" y="1371600"/>
            <a:ext cx="3474720" cy="2743200"/>
          </a:xfrm>
          <a:prstGeom prst="rect">
            <a:avLst/>
          </a:prstGeom>
          <a:solidFill>
            <a:srgbClr val="E3F2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0" y="1463040"/>
            <a:ext cx="3108960" cy="457200"/>
          </a:xfrm>
          <a:prstGeom prst="rect">
            <a:avLst/>
          </a:prstGeom>
          <a:noFill/>
        </p:spPr>
        <p:txBody>
          <a:bodyPr wrap="none">
            <a:spAutoFit/>
          </a:bodyPr>
          <a:lstStyle/>
          <a:p>
            <a:pPr>
              <a:defRPr sz="2600" b="1">
                <a:solidFill>
                  <a:srgbClr val="1565C0"/>
                </a:solidFill>
              </a:defRPr>
            </a:pPr>
            <a:r>
              <a:t>Formal Causal: +38.3pp</a:t>
            </a:r>
          </a:p>
        </p:txBody>
      </p:sp>
      <p:sp>
        <p:nvSpPr>
          <p:cNvPr id="8" name="TextBox 7"/>
          <p:cNvSpPr txBox="1"/>
          <p:nvPr/>
        </p:nvSpPr>
        <p:spPr>
          <a:xfrm>
            <a:off x="4480560" y="1920240"/>
            <a:ext cx="3017520" cy="1828800"/>
          </a:xfrm>
          <a:prstGeom prst="rect">
            <a:avLst/>
          </a:prstGeom>
          <a:noFill/>
        </p:spPr>
        <p:txBody>
          <a:bodyPr wrap="square">
            <a:spAutoFit/>
          </a:bodyPr>
          <a:lstStyle/>
          <a:p>
            <a:pPr>
              <a:spcAft>
                <a:spcPts val="400"/>
              </a:spcAft>
              <a:defRPr sz="2400">
                <a:solidFill>
                  <a:srgbClr val="333333"/>
                </a:solidFill>
              </a:defRPr>
            </a:pPr>
            <a:r>
              <a:t>Corr2Cause</a:t>
            </a:r>
          </a:p>
          <a:p>
            <a:pPr>
              <a:spcAft>
                <a:spcPts val="400"/>
              </a:spcAft>
              <a:defRPr sz="2400">
                <a:solidFill>
                  <a:srgbClr val="333333"/>
                </a:solidFill>
              </a:defRPr>
            </a:pPr>
            <a:r>
              <a:t>Corrects 520 baseline errors</a:t>
            </a:r>
          </a:p>
          <a:p>
            <a:pPr>
              <a:spcAft>
                <a:spcPts val="400"/>
              </a:spcAft>
              <a:defRPr sz="2400">
                <a:solidFill>
                  <a:srgbClr val="333333"/>
                </a:solidFill>
              </a:defRPr>
            </a:pPr>
            <a:r>
              <a:t>Introduces only 75 new errors</a:t>
            </a:r>
          </a:p>
          <a:p>
            <a:pPr>
              <a:spcAft>
                <a:spcPts val="400"/>
              </a:spcAft>
              <a:defRPr sz="2400">
                <a:solidFill>
                  <a:srgbClr val="333333"/>
                </a:solidFill>
              </a:defRPr>
            </a:pPr>
            <a:r>
              <a:t>Net gain: +445</a:t>
            </a:r>
          </a:p>
        </p:txBody>
      </p:sp>
      <p:sp>
        <p:nvSpPr>
          <p:cNvPr id="9" name="Rectangle 8"/>
          <p:cNvSpPr/>
          <p:nvPr/>
        </p:nvSpPr>
        <p:spPr>
          <a:xfrm>
            <a:off x="7955280" y="1371600"/>
            <a:ext cx="3474720" cy="2743200"/>
          </a:xfrm>
          <a:prstGeom prst="rect">
            <a:avLst/>
          </a:prstGeom>
          <a:solidFill>
            <a:srgbClr val="FCE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463040"/>
            <a:ext cx="3108960" cy="457200"/>
          </a:xfrm>
          <a:prstGeom prst="rect">
            <a:avLst/>
          </a:prstGeom>
          <a:noFill/>
        </p:spPr>
        <p:txBody>
          <a:bodyPr wrap="none">
            <a:spAutoFit/>
          </a:bodyPr>
          <a:lstStyle/>
          <a:p>
            <a:pPr>
              <a:defRPr sz="2600" b="1">
                <a:solidFill>
                  <a:srgbClr val="C62828"/>
                </a:solidFill>
              </a:defRPr>
            </a:pPr>
            <a:r>
              <a:t>Applied Causal: -12.4pp</a:t>
            </a:r>
          </a:p>
        </p:txBody>
      </p:sp>
      <p:sp>
        <p:nvSpPr>
          <p:cNvPr id="11" name="TextBox 10"/>
          <p:cNvSpPr txBox="1"/>
          <p:nvPr/>
        </p:nvSpPr>
        <p:spPr>
          <a:xfrm>
            <a:off x="8229600" y="1920240"/>
            <a:ext cx="3017520" cy="1828800"/>
          </a:xfrm>
          <a:prstGeom prst="rect">
            <a:avLst/>
          </a:prstGeom>
          <a:noFill/>
        </p:spPr>
        <p:txBody>
          <a:bodyPr wrap="square">
            <a:spAutoFit/>
          </a:bodyPr>
          <a:lstStyle/>
          <a:p>
            <a:pPr>
              <a:spcAft>
                <a:spcPts val="400"/>
              </a:spcAft>
              <a:defRPr sz="2400">
                <a:solidFill>
                  <a:srgbClr val="333333"/>
                </a:solidFill>
              </a:defRPr>
            </a:pPr>
            <a:r>
              <a:t>EconCausal Task1: -12.4pp</a:t>
            </a:r>
          </a:p>
          <a:p>
            <a:pPr>
              <a:spcAft>
                <a:spcPts val="400"/>
              </a:spcAft>
              <a:defRPr sz="2400">
                <a:solidFill>
                  <a:srgbClr val="333333"/>
                </a:solidFill>
              </a:defRPr>
            </a:pPr>
            <a:r>
              <a:t>Task1 Finance: -13.5pp</a:t>
            </a:r>
          </a:p>
          <a:p>
            <a:pPr>
              <a:spcAft>
                <a:spcPts val="400"/>
              </a:spcAft>
              <a:defRPr sz="2400">
                <a:solidFill>
                  <a:srgbClr val="333333"/>
                </a:solidFill>
              </a:defRPr>
            </a:pPr>
            <a:r>
              <a:t>Task3: -10.8pp</a:t>
            </a:r>
          </a:p>
          <a:p>
            <a:pPr>
              <a:spcAft>
                <a:spcPts val="400"/>
              </a:spcAft>
              <a:defRPr sz="2400">
                <a:solidFill>
                  <a:srgbClr val="333333"/>
                </a:solidFill>
              </a:defRPr>
            </a:pPr>
            <a:r>
              <a:t>All highly significant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274320"/>
            <a:ext cx="12191695" cy="822960"/>
          </a:xfrm>
          <a:prstGeom prst="rect">
            <a:avLst/>
          </a:prstGeom>
          <a:solidFill>
            <a:srgbClr val="7B2D8E"/>
          </a:solidFill>
        </p:spPr>
        <p:txBody>
          <a:bodyPr wrap="square" lIns="548640" tIns="137160">
            <a:spAutoFit/>
          </a:bodyPr>
          <a:lstStyle/>
          <a:p>
            <a:pPr algn="l">
              <a:spcAft>
                <a:spcPts val="0"/>
              </a:spcAft>
              <a:defRPr sz="3600" b="1">
                <a:solidFill>
                  <a:srgbClr val="FFFFFF"/>
                </a:solidFill>
              </a:defRPr>
            </a:pPr>
            <a:r>
              <a:t>The Hedging Artifact</a:t>
            </a:r>
          </a:p>
        </p:txBody>
      </p:sp>
      <p:sp>
        <p:nvSpPr>
          <p:cNvPr id="3" name="Rectangle 2"/>
          <p:cNvSpPr/>
          <p:nvPr/>
        </p:nvSpPr>
        <p:spPr>
          <a:xfrm>
            <a:off x="548640" y="1371600"/>
            <a:ext cx="10515600" cy="3246120"/>
          </a:xfrm>
          <a:prstGeom prst="rect">
            <a:avLst/>
          </a:prstGeom>
          <a:solidFill>
            <a:srgbClr val="FCE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149840" cy="457200"/>
          </a:xfrm>
          <a:prstGeom prst="rect">
            <a:avLst/>
          </a:prstGeom>
          <a:noFill/>
        </p:spPr>
        <p:txBody>
          <a:bodyPr wrap="none">
            <a:spAutoFit/>
          </a:bodyPr>
          <a:lstStyle/>
          <a:p>
            <a:pPr>
              <a:defRPr sz="2600" b="1">
                <a:solidFill>
                  <a:srgbClr val="C62828"/>
                </a:solidFill>
              </a:defRPr>
            </a:pPr>
            <a:r>
              <a:t>Dominant Failure Mode: Positive-to-Mixed Hedging</a:t>
            </a:r>
          </a:p>
        </p:txBody>
      </p:sp>
      <p:sp>
        <p:nvSpPr>
          <p:cNvPr id="5" name="TextBox 4"/>
          <p:cNvSpPr txBox="1"/>
          <p:nvPr/>
        </p:nvSpPr>
        <p:spPr>
          <a:xfrm>
            <a:off x="822960" y="1920240"/>
            <a:ext cx="10058400" cy="2286000"/>
          </a:xfrm>
          <a:prstGeom prst="rect">
            <a:avLst/>
          </a:prstGeom>
          <a:noFill/>
        </p:spPr>
        <p:txBody>
          <a:bodyPr wrap="square">
            <a:spAutoFit/>
          </a:bodyPr>
          <a:lstStyle/>
          <a:p>
            <a:pPr>
              <a:spcAft>
                <a:spcPts val="400"/>
              </a:spcAft>
              <a:defRPr sz="2400">
                <a:solidFill>
                  <a:srgbClr val="333333"/>
                </a:solidFill>
              </a:defRPr>
            </a:pPr>
            <a:r>
              <a:t>Finetuned model converts correct '+' predictions to ambiguous 'mixed'</a:t>
            </a:r>
          </a:p>
          <a:p>
            <a:pPr>
              <a:spcAft>
                <a:spcPts val="400"/>
              </a:spcAft>
              <a:defRPr sz="2400">
                <a:solidFill>
                  <a:srgbClr val="333333"/>
                </a:solidFill>
              </a:defRPr>
            </a:pPr>
            <a:r>
              <a:t>Task1 Econ: + to mixed = 96 of 182 regressions (52.7%)</a:t>
            </a:r>
          </a:p>
          <a:p>
            <a:pPr>
              <a:spcAft>
                <a:spcPts val="400"/>
              </a:spcAft>
              <a:defRPr sz="2400">
                <a:solidFill>
                  <a:srgbClr val="333333"/>
                </a:solidFill>
              </a:defRPr>
            </a:pPr>
            <a:r>
              <a:t>Task1 Finance: 95 of 174 (54.6%)</a:t>
            </a:r>
          </a:p>
          <a:p>
            <a:pPr>
              <a:spcAft>
                <a:spcPts val="400"/>
              </a:spcAft>
              <a:defRPr sz="2400">
                <a:solidFill>
                  <a:srgbClr val="333333"/>
                </a:solidFill>
              </a:defRPr>
            </a:pPr>
            <a:r>
              <a:t>Positive-effect conversion: 77-85% of all Task1 regressions</a:t>
            </a:r>
          </a:p>
          <a:p>
            <a:pPr>
              <a:spcAft>
                <a:spcPts val="400"/>
              </a:spcAft>
              <a:defRPr sz="2400">
                <a:solidFill>
                  <a:srgbClr val="333333"/>
                </a:solidFill>
              </a:defRPr>
            </a:pPr>
            <a:r>
              <a:t>Hedging ABSENT from training data (teacher rate: 4.0%)</a:t>
            </a:r>
          </a:p>
        </p:txBody>
      </p:sp>
      <p:sp>
        <p:nvSpPr>
          <p:cNvPr id="6" name="Rectangle 5"/>
          <p:cNvSpPr/>
          <p:nvPr/>
        </p:nvSpPr>
        <p:spPr>
          <a:xfrm>
            <a:off x="548640" y="4389120"/>
            <a:ext cx="10515600" cy="2743200"/>
          </a:xfrm>
          <a:prstGeom prst="rect">
            <a:avLst/>
          </a:prstGeom>
          <a:solidFill>
            <a:srgbClr val="F8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480560"/>
            <a:ext cx="10149840" cy="457200"/>
          </a:xfrm>
          <a:prstGeom prst="rect">
            <a:avLst/>
          </a:prstGeom>
          <a:noFill/>
        </p:spPr>
        <p:txBody>
          <a:bodyPr wrap="none">
            <a:spAutoFit/>
          </a:bodyPr>
          <a:lstStyle/>
          <a:p>
            <a:pPr>
              <a:defRPr sz="2600" b="1">
                <a:solidFill>
                  <a:srgbClr val="7B2D8E"/>
                </a:solidFill>
              </a:defRPr>
            </a:pPr>
            <a:r>
              <a:t>Mechanism: Transferred Epistemic Prior</a:t>
            </a:r>
          </a:p>
        </p:txBody>
      </p:sp>
      <p:sp>
        <p:nvSpPr>
          <p:cNvPr id="8" name="TextBox 7"/>
          <p:cNvSpPr txBox="1"/>
          <p:nvPr/>
        </p:nvSpPr>
        <p:spPr>
          <a:xfrm>
            <a:off x="822960" y="4937760"/>
            <a:ext cx="10058400" cy="1828800"/>
          </a:xfrm>
          <a:prstGeom prst="rect">
            <a:avLst/>
          </a:prstGeom>
          <a:noFill/>
        </p:spPr>
        <p:txBody>
          <a:bodyPr wrap="square">
            <a:spAutoFit/>
          </a:bodyPr>
          <a:lstStyle/>
          <a:p>
            <a:pPr>
              <a:spcAft>
                <a:spcPts val="400"/>
              </a:spcAft>
              <a:defRPr sz="2400">
                <a:solidFill>
                  <a:srgbClr val="333333"/>
                </a:solidFill>
              </a:defRPr>
            </a:pPr>
            <a:r>
              <a:t>Model learns DM principles: 'outcomes depend on material conditions',</a:t>
            </a:r>
          </a:p>
          <a:p>
            <a:pPr>
              <a:spcAft>
                <a:spcPts val="400"/>
              </a:spcAft>
              <a:defRPr sz="2400">
                <a:solidFill>
                  <a:srgbClr val="333333"/>
                </a:solidFill>
              </a:defRPr>
            </a:pPr>
            <a:r>
              <a:t>'effects mediated by power relations', 'cannot reduce to single direction'</a:t>
            </a:r>
          </a:p>
          <a:p>
            <a:pPr>
              <a:spcAft>
                <a:spcPts val="400"/>
              </a:spcAft>
              <a:defRPr sz="2400">
                <a:solidFill>
                  <a:srgbClr val="333333"/>
                </a:solidFill>
              </a:defRPr>
            </a:pPr>
            <a:r>
              <a:t>Applies skepticism INDISCRIMINATELY to empirical economics questions</a:t>
            </a:r>
          </a:p>
          <a:p>
            <a:pPr>
              <a:spcAft>
                <a:spcPts val="400"/>
              </a:spcAft>
              <a:defRPr sz="2400">
                <a:solidFill>
                  <a:srgbClr val="333333"/>
                </a:solidFill>
              </a:defRPr>
            </a:pPr>
            <a:r>
              <a:t>Not a reasoning error -- a transferred epistemic prior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274320"/>
            <a:ext cx="12191695" cy="822960"/>
          </a:xfrm>
          <a:prstGeom prst="rect">
            <a:avLst/>
          </a:prstGeom>
          <a:solidFill>
            <a:srgbClr val="7B2D8E"/>
          </a:solidFill>
        </p:spPr>
        <p:txBody>
          <a:bodyPr wrap="square" lIns="548640" tIns="137160">
            <a:spAutoFit/>
          </a:bodyPr>
          <a:lstStyle/>
          <a:p>
            <a:pPr algn="l">
              <a:spcAft>
                <a:spcPts val="0"/>
              </a:spcAft>
              <a:defRPr sz="3600" b="1">
                <a:solidFill>
                  <a:srgbClr val="FFFFFF"/>
                </a:solidFill>
              </a:defRPr>
            </a:pPr>
            <a:r>
              <a:t>Why Corr2Cause Improves While EconCausal Regresses</a:t>
            </a:r>
          </a:p>
        </p:txBody>
      </p:sp>
      <p:sp>
        <p:nvSpPr>
          <p:cNvPr id="3" name="TextBox 2"/>
          <p:cNvSpPr txBox="1"/>
          <p:nvPr/>
        </p:nvSpPr>
        <p:spPr>
          <a:xfrm>
            <a:off x="548640" y="1005840"/>
            <a:ext cx="5303520" cy="457200"/>
          </a:xfrm>
          <a:prstGeom prst="rect">
            <a:avLst/>
          </a:prstGeom>
          <a:noFill/>
        </p:spPr>
        <p:txBody>
          <a:bodyPr wrap="none">
            <a:spAutoFit/>
          </a:bodyPr>
          <a:lstStyle/>
          <a:p>
            <a:pPr>
              <a:defRPr sz="2600" b="1">
                <a:solidFill>
                  <a:srgbClr val="7B2D8E"/>
                </a:solidFill>
              </a:defRPr>
            </a:pPr>
            <a:r>
              <a:t>Corr2Cause: +38.3pp</a:t>
            </a:r>
          </a:p>
        </p:txBody>
      </p:sp>
      <p:sp>
        <p:nvSpPr>
          <p:cNvPr id="4" name="TextBox 3"/>
          <p:cNvSpPr txBox="1"/>
          <p:nvPr/>
        </p:nvSpPr>
        <p:spPr>
          <a:xfrm>
            <a:off x="548640" y="1371600"/>
            <a:ext cx="5303520" cy="4572000"/>
          </a:xfrm>
          <a:prstGeom prst="rect">
            <a:avLst/>
          </a:prstGeom>
          <a:noFill/>
        </p:spPr>
        <p:txBody>
          <a:bodyPr wrap="square">
            <a:spAutoFit/>
          </a:bodyPr>
          <a:lstStyle/>
          <a:p>
            <a:pPr>
              <a:spcAft>
                <a:spcPts val="800"/>
              </a:spcAft>
              <a:defRPr sz="2400">
                <a:solidFill>
                  <a:srgbClr val="333333"/>
                </a:solidFill>
              </a:defRPr>
              <a:buChar char="•"/>
            </a:pPr>
            <a:r>
              <a:t>Formal structural analysis</a:t>
            </a:r>
          </a:p>
          <a:p>
            <a:pPr>
              <a:spcAft>
                <a:spcPts val="800"/>
              </a:spcAft>
              <a:defRPr sz="2400">
                <a:solidFill>
                  <a:srgbClr val="333333"/>
                </a:solidFill>
              </a:defRPr>
              <a:buChar char="•"/>
            </a:pPr>
            <a:r>
              <a:t>Conditional independence reasoning</a:t>
            </a:r>
          </a:p>
          <a:p>
            <a:pPr>
              <a:spcAft>
                <a:spcPts val="800"/>
              </a:spcAft>
              <a:defRPr sz="2400">
                <a:solidFill>
                  <a:srgbClr val="333333"/>
                </a:solidFill>
              </a:defRPr>
              <a:buChar char="•"/>
            </a:pPr>
            <a:r>
              <a:t>DM training STRENGTHENS: trace dependencies, identify confounders</a:t>
            </a:r>
          </a:p>
          <a:p>
            <a:pPr>
              <a:spcAft>
                <a:spcPts val="800"/>
              </a:spcAft>
              <a:defRPr sz="2400">
                <a:solidFill>
                  <a:srgbClr val="333333"/>
                </a:solidFill>
              </a:defRPr>
              <a:buChar char="•"/>
            </a:pPr>
            <a:r>
              <a:t>Non-child descendant: 13.0% -&gt; 94.3% (+81.3pp)</a:t>
            </a:r>
          </a:p>
          <a:p>
            <a:pPr>
              <a:spcAft>
                <a:spcPts val="800"/>
              </a:spcAft>
              <a:defRPr sz="2400">
                <a:solidFill>
                  <a:srgbClr val="333333"/>
                </a:solidFill>
              </a:defRPr>
              <a:buChar char="•"/>
            </a:pPr>
            <a:r>
              <a:t>Non-parent ancestor: 14.4% -&gt; 87.2% (+72.8pp)</a:t>
            </a:r>
          </a:p>
        </p:txBody>
      </p:sp>
      <p:sp>
        <p:nvSpPr>
          <p:cNvPr id="5" name="TextBox 4"/>
          <p:cNvSpPr txBox="1"/>
          <p:nvPr/>
        </p:nvSpPr>
        <p:spPr>
          <a:xfrm>
            <a:off x="6492240" y="1005840"/>
            <a:ext cx="5303520" cy="457200"/>
          </a:xfrm>
          <a:prstGeom prst="rect">
            <a:avLst/>
          </a:prstGeom>
          <a:noFill/>
        </p:spPr>
        <p:txBody>
          <a:bodyPr wrap="none">
            <a:spAutoFit/>
          </a:bodyPr>
          <a:lstStyle/>
          <a:p>
            <a:pPr>
              <a:defRPr sz="2600" b="1">
                <a:solidFill>
                  <a:srgbClr val="7B2D8E"/>
                </a:solidFill>
              </a:defRPr>
            </a:pPr>
            <a:r>
              <a:t>EconCausal: -12.4pp</a:t>
            </a:r>
          </a:p>
        </p:txBody>
      </p:sp>
      <p:sp>
        <p:nvSpPr>
          <p:cNvPr id="6" name="TextBox 5"/>
          <p:cNvSpPr txBox="1"/>
          <p:nvPr/>
        </p:nvSpPr>
        <p:spPr>
          <a:xfrm>
            <a:off x="6492240" y="1371600"/>
            <a:ext cx="5303520" cy="4572000"/>
          </a:xfrm>
          <a:prstGeom prst="rect">
            <a:avLst/>
          </a:prstGeom>
          <a:noFill/>
        </p:spPr>
        <p:txBody>
          <a:bodyPr wrap="square">
            <a:spAutoFit/>
          </a:bodyPr>
          <a:lstStyle/>
          <a:p>
            <a:pPr>
              <a:spcAft>
                <a:spcPts val="800"/>
              </a:spcAft>
              <a:defRPr sz="2400">
                <a:solidFill>
                  <a:srgbClr val="333333"/>
                </a:solidFill>
              </a:defRPr>
              <a:buChar char="•"/>
            </a:pPr>
            <a:r>
              <a:t>Applied causal identification</a:t>
            </a:r>
          </a:p>
          <a:p>
            <a:pPr>
              <a:spcAft>
                <a:spcPts val="800"/>
              </a:spcAft>
              <a:defRPr sz="2400">
                <a:solidFill>
                  <a:srgbClr val="333333"/>
                </a:solidFill>
              </a:defRPr>
              <a:buChar char="•"/>
            </a:pPr>
            <a:r>
              <a:t>Predicting directional effects from empirical context</a:t>
            </a:r>
          </a:p>
          <a:p>
            <a:pPr>
              <a:spcAft>
                <a:spcPts val="800"/>
              </a:spcAft>
              <a:defRPr sz="2400">
                <a:solidFill>
                  <a:srgbClr val="333333"/>
                </a:solidFill>
              </a:defRPr>
              <a:buChar char="•"/>
            </a:pPr>
            <a:r>
              <a:t>DM skepticism prior OVERRIDES empirical claims</a:t>
            </a:r>
          </a:p>
          <a:p>
            <a:pPr>
              <a:spcAft>
                <a:spcPts val="800"/>
              </a:spcAft>
              <a:defRPr sz="2400">
                <a:solidFill>
                  <a:srgbClr val="333333"/>
                </a:solidFill>
              </a:defRPr>
              <a:buChar char="•"/>
            </a:pPr>
            <a:r>
              <a:t>Model learns 'everything depends on structural conditions'</a:t>
            </a:r>
          </a:p>
          <a:p>
            <a:pPr>
              <a:spcAft>
                <a:spcPts val="800"/>
              </a:spcAft>
              <a:defRPr sz="2400">
                <a:solidFill>
                  <a:srgbClr val="333333"/>
                </a:solidFill>
              </a:defRPr>
              <a:buChar char="•"/>
            </a:pPr>
            <a:r>
              <a:t>Applies heuristic where correct answer is definitive + or -</a:t>
            </a:r>
          </a:p>
        </p:txBody>
      </p:sp>
      <p:sp>
        <p:nvSpPr>
          <p:cNvPr id="7" name="Rectangle 6"/>
          <p:cNvSpPr/>
          <p:nvPr/>
        </p:nvSpPr>
        <p:spPr>
          <a:xfrm>
            <a:off x="548640" y="4754880"/>
            <a:ext cx="10515600" cy="1737360"/>
          </a:xfrm>
          <a:prstGeom prst="rect">
            <a:avLst/>
          </a:prstGeom>
          <a:solidFill>
            <a:srgbClr val="F8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846320"/>
            <a:ext cx="10149840" cy="457200"/>
          </a:xfrm>
          <a:prstGeom prst="rect">
            <a:avLst/>
          </a:prstGeom>
          <a:noFill/>
        </p:spPr>
        <p:txBody>
          <a:bodyPr wrap="none">
            <a:spAutoFit/>
          </a:bodyPr>
          <a:lstStyle/>
          <a:p>
            <a:pPr>
              <a:defRPr sz="2600" b="1">
                <a:solidFill>
                  <a:srgbClr val="F0AD00"/>
                </a:solidFill>
              </a:defRPr>
            </a:pPr>
            <a:r>
              <a:t>Confirmation</a:t>
            </a:r>
          </a:p>
        </p:txBody>
      </p:sp>
      <p:sp>
        <p:nvSpPr>
          <p:cNvPr id="9" name="TextBox 8"/>
          <p:cNvSpPr txBox="1"/>
          <p:nvPr/>
        </p:nvSpPr>
        <p:spPr>
          <a:xfrm>
            <a:off x="822960" y="5303520"/>
            <a:ext cx="10058400" cy="914400"/>
          </a:xfrm>
          <a:prstGeom prst="rect">
            <a:avLst/>
          </a:prstGeom>
          <a:noFill/>
        </p:spPr>
        <p:txBody>
          <a:bodyPr wrap="square">
            <a:spAutoFit/>
          </a:bodyPr>
          <a:lstStyle/>
          <a:p>
            <a:pPr>
              <a:spcAft>
                <a:spcPts val="400"/>
              </a:spcAft>
              <a:defRPr sz="2400">
                <a:solidFill>
                  <a:srgbClr val="333333"/>
                </a:solidFill>
              </a:defRPr>
            </a:pPr>
            <a:r>
              <a:t>Mirrors Syrgkanis 2026: causal reasoning has TWO distinct bottlenecks</a:t>
            </a:r>
          </a:p>
          <a:p>
            <a:pPr>
              <a:spcAft>
                <a:spcPts val="400"/>
              </a:spcAft>
              <a:defRPr sz="2400">
                <a:solidFill>
                  <a:srgbClr val="333333"/>
                </a:solidFill>
              </a:defRPr>
            </a:pPr>
            <a:r>
              <a:t>Formal logic (strengthened) vs. identification details (weakened)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274320"/>
            <a:ext cx="12191695" cy="822960"/>
          </a:xfrm>
          <a:prstGeom prst="rect">
            <a:avLst/>
          </a:prstGeom>
          <a:solidFill>
            <a:srgbClr val="7B2D8E"/>
          </a:solidFill>
        </p:spPr>
        <p:txBody>
          <a:bodyPr wrap="square" lIns="548640" tIns="137160">
            <a:spAutoFit/>
          </a:bodyPr>
          <a:lstStyle/>
          <a:p>
            <a:pPr algn="l">
              <a:spcAft>
                <a:spcPts val="0"/>
              </a:spcAft>
              <a:defRPr sz="3600" b="1">
                <a:solidFill>
                  <a:srgbClr val="FFFFFF"/>
                </a:solidFill>
              </a:defRPr>
            </a:pPr>
            <a:r>
              <a:t>Implications for Alignment Research</a:t>
            </a:r>
          </a:p>
        </p:txBody>
      </p:sp>
      <p:sp>
        <p:nvSpPr>
          <p:cNvPr id="3" name="Rectangle 2"/>
          <p:cNvSpPr/>
          <p:nvPr/>
        </p:nvSpPr>
        <p:spPr>
          <a:xfrm>
            <a:off x="548640" y="1371600"/>
            <a:ext cx="10515600" cy="1737360"/>
          </a:xfrm>
          <a:prstGeom prst="rect">
            <a:avLst/>
          </a:prstGeom>
          <a:solidFill>
            <a:srgbClr val="F8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149840" cy="457200"/>
          </a:xfrm>
          <a:prstGeom prst="rect">
            <a:avLst/>
          </a:prstGeom>
          <a:noFill/>
        </p:spPr>
        <p:txBody>
          <a:bodyPr wrap="none">
            <a:spAutoFit/>
          </a:bodyPr>
          <a:lstStyle/>
          <a:p>
            <a:pPr>
              <a:defRPr sz="2600" b="1">
                <a:solidFill>
                  <a:srgbClr val="7B2D8E"/>
                </a:solidFill>
              </a:defRPr>
            </a:pPr>
            <a:r>
              <a:t>1. SFT transfers epistemic priors, not just behavior</a:t>
            </a:r>
          </a:p>
        </p:txBody>
      </p:sp>
      <p:sp>
        <p:nvSpPr>
          <p:cNvPr id="5" name="TextBox 4"/>
          <p:cNvSpPr txBox="1"/>
          <p:nvPr/>
        </p:nvSpPr>
        <p:spPr>
          <a:xfrm>
            <a:off x="822960" y="1920240"/>
            <a:ext cx="10058400" cy="914400"/>
          </a:xfrm>
          <a:prstGeom prst="rect">
            <a:avLst/>
          </a:prstGeom>
          <a:noFill/>
        </p:spPr>
        <p:txBody>
          <a:bodyPr wrap="square">
            <a:spAutoFit/>
          </a:bodyPr>
          <a:lstStyle/>
          <a:p>
            <a:pPr>
              <a:spcAft>
                <a:spcPts val="400"/>
              </a:spcAft>
              <a:defRPr sz="2400">
                <a:solidFill>
                  <a:srgbClr val="333333"/>
                </a:solidFill>
              </a:defRPr>
            </a:pPr>
            <a:r>
              <a:t>Hedging artifact absent from training data, emerges from internalized framework</a:t>
            </a:r>
          </a:p>
          <a:p>
            <a:pPr>
              <a:spcAft>
                <a:spcPts val="400"/>
              </a:spcAft>
              <a:defRPr sz="2400">
                <a:solidFill>
                  <a:srgbClr val="333333"/>
                </a:solidFill>
              </a:defRPr>
            </a:pPr>
            <a:r>
              <a:t>Shift operates at level of reasoning heuristics, not response patterns</a:t>
            </a:r>
          </a:p>
        </p:txBody>
      </p:sp>
      <p:sp>
        <p:nvSpPr>
          <p:cNvPr id="6" name="Rectangle 5"/>
          <p:cNvSpPr/>
          <p:nvPr/>
        </p:nvSpPr>
        <p:spPr>
          <a:xfrm>
            <a:off x="548640" y="2926080"/>
            <a:ext cx="10515600" cy="1737360"/>
          </a:xfrm>
          <a:prstGeom prst="rect">
            <a:avLst/>
          </a:prstGeom>
          <a:solidFill>
            <a:srgbClr val="F8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017520"/>
            <a:ext cx="10149840" cy="457200"/>
          </a:xfrm>
          <a:prstGeom prst="rect">
            <a:avLst/>
          </a:prstGeom>
          <a:noFill/>
        </p:spPr>
        <p:txBody>
          <a:bodyPr wrap="none">
            <a:spAutoFit/>
          </a:bodyPr>
          <a:lstStyle/>
          <a:p>
            <a:pPr>
              <a:defRPr sz="2600" b="1">
                <a:solidFill>
                  <a:srgbClr val="7B2D8E"/>
                </a:solidFill>
              </a:defRPr>
            </a:pPr>
            <a:r>
              <a:t>2. Standard alignment may carry unaudited priors</a:t>
            </a:r>
          </a:p>
        </p:txBody>
      </p:sp>
      <p:sp>
        <p:nvSpPr>
          <p:cNvPr id="8" name="TextBox 7"/>
          <p:cNvSpPr txBox="1"/>
          <p:nvPr/>
        </p:nvSpPr>
        <p:spPr>
          <a:xfrm>
            <a:off x="822960" y="3474720"/>
            <a:ext cx="10058400" cy="914400"/>
          </a:xfrm>
          <a:prstGeom prst="rect">
            <a:avLst/>
          </a:prstGeom>
          <a:noFill/>
        </p:spPr>
        <p:txBody>
          <a:bodyPr wrap="square">
            <a:spAutoFit/>
          </a:bodyPr>
          <a:lstStyle/>
          <a:p>
            <a:pPr>
              <a:spcAft>
                <a:spcPts val="400"/>
              </a:spcAft>
              <a:defRPr sz="2400">
                <a:solidFill>
                  <a:srgbClr val="333333"/>
                </a:solidFill>
              </a:defRPr>
            </a:pPr>
            <a:r>
              <a:t>RLHF emphasizing helpfulness/harmlessness may transfer deference to authority</a:t>
            </a:r>
          </a:p>
          <a:p>
            <a:pPr>
              <a:spcAft>
                <a:spcPts val="400"/>
              </a:spcAft>
              <a:defRPr sz="2400">
                <a:solidFill>
                  <a:srgbClr val="333333"/>
                </a:solidFill>
              </a:defRPr>
            </a:pPr>
            <a:r>
              <a:t>These go unaudited because they align with evaluator's own priors</a:t>
            </a:r>
          </a:p>
        </p:txBody>
      </p:sp>
      <p:sp>
        <p:nvSpPr>
          <p:cNvPr id="9" name="Rectangle 8"/>
          <p:cNvSpPr/>
          <p:nvPr/>
        </p:nvSpPr>
        <p:spPr>
          <a:xfrm>
            <a:off x="548640" y="4480560"/>
            <a:ext cx="10515600" cy="2240280"/>
          </a:xfrm>
          <a:prstGeom prst="rect">
            <a:avLst/>
          </a:prstGeom>
          <a:solidFill>
            <a:srgbClr val="F8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572000"/>
            <a:ext cx="10149840" cy="457200"/>
          </a:xfrm>
          <a:prstGeom prst="rect">
            <a:avLst/>
          </a:prstGeom>
          <a:noFill/>
        </p:spPr>
        <p:txBody>
          <a:bodyPr wrap="none">
            <a:spAutoFit/>
          </a:bodyPr>
          <a:lstStyle/>
          <a:p>
            <a:pPr>
              <a:defRPr sz="2600" b="1">
                <a:solidFill>
                  <a:srgbClr val="7B2D8E"/>
                </a:solidFill>
              </a:defRPr>
            </a:pPr>
            <a:r>
              <a:t>3. Identification-Logic Split as a diagnostic tool</a:t>
            </a:r>
          </a:p>
        </p:txBody>
      </p:sp>
      <p:sp>
        <p:nvSpPr>
          <p:cNvPr id="11" name="TextBox 10"/>
          <p:cNvSpPr txBox="1"/>
          <p:nvPr/>
        </p:nvSpPr>
        <p:spPr>
          <a:xfrm>
            <a:off x="822960" y="5029200"/>
            <a:ext cx="10058400" cy="1371600"/>
          </a:xfrm>
          <a:prstGeom prst="rect">
            <a:avLst/>
          </a:prstGeom>
          <a:noFill/>
        </p:spPr>
        <p:txBody>
          <a:bodyPr wrap="square">
            <a:spAutoFit/>
          </a:bodyPr>
          <a:lstStyle/>
          <a:p>
            <a:pPr>
              <a:spcAft>
                <a:spcPts val="400"/>
              </a:spcAft>
              <a:defRPr sz="2400">
                <a:solidFill>
                  <a:srgbClr val="333333"/>
                </a:solidFill>
              </a:defRPr>
            </a:pPr>
            <a:r>
              <a:t>Intervention improves formal logic but impairs applied identification?</a:t>
            </a:r>
          </a:p>
          <a:p>
            <a:pPr>
              <a:spcAft>
                <a:spcPts val="400"/>
              </a:spcAft>
              <a:defRPr sz="2400">
                <a:solidFill>
                  <a:srgbClr val="333333"/>
                </a:solidFill>
              </a:defRPr>
            </a:pPr>
            <a:r>
              <a:t>Signal of over-generalized structural skepticism</a:t>
            </a:r>
          </a:p>
          <a:p>
            <a:pPr>
              <a:spcAft>
                <a:spcPts val="400"/>
              </a:spcAft>
              <a:defRPr sz="2400">
                <a:solidFill>
                  <a:srgbClr val="333333"/>
                </a:solidFill>
              </a:defRPr>
            </a:pPr>
            <a:r>
              <a:t>Benchmarks need BOTH formal and applied causal tasks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274320"/>
            <a:ext cx="12191695" cy="822960"/>
          </a:xfrm>
          <a:prstGeom prst="rect">
            <a:avLst/>
          </a:prstGeom>
          <a:solidFill>
            <a:srgbClr val="7B2D8E"/>
          </a:solidFill>
        </p:spPr>
        <p:txBody>
          <a:bodyPr wrap="square" lIns="548640" tIns="137160">
            <a:spAutoFit/>
          </a:bodyPr>
          <a:lstStyle/>
          <a:p>
            <a:pPr algn="l">
              <a:spcAft>
                <a:spcPts val="0"/>
              </a:spcAft>
              <a:defRPr sz="3600" b="1">
                <a:solidFill>
                  <a:srgbClr val="FFFFFF"/>
                </a:solidFill>
              </a:defRPr>
            </a:pPr>
            <a:r>
              <a:t>Summary</a:t>
            </a:r>
          </a:p>
        </p:txBody>
      </p:sp>
      <p:sp>
        <p:nvSpPr>
          <p:cNvPr id="3" name="TextBox 2"/>
          <p:cNvSpPr txBox="1"/>
          <p:nvPr/>
        </p:nvSpPr>
        <p:spPr>
          <a:xfrm>
            <a:off x="548640" y="1371600"/>
            <a:ext cx="10972800" cy="4572000"/>
          </a:xfrm>
          <a:prstGeom prst="rect">
            <a:avLst/>
          </a:prstGeom>
          <a:noFill/>
        </p:spPr>
        <p:txBody>
          <a:bodyPr wrap="square">
            <a:spAutoFit/>
          </a:bodyPr>
          <a:lstStyle/>
          <a:p>
            <a:pPr>
              <a:spcAft>
                <a:spcPts val="800"/>
              </a:spcAft>
              <a:defRPr sz="2800">
                <a:solidFill>
                  <a:srgbClr val="333333"/>
                </a:solidFill>
              </a:defRPr>
              <a:buChar char="•"/>
            </a:pPr>
            <a:r>
              <a:t>Problem: SFT's effects on reasoning beyond training domain are poorly understood</a:t>
            </a:r>
          </a:p>
          <a:p>
            <a:pPr>
              <a:spcAft>
                <a:spcPts val="800"/>
              </a:spcAft>
              <a:defRPr sz="2800">
                <a:solidFill>
                  <a:srgbClr val="333333"/>
                </a:solidFill>
              </a:defRPr>
              <a:buChar char="•"/>
            </a:pPr>
            <a:r>
              <a:t>Method: QLoRA SFT on 1,460 DM-aligned Q&amp;A pairs (Qwen3.5-9B)</a:t>
            </a:r>
          </a:p>
          <a:p>
            <a:pPr>
              <a:spcAft>
                <a:spcPts val="800"/>
              </a:spcAft>
              <a:defRPr sz="2800">
                <a:solidFill>
                  <a:srgbClr val="333333"/>
                </a:solidFill>
              </a:defRPr>
              <a:buChar char="•"/>
            </a:pPr>
            <a:r>
              <a:t>Finding 1: General capability preserved (MMLU -0.8pp, HumanEval 0.0pp)</a:t>
            </a:r>
          </a:p>
          <a:p>
            <a:pPr>
              <a:spcAft>
                <a:spcPts val="800"/>
              </a:spcAft>
              <a:defRPr sz="2800">
                <a:solidFill>
                  <a:srgbClr val="333333"/>
                </a:solidFill>
              </a:defRPr>
              <a:buChar char="•"/>
            </a:pPr>
            <a:r>
              <a:t>Finding 2: Formal causal reasoning improves (Corr2Cause +38.3pp)</a:t>
            </a:r>
          </a:p>
          <a:p>
            <a:pPr>
              <a:spcAft>
                <a:spcPts val="800"/>
              </a:spcAft>
              <a:defRPr sz="2800">
                <a:solidFill>
                  <a:srgbClr val="333333"/>
                </a:solidFill>
              </a:defRPr>
              <a:buChar char="•"/>
            </a:pPr>
            <a:r>
              <a:t>Finding 3: Applied causal reasoning regresses (EconCausal -12.4pp)</a:t>
            </a:r>
          </a:p>
          <a:p>
            <a:pPr>
              <a:spcAft>
                <a:spcPts val="800"/>
              </a:spcAft>
              <a:defRPr sz="2800">
                <a:solidFill>
                  <a:srgbClr val="333333"/>
                </a:solidFill>
              </a:defRPr>
              <a:buChar char="•"/>
            </a:pPr>
            <a:r>
              <a:t>Mechanism: Emergent hedging bias -- transferred epistemic prior, absent from data</a:t>
            </a:r>
          </a:p>
          <a:p>
            <a:pPr>
              <a:spcAft>
                <a:spcPts val="800"/>
              </a:spcAft>
              <a:defRPr sz="2800">
                <a:solidFill>
                  <a:srgbClr val="333333"/>
                </a:solidFill>
              </a:defRPr>
              <a:buChar char="•"/>
            </a:pPr>
            <a:r>
              <a:t>Implication: Alignment training transfers reasoning priors that should be audited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274320"/>
            <a:ext cx="12191695" cy="822960"/>
          </a:xfrm>
          <a:prstGeom prst="rect">
            <a:avLst/>
          </a:prstGeom>
          <a:solidFill>
            <a:srgbClr val="7B2D8E"/>
          </a:solidFill>
        </p:spPr>
        <p:txBody>
          <a:bodyPr wrap="square" lIns="548640" tIns="137160">
            <a:spAutoFit/>
          </a:bodyPr>
          <a:lstStyle/>
          <a:p>
            <a:pPr algn="l">
              <a:spcAft>
                <a:spcPts val="0"/>
              </a:spcAft>
              <a:defRPr sz="3600" b="1">
                <a:solidFill>
                  <a:srgbClr val="FFFFFF"/>
                </a:solidFill>
              </a:defRPr>
            </a:pPr>
            <a:r>
              <a:t>Future Work: Breaking the Hedging Prior</a:t>
            </a:r>
          </a:p>
        </p:txBody>
      </p:sp>
      <p:sp>
        <p:nvSpPr>
          <p:cNvPr id="3" name="TextBox 2"/>
          <p:cNvSpPr txBox="1"/>
          <p:nvPr/>
        </p:nvSpPr>
        <p:spPr>
          <a:xfrm>
            <a:off x="548640" y="1371600"/>
            <a:ext cx="10972800" cy="4572000"/>
          </a:xfrm>
          <a:prstGeom prst="rect">
            <a:avLst/>
          </a:prstGeom>
          <a:noFill/>
        </p:spPr>
        <p:txBody>
          <a:bodyPr wrap="square">
            <a:spAutoFit/>
          </a:bodyPr>
          <a:lstStyle/>
          <a:p>
            <a:pPr>
              <a:spcAft>
                <a:spcPts val="800"/>
              </a:spcAft>
              <a:defRPr sz="2800">
                <a:solidFill>
                  <a:srgbClr val="333333"/>
                </a:solidFill>
              </a:defRPr>
              <a:buChar char="•"/>
            </a:pPr>
            <a:r>
              <a:t>GRPO with process rewards (RLVMR framework, Zhang 2025)</a:t>
            </a:r>
          </a:p>
          <a:p>
            <a:pPr>
              <a:spcAft>
                <a:spcPts val="800"/>
              </a:spcAft>
              <a:defRPr sz="2800">
                <a:solidFill>
                  <a:srgbClr val="333333"/>
                </a:solidFill>
              </a:defRPr>
              <a:buChar char="•"/>
            </a:pPr>
            <a:r>
              <a:t>Dual advantage: trajectory-level outcome + meta-reasoning advantage</a:t>
            </a:r>
          </a:p>
          <a:p>
            <a:pPr>
              <a:spcAft>
                <a:spcPts val="800"/>
              </a:spcAft>
              <a:defRPr sz="2800">
                <a:solidFill>
                  <a:srgbClr val="333333"/>
                </a:solidFill>
              </a:defRPr>
              <a:buChar char="•"/>
            </a:pPr>
            <a:r>
              <a:t>Reward definitive commitment when warranted</a:t>
            </a:r>
          </a:p>
          <a:p>
            <a:pPr>
              <a:spcAft>
                <a:spcPts val="800"/>
              </a:spcAft>
              <a:defRPr sz="2800">
                <a:solidFill>
                  <a:srgbClr val="333333"/>
                </a:solidFill>
              </a:defRPr>
              <a:buChar char="•"/>
            </a:pPr>
            <a:r>
              <a:t>Goal: break hedging prior while maintaining structural reasoning quality</a:t>
            </a:r>
          </a:p>
        </p:txBody>
      </p:sp>
      <p:sp>
        <p:nvSpPr>
          <p:cNvPr id="4" name="Rectangle 3"/>
          <p:cNvSpPr/>
          <p:nvPr/>
        </p:nvSpPr>
        <p:spPr>
          <a:xfrm>
            <a:off x="548640" y="3840480"/>
            <a:ext cx="10515600" cy="2240280"/>
          </a:xfrm>
          <a:prstGeom prst="rect">
            <a:avLst/>
          </a:prstGeom>
          <a:solidFill>
            <a:srgbClr val="F8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149840" cy="457200"/>
          </a:xfrm>
          <a:prstGeom prst="rect">
            <a:avLst/>
          </a:prstGeom>
          <a:noFill/>
        </p:spPr>
        <p:txBody>
          <a:bodyPr wrap="none">
            <a:spAutoFit/>
          </a:bodyPr>
          <a:lstStyle/>
          <a:p>
            <a:pPr>
              <a:defRPr sz="2600" b="1">
                <a:solidFill>
                  <a:srgbClr val="F0AD00"/>
                </a:solidFill>
              </a:defRPr>
            </a:pPr>
            <a:r>
              <a:t>Current Status</a:t>
            </a:r>
          </a:p>
        </p:txBody>
      </p:sp>
      <p:sp>
        <p:nvSpPr>
          <p:cNvPr id="6" name="TextBox 5"/>
          <p:cNvSpPr txBox="1"/>
          <p:nvPr/>
        </p:nvSpPr>
        <p:spPr>
          <a:xfrm>
            <a:off x="822960" y="4389120"/>
            <a:ext cx="10058400" cy="1371600"/>
          </a:xfrm>
          <a:prstGeom prst="rect">
            <a:avLst/>
          </a:prstGeom>
          <a:noFill/>
        </p:spPr>
        <p:txBody>
          <a:bodyPr wrap="square">
            <a:spAutoFit/>
          </a:bodyPr>
          <a:lstStyle/>
          <a:p>
            <a:pPr>
              <a:spcAft>
                <a:spcPts val="400"/>
              </a:spcAft>
              <a:defRPr sz="2400">
                <a:solidFill>
                  <a:srgbClr val="333333"/>
                </a:solidFill>
              </a:defRPr>
            </a:pPr>
            <a:r>
              <a:t>GRPO v3 (outcome-only): stalled at 806/1500 steps, no reward improvement</a:t>
            </a:r>
          </a:p>
          <a:p>
            <a:pPr>
              <a:spcAft>
                <a:spcPts val="400"/>
              </a:spcAft>
              <a:defRPr sz="2400">
                <a:solidFill>
                  <a:srgbClr val="333333"/>
                </a:solidFill>
              </a:defRPr>
            </a:pPr>
            <a:r>
              <a:t>GRPO v4 (process rewards): tagged reasoning with rule-based rewards for</a:t>
            </a:r>
          </a:p>
          <a:p>
            <a:pPr>
              <a:spcAft>
                <a:spcPts val="400"/>
              </a:spcAft>
              <a:defRPr sz="2400">
                <a:solidFill>
                  <a:srgbClr val="333333"/>
                </a:solidFill>
              </a:defRPr>
            </a:pPr>
            <a:r>
              <a:t>  planning, commitment, reflection, and monitoring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B2D8E"/>
        </a:solidFill>
        <a:effectLst/>
      </p:bgPr>
    </p:bg>
    <p:spTree>
      <p:nvGrpSpPr>
        <p:cNvPr id="1" name=""/>
        <p:cNvGrpSpPr/>
        <p:nvPr/>
      </p:nvGrpSpPr>
      <p:grpSpPr/>
      <p:sp>
        <p:nvSpPr>
          <p:cNvPr id="2" name="TextBox 1"/>
          <p:cNvSpPr txBox="1"/>
          <p:nvPr/>
        </p:nvSpPr>
        <p:spPr>
          <a:xfrm>
            <a:off x="914400" y="1371600"/>
            <a:ext cx="10362895" cy="1371600"/>
          </a:xfrm>
          <a:prstGeom prst="rect">
            <a:avLst/>
          </a:prstGeom>
          <a:noFill/>
        </p:spPr>
        <p:txBody>
          <a:bodyPr wrap="none">
            <a:spAutoFit/>
          </a:bodyPr>
          <a:lstStyle/>
          <a:p>
            <a:pPr algn="ctr">
              <a:defRPr sz="4800" b="1">
                <a:solidFill>
                  <a:srgbClr val="FFFFFF"/>
                </a:solidFill>
              </a:defRPr>
            </a:pPr>
            <a:r>
              <a:t>Thank You -- Questions?</a:t>
            </a:r>
          </a:p>
        </p:txBody>
      </p:sp>
      <p:sp>
        <p:nvSpPr>
          <p:cNvPr id="3" name="TextBox 2"/>
          <p:cNvSpPr txBox="1"/>
          <p:nvPr/>
        </p:nvSpPr>
        <p:spPr>
          <a:xfrm>
            <a:off x="914400" y="3200400"/>
            <a:ext cx="10362895" cy="2743200"/>
          </a:xfrm>
          <a:prstGeom prst="rect">
            <a:avLst/>
          </a:prstGeom>
          <a:noFill/>
        </p:spPr>
        <p:txBody>
          <a:bodyPr wrap="square">
            <a:spAutoFit/>
          </a:bodyPr>
          <a:lstStyle/>
          <a:p>
            <a:pPr algn="ctr">
              <a:spcAft>
                <a:spcPts val="1600"/>
              </a:spcAft>
              <a:defRPr sz="3200" b="1">
                <a:solidFill>
                  <a:srgbClr val="F0AD00"/>
                </a:solidFill>
              </a:defRPr>
            </a:pPr>
            <a:r>
              <a:t>Key Takeaway</a:t>
            </a:r>
          </a:p>
          <a:p>
            <a:pPr algn="ctr">
              <a:spcAft>
                <a:spcPts val="1200"/>
              </a:spcAft>
              <a:defRPr sz="2800">
                <a:solidFill>
                  <a:srgbClr val="FFFFFF"/>
                </a:solidFill>
              </a:defRPr>
            </a:pPr>
            <a:r>
              <a:t>SFT transfers epistemic priors, not just behavior.</a:t>
            </a:r>
          </a:p>
          <a:p>
            <a:pPr algn="ctr">
              <a:defRPr sz="2800">
                <a:solidFill>
                  <a:srgbClr val="FFFFFF"/>
                </a:solidFill>
              </a:defRPr>
            </a:pPr>
            <a:r>
              <a:t>Alignment training carries hidden reasoning shifts that should be audited.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